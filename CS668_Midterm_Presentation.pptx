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78" r:id="rId3"/>
    <p:sldId id="279" r:id="rId4"/>
    <p:sldId id="308" r:id="rId5"/>
    <p:sldId id="280" r:id="rId6"/>
    <p:sldId id="309" r:id="rId7"/>
    <p:sldId id="299" r:id="rId8"/>
    <p:sldId id="310" r:id="rId9"/>
    <p:sldId id="311" r:id="rId10"/>
    <p:sldId id="312" r:id="rId11"/>
    <p:sldId id="315" r:id="rId12"/>
    <p:sldId id="317" r:id="rId13"/>
    <p:sldId id="318" r:id="rId14"/>
    <p:sldId id="319" r:id="rId15"/>
    <p:sldId id="320" r:id="rId16"/>
    <p:sldId id="321" r:id="rId17"/>
    <p:sldId id="287" r:id="rId18"/>
    <p:sldId id="322" r:id="rId19"/>
    <p:sldId id="323" r:id="rId20"/>
    <p:sldId id="293" r:id="rId21"/>
    <p:sldId id="307" r:id="rId22"/>
  </p:sldIdLst>
  <p:sldSz cx="18288000" cy="10287000"/>
  <p:notesSz cx="6858000" cy="9144000"/>
  <p:embeddedFontLst>
    <p:embeddedFont>
      <p:font typeface="Consolas" panose="020B0609020204030204" pitchFamily="49"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6DAF41A-03F9-461D-99F8-810C785289DC}">
          <p14:sldIdLst>
            <p14:sldId id="256"/>
          </p14:sldIdLst>
        </p14:section>
        <p14:section name="HOME" id="{C658DE4B-4342-4F9C-BF5D-FD6A9FD31FA9}">
          <p14:sldIdLst>
            <p14:sldId id="278"/>
          </p14:sldIdLst>
        </p14:section>
        <p14:section name="Introduction" id="{6D6CBBA9-5BBC-42C2-9FC1-097FE4E05730}">
          <p14:sldIdLst>
            <p14:sldId id="279"/>
            <p14:sldId id="308"/>
          </p14:sldIdLst>
        </p14:section>
        <p14:section name="Literature Review" id="{02D0EE30-2252-4041-9013-50E814E5B1B6}">
          <p14:sldIdLst>
            <p14:sldId id="280"/>
            <p14:sldId id="309"/>
          </p14:sldIdLst>
        </p14:section>
        <p14:section name="Dataset" id="{EFE48C50-D64E-42D7-819C-AD88CBF8D381}">
          <p14:sldIdLst>
            <p14:sldId id="299"/>
            <p14:sldId id="310"/>
          </p14:sldIdLst>
        </p14:section>
        <p14:section name="EDA" id="{28FDC9B2-3BB0-4A0A-AB3F-D9B1371609B1}">
          <p14:sldIdLst>
            <p14:sldId id="311"/>
            <p14:sldId id="312"/>
            <p14:sldId id="315"/>
            <p14:sldId id="317"/>
            <p14:sldId id="318"/>
            <p14:sldId id="319"/>
            <p14:sldId id="320"/>
            <p14:sldId id="321"/>
          </p14:sldIdLst>
        </p14:section>
        <p14:section name="Proposed Solution" id="{F65FF84E-42C2-4AF2-9A48-3210E027BEC8}">
          <p14:sldIdLst>
            <p14:sldId id="287"/>
            <p14:sldId id="322"/>
            <p14:sldId id="323"/>
          </p14:sldIdLst>
        </p14:section>
        <p14:section name="References" id="{43FB83A0-4C74-41DF-949D-40BD23AA6096}">
          <p14:sldIdLst>
            <p14:sldId id="293"/>
          </p14:sldIdLst>
        </p14:section>
        <p14:section name="End" id="{33252B5A-3B89-48A5-81C1-EB539F2B60FB}">
          <p14:sldIdLst>
            <p14:sldId id="30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30F5"/>
    <a:srgbClr val="0C0C8B"/>
    <a:srgbClr val="2828DF"/>
    <a:srgbClr val="A078B6"/>
    <a:srgbClr val="00B050"/>
    <a:srgbClr val="01BCFF"/>
    <a:srgbClr val="F176CE"/>
    <a:srgbClr val="E872C7"/>
    <a:srgbClr val="F879D5"/>
    <a:srgbClr val="AC9A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60" d="100"/>
          <a:sy n="60" d="100"/>
        </p:scale>
        <p:origin x="1020" y="19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A0C778-0D86-441B-BC74-FAD30CBFCB1B}" type="datetimeFigureOut">
              <a:rPr lang="en-GB" smtClean="0"/>
              <a:t>10/03/2026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4CAACA-2AA5-400E-A06E-5CB63F54FD06}" type="slidenum">
              <a:rPr lang="en-GB" smtClean="0"/>
              <a:t>‹#›</a:t>
            </a:fld>
            <a:endParaRPr lang="en-GB"/>
          </a:p>
        </p:txBody>
      </p:sp>
    </p:spTree>
    <p:extLst>
      <p:ext uri="{BB962C8B-B14F-4D97-AF65-F5344CB8AC3E}">
        <p14:creationId xmlns:p14="http://schemas.microsoft.com/office/powerpoint/2010/main" val="1317464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94CAACA-2AA5-400E-A06E-5CB63F54FD06}" type="slidenum">
              <a:rPr lang="en-GB" smtClean="0"/>
              <a:t>7</a:t>
            </a:fld>
            <a:endParaRPr lang="en-GB"/>
          </a:p>
        </p:txBody>
      </p:sp>
    </p:spTree>
    <p:extLst>
      <p:ext uri="{BB962C8B-B14F-4D97-AF65-F5344CB8AC3E}">
        <p14:creationId xmlns:p14="http://schemas.microsoft.com/office/powerpoint/2010/main" val="3981817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9575E-F8A9-33E8-988F-BFF84D696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04D9A1-BF62-C775-9E6C-88D3C32F1C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DFD9E-2ED9-05A5-9820-C59EB07FF55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FE5191A-55CC-D6DD-A71C-09A39CBF414A}"/>
              </a:ext>
            </a:extLst>
          </p:cNvPr>
          <p:cNvSpPr>
            <a:spLocks noGrp="1"/>
          </p:cNvSpPr>
          <p:nvPr>
            <p:ph type="sldNum" sz="quarter" idx="5"/>
          </p:nvPr>
        </p:nvSpPr>
        <p:spPr/>
        <p:txBody>
          <a:bodyPr/>
          <a:lstStyle/>
          <a:p>
            <a:fld id="{494CAACA-2AA5-400E-A06E-5CB63F54FD06}" type="slidenum">
              <a:rPr lang="en-GB" smtClean="0"/>
              <a:t>8</a:t>
            </a:fld>
            <a:endParaRPr lang="en-GB"/>
          </a:p>
        </p:txBody>
      </p:sp>
    </p:spTree>
    <p:extLst>
      <p:ext uri="{BB962C8B-B14F-4D97-AF65-F5344CB8AC3E}">
        <p14:creationId xmlns:p14="http://schemas.microsoft.com/office/powerpoint/2010/main" val="2492140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FF2D6-4CB6-D14E-129A-9464E1D488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5470B-835E-E87A-B332-6753B5B00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846BB0-FDCA-5F68-C95B-342AF377EF3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C3B043C-CEE8-F061-EC5F-939E9B09DBF7}"/>
              </a:ext>
            </a:extLst>
          </p:cNvPr>
          <p:cNvSpPr>
            <a:spLocks noGrp="1"/>
          </p:cNvSpPr>
          <p:nvPr>
            <p:ph type="sldNum" sz="quarter" idx="5"/>
          </p:nvPr>
        </p:nvSpPr>
        <p:spPr/>
        <p:txBody>
          <a:bodyPr/>
          <a:lstStyle/>
          <a:p>
            <a:fld id="{494CAACA-2AA5-400E-A06E-5CB63F54FD06}" type="slidenum">
              <a:rPr lang="en-GB" smtClean="0"/>
              <a:t>9</a:t>
            </a:fld>
            <a:endParaRPr lang="en-GB"/>
          </a:p>
        </p:txBody>
      </p:sp>
    </p:spTree>
    <p:extLst>
      <p:ext uri="{BB962C8B-B14F-4D97-AF65-F5344CB8AC3E}">
        <p14:creationId xmlns:p14="http://schemas.microsoft.com/office/powerpoint/2010/main" val="987447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EC4A5-959A-3FEB-D6D7-A114722BF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748E94-5F2B-5C7A-5EB3-79FE24967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5D30DA-EBB1-4A54-9B1F-9D0628A29D0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8B17C97-DE5F-4E49-A662-622FF816591B}"/>
              </a:ext>
            </a:extLst>
          </p:cNvPr>
          <p:cNvSpPr>
            <a:spLocks noGrp="1"/>
          </p:cNvSpPr>
          <p:nvPr>
            <p:ph type="sldNum" sz="quarter" idx="5"/>
          </p:nvPr>
        </p:nvSpPr>
        <p:spPr/>
        <p:txBody>
          <a:bodyPr/>
          <a:lstStyle/>
          <a:p>
            <a:fld id="{494CAACA-2AA5-400E-A06E-5CB63F54FD06}" type="slidenum">
              <a:rPr lang="en-GB" smtClean="0"/>
              <a:t>10</a:t>
            </a:fld>
            <a:endParaRPr lang="en-GB"/>
          </a:p>
        </p:txBody>
      </p:sp>
    </p:spTree>
    <p:extLst>
      <p:ext uri="{BB962C8B-B14F-4D97-AF65-F5344CB8AC3E}">
        <p14:creationId xmlns:p14="http://schemas.microsoft.com/office/powerpoint/2010/main" val="2344107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F9040-7481-B85B-1472-B33702935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BF0078-53C6-8911-E7D6-496578220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C88E8-10E4-C4AB-C15A-A699A49F046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D725574-55D5-2003-086C-5EE587A5CD3C}"/>
              </a:ext>
            </a:extLst>
          </p:cNvPr>
          <p:cNvSpPr>
            <a:spLocks noGrp="1"/>
          </p:cNvSpPr>
          <p:nvPr>
            <p:ph type="sldNum" sz="quarter" idx="5"/>
          </p:nvPr>
        </p:nvSpPr>
        <p:spPr/>
        <p:txBody>
          <a:bodyPr/>
          <a:lstStyle/>
          <a:p>
            <a:fld id="{494CAACA-2AA5-400E-A06E-5CB63F54FD06}" type="slidenum">
              <a:rPr lang="en-GB" smtClean="0"/>
              <a:t>11</a:t>
            </a:fld>
            <a:endParaRPr lang="en-GB"/>
          </a:p>
        </p:txBody>
      </p:sp>
    </p:spTree>
    <p:extLst>
      <p:ext uri="{BB962C8B-B14F-4D97-AF65-F5344CB8AC3E}">
        <p14:creationId xmlns:p14="http://schemas.microsoft.com/office/powerpoint/2010/main" val="3037780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2D2B6-93B1-2091-ABD5-31424B8B4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7BC52F-2B82-0050-E148-1F7BD663A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A34D6-AAC9-E4F7-BB2C-52FFC139B81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70BB79C-8F1D-D5BF-BBDC-249747563024}"/>
              </a:ext>
            </a:extLst>
          </p:cNvPr>
          <p:cNvSpPr>
            <a:spLocks noGrp="1"/>
          </p:cNvSpPr>
          <p:nvPr>
            <p:ph type="sldNum" sz="quarter" idx="5"/>
          </p:nvPr>
        </p:nvSpPr>
        <p:spPr/>
        <p:txBody>
          <a:bodyPr/>
          <a:lstStyle/>
          <a:p>
            <a:fld id="{494CAACA-2AA5-400E-A06E-5CB63F54FD06}" type="slidenum">
              <a:rPr lang="en-GB" smtClean="0"/>
              <a:t>12</a:t>
            </a:fld>
            <a:endParaRPr lang="en-GB"/>
          </a:p>
        </p:txBody>
      </p:sp>
    </p:spTree>
    <p:extLst>
      <p:ext uri="{BB962C8B-B14F-4D97-AF65-F5344CB8AC3E}">
        <p14:creationId xmlns:p14="http://schemas.microsoft.com/office/powerpoint/2010/main" val="2332412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AB9B4-A2C7-8B8D-7B91-89004E74F5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3C636-00EB-353D-F702-7233F344B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AE6CB2-5C7A-DD11-9AA7-D2BC6E71299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3EB7F0F-A703-D8D6-6243-1F7CCD96F4F0}"/>
              </a:ext>
            </a:extLst>
          </p:cNvPr>
          <p:cNvSpPr>
            <a:spLocks noGrp="1"/>
          </p:cNvSpPr>
          <p:nvPr>
            <p:ph type="sldNum" sz="quarter" idx="5"/>
          </p:nvPr>
        </p:nvSpPr>
        <p:spPr/>
        <p:txBody>
          <a:bodyPr/>
          <a:lstStyle/>
          <a:p>
            <a:fld id="{494CAACA-2AA5-400E-A06E-5CB63F54FD06}" type="slidenum">
              <a:rPr lang="en-GB" smtClean="0"/>
              <a:t>13</a:t>
            </a:fld>
            <a:endParaRPr lang="en-GB"/>
          </a:p>
        </p:txBody>
      </p:sp>
    </p:spTree>
    <p:extLst>
      <p:ext uri="{BB962C8B-B14F-4D97-AF65-F5344CB8AC3E}">
        <p14:creationId xmlns:p14="http://schemas.microsoft.com/office/powerpoint/2010/main" val="1575365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ED65A-1491-3455-1A53-862D377F1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92BB9-1C90-096F-A1BB-CD2C3DEE88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25AEF-7D29-9C29-94DB-ADB426B5F7B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A5120DD-B11A-5E09-7368-6053DC1B2ADC}"/>
              </a:ext>
            </a:extLst>
          </p:cNvPr>
          <p:cNvSpPr>
            <a:spLocks noGrp="1"/>
          </p:cNvSpPr>
          <p:nvPr>
            <p:ph type="sldNum" sz="quarter" idx="5"/>
          </p:nvPr>
        </p:nvSpPr>
        <p:spPr/>
        <p:txBody>
          <a:bodyPr/>
          <a:lstStyle/>
          <a:p>
            <a:fld id="{494CAACA-2AA5-400E-A06E-5CB63F54FD06}" type="slidenum">
              <a:rPr lang="en-GB" smtClean="0"/>
              <a:t>14</a:t>
            </a:fld>
            <a:endParaRPr lang="en-GB"/>
          </a:p>
        </p:txBody>
      </p:sp>
    </p:spTree>
    <p:extLst>
      <p:ext uri="{BB962C8B-B14F-4D97-AF65-F5344CB8AC3E}">
        <p14:creationId xmlns:p14="http://schemas.microsoft.com/office/powerpoint/2010/main" val="2366808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1705F-DB33-B4F0-C995-4D40C80F0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01A68B-F481-3BDF-61D5-19D48B2334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9C5C5-5B41-C724-FB28-D4777EBDBBD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BA2FA66-07D4-ED10-BD09-B815B70A121A}"/>
              </a:ext>
            </a:extLst>
          </p:cNvPr>
          <p:cNvSpPr>
            <a:spLocks noGrp="1"/>
          </p:cNvSpPr>
          <p:nvPr>
            <p:ph type="sldNum" sz="quarter" idx="5"/>
          </p:nvPr>
        </p:nvSpPr>
        <p:spPr/>
        <p:txBody>
          <a:bodyPr/>
          <a:lstStyle/>
          <a:p>
            <a:fld id="{494CAACA-2AA5-400E-A06E-5CB63F54FD06}" type="slidenum">
              <a:rPr lang="en-GB" smtClean="0"/>
              <a:t>15</a:t>
            </a:fld>
            <a:endParaRPr lang="en-GB"/>
          </a:p>
        </p:txBody>
      </p:sp>
    </p:spTree>
    <p:extLst>
      <p:ext uri="{BB962C8B-B14F-4D97-AF65-F5344CB8AC3E}">
        <p14:creationId xmlns:p14="http://schemas.microsoft.com/office/powerpoint/2010/main" val="2618124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3E47D-20B8-09BC-4792-96E4B34F0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78C88-77EB-B466-FB70-BC94944CDA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321C70-A2CF-FFF8-9082-BDC8F435335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F1B82ED-B614-90D6-197E-E185FEA5361E}"/>
              </a:ext>
            </a:extLst>
          </p:cNvPr>
          <p:cNvSpPr>
            <a:spLocks noGrp="1"/>
          </p:cNvSpPr>
          <p:nvPr>
            <p:ph type="sldNum" sz="quarter" idx="5"/>
          </p:nvPr>
        </p:nvSpPr>
        <p:spPr/>
        <p:txBody>
          <a:bodyPr/>
          <a:lstStyle/>
          <a:p>
            <a:fld id="{494CAACA-2AA5-400E-A06E-5CB63F54FD06}" type="slidenum">
              <a:rPr lang="en-GB" smtClean="0"/>
              <a:t>16</a:t>
            </a:fld>
            <a:endParaRPr lang="en-GB"/>
          </a:p>
        </p:txBody>
      </p:sp>
    </p:spTree>
    <p:extLst>
      <p:ext uri="{BB962C8B-B14F-4D97-AF65-F5344CB8AC3E}">
        <p14:creationId xmlns:p14="http://schemas.microsoft.com/office/powerpoint/2010/main" val="2529042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0.png"/><Relationship Id="rId18" Type="http://schemas.openxmlformats.org/officeDocument/2006/relationships/image" Target="../media/image13.png"/><Relationship Id="rId3" Type="http://schemas.openxmlformats.org/officeDocument/2006/relationships/image" Target="../media/image5.svg"/><Relationship Id="rId21" Type="http://schemas.openxmlformats.org/officeDocument/2006/relationships/image" Target="../media/image14.png"/><Relationship Id="rId7" Type="http://schemas.openxmlformats.org/officeDocument/2006/relationships/image" Target="../media/image8.svg"/><Relationship Id="rId12" Type="http://schemas.openxmlformats.org/officeDocument/2006/relationships/slide" Target="slide5.xml"/><Relationship Id="rId17" Type="http://schemas.openxmlformats.org/officeDocument/2006/relationships/image" Target="../media/image12.png"/><Relationship Id="rId25" Type="http://schemas.openxmlformats.org/officeDocument/2006/relationships/image" Target="../media/image16.png"/><Relationship Id="rId2" Type="http://schemas.openxmlformats.org/officeDocument/2006/relationships/image" Target="../media/image4.png"/><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0.png"/><Relationship Id="rId24" Type="http://schemas.openxmlformats.org/officeDocument/2006/relationships/slide" Target="slide21.xml"/><Relationship Id="rId5" Type="http://schemas.openxmlformats.org/officeDocument/2006/relationships/image" Target="../media/image2.svg"/><Relationship Id="rId15" Type="http://schemas.openxmlformats.org/officeDocument/2006/relationships/slide" Target="slide120.xml"/><Relationship Id="rId23" Type="http://schemas.openxmlformats.org/officeDocument/2006/relationships/image" Target="../media/image15.png"/><Relationship Id="rId10" Type="http://schemas.openxmlformats.org/officeDocument/2006/relationships/image" Target="../media/image80.png"/><Relationship Id="rId19" Type="http://schemas.openxmlformats.org/officeDocument/2006/relationships/slide" Target="slide7.xml"/><Relationship Id="rId4" Type="http://schemas.openxmlformats.org/officeDocument/2006/relationships/image" Target="../media/image6.png"/><Relationship Id="rId9" Type="http://schemas.openxmlformats.org/officeDocument/2006/relationships/slide" Target="slide3.xml"/><Relationship Id="rId14" Type="http://schemas.openxmlformats.org/officeDocument/2006/relationships/image" Target="../media/image11.png"/><Relationship Id="rId22" Type="http://schemas.openxmlformats.org/officeDocument/2006/relationships/slide" Target="slide20.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6.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2.png"/><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12.png"/><Relationship Id="rId3" Type="http://schemas.openxmlformats.org/officeDocument/2006/relationships/image" Target="../media/image2.svg"/><Relationship Id="rId21" Type="http://schemas.openxmlformats.org/officeDocument/2006/relationships/hyperlink" Target="https://neo4j.com/" TargetMode="External"/><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image" Target="../media/image6.png"/><Relationship Id="rId16" Type="http://schemas.openxmlformats.org/officeDocument/2006/relationships/image" Target="../media/image37.png"/><Relationship Id="rId20" Type="http://schemas.openxmlformats.org/officeDocument/2006/relationships/hyperlink" Target="https://langchain-ai.github.io/langgraph" TargetMode="External"/><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19" Type="http://schemas.openxmlformats.org/officeDocument/2006/relationships/hyperlink" Target="https://eutils.ncbi.nlm.nih.gov/" TargetMode="External"/><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hyperlink" Target="https://ai.google.dev/"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12.png"/><Relationship Id="rId3" Type="http://schemas.openxmlformats.org/officeDocument/2006/relationships/image" Target="../media/image2.sv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image" Target="../media/image6.png"/><Relationship Id="rId16"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1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290.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p:cNvGrpSpPr/>
        <p:nvPr/>
      </p:nvGrpSpPr>
      <p:grpSpPr>
        <a:xfrm>
          <a:off x="0" y="0"/>
          <a:ext cx="0" cy="0"/>
          <a:chOff x="0" y="0"/>
          <a:chExt cx="0" cy="0"/>
        </a:xfrm>
      </p:grpSpPr>
      <p:sp>
        <p:nvSpPr>
          <p:cNvPr id="2" name="Freeform 2"/>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3" name="Freeform 3"/>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4" name="Freeform 4"/>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grpSp>
        <p:nvGrpSpPr>
          <p:cNvPr id="5" name="Group 5"/>
          <p:cNvGrpSpPr/>
          <p:nvPr/>
        </p:nvGrpSpPr>
        <p:grpSpPr>
          <a:xfrm>
            <a:off x="1028700" y="1028700"/>
            <a:ext cx="16230600" cy="8229600"/>
            <a:chOff x="0" y="0"/>
            <a:chExt cx="5274950" cy="2674622"/>
          </a:xfrm>
        </p:grpSpPr>
        <p:sp>
          <p:nvSpPr>
            <p:cNvPr id="6" name="Freeform 6"/>
            <p:cNvSpPr/>
            <p:nvPr/>
          </p:nvSpPr>
          <p:spPr>
            <a:xfrm>
              <a:off x="0"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3" name="TextBox 12">
            <a:extLst>
              <a:ext uri="{FF2B5EF4-FFF2-40B4-BE49-F238E27FC236}">
                <a16:creationId xmlns:a16="http://schemas.microsoft.com/office/drawing/2014/main" id="{3F0701DE-7585-1C8D-F942-7366F8B6BA72}"/>
              </a:ext>
            </a:extLst>
          </p:cNvPr>
          <p:cNvSpPr txBox="1"/>
          <p:nvPr/>
        </p:nvSpPr>
        <p:spPr>
          <a:xfrm>
            <a:off x="1028699" y="1066542"/>
            <a:ext cx="16213983" cy="1323439"/>
          </a:xfrm>
          <a:prstGeom prst="rect">
            <a:avLst/>
          </a:prstGeom>
          <a:noFill/>
        </p:spPr>
        <p:txBody>
          <a:bodyPr wrap="square">
            <a:spAutoFit/>
          </a:bodyPr>
          <a:lstStyle/>
          <a:p>
            <a:pPr algn="ctr" rtl="0" fontAlgn="ctr"/>
            <a:r>
              <a:rPr lang="en-IN" sz="2000" b="1" dirty="0">
                <a:latin typeface="Consolas" panose="020B0609020204030204" pitchFamily="49" charset="0"/>
                <a:cs typeface="Kodchasan" panose="020B0604020202020204" charset="-34"/>
              </a:rPr>
              <a:t>PACE UNIVERSITY</a:t>
            </a:r>
          </a:p>
          <a:p>
            <a:pPr algn="ctr" rtl="0" fontAlgn="ctr"/>
            <a:r>
              <a:rPr lang="en-IN" sz="2000" b="1" dirty="0">
                <a:latin typeface="Consolas" panose="020B0609020204030204" pitchFamily="49" charset="0"/>
                <a:cs typeface="Kodchasan" panose="020B0604020202020204" charset="-34"/>
              </a:rPr>
              <a:t>CAPSTONE PROJECT</a:t>
            </a:r>
          </a:p>
          <a:p>
            <a:pPr algn="ctr" rtl="0" fontAlgn="ctr"/>
            <a:r>
              <a:rPr lang="en-IN" sz="2000" b="1" dirty="0">
                <a:latin typeface="Consolas" panose="020B0609020204030204" pitchFamily="49" charset="0"/>
                <a:cs typeface="Kodchasan" panose="020B0604020202020204" charset="-34"/>
              </a:rPr>
              <a:t>CS-668</a:t>
            </a:r>
          </a:p>
          <a:p>
            <a:pPr algn="ctr" rtl="0" fontAlgn="ctr"/>
            <a:endParaRPr lang="en-IN" sz="2000" b="1" dirty="0">
              <a:effectLst/>
              <a:latin typeface="Consolas" panose="020B0609020204030204" pitchFamily="49" charset="0"/>
              <a:cs typeface="Kodchasan" panose="020B0604020202020204" charset="-34"/>
            </a:endParaRPr>
          </a:p>
        </p:txBody>
      </p:sp>
      <p:pic>
        <p:nvPicPr>
          <p:cNvPr id="14" name="Picture 13">
            <a:extLst>
              <a:ext uri="{FF2B5EF4-FFF2-40B4-BE49-F238E27FC236}">
                <a16:creationId xmlns:a16="http://schemas.microsoft.com/office/drawing/2014/main" id="{AF5E0888-2230-D5D6-4D86-577C22EF56C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219200" y="1312598"/>
            <a:ext cx="1552050" cy="733691"/>
          </a:xfrm>
          <a:prstGeom prst="rect">
            <a:avLst/>
          </a:prstGeom>
        </p:spPr>
      </p:pic>
      <p:sp>
        <p:nvSpPr>
          <p:cNvPr id="15" name="Google Shape;243;p39">
            <a:extLst>
              <a:ext uri="{FF2B5EF4-FFF2-40B4-BE49-F238E27FC236}">
                <a16:creationId xmlns:a16="http://schemas.microsoft.com/office/drawing/2014/main" id="{2166ECFA-C471-94FA-BFB4-A683BD80F7AB}"/>
              </a:ext>
            </a:extLst>
          </p:cNvPr>
          <p:cNvSpPr txBox="1">
            <a:spLocks/>
          </p:cNvSpPr>
          <p:nvPr/>
        </p:nvSpPr>
        <p:spPr>
          <a:xfrm>
            <a:off x="1045317" y="2728715"/>
            <a:ext cx="16197365" cy="16071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50000"/>
              </a:lnSpc>
            </a:pPr>
            <a:r>
              <a:rPr lang="en-US" sz="5400" b="1" dirty="0">
                <a:solidFill>
                  <a:schemeClr val="tx1"/>
                </a:solidFill>
                <a:latin typeface="Consolas" panose="020B0609020204030204" pitchFamily="49" charset="0"/>
                <a:cs typeface="Kodchasan" panose="020B0604020202020204" charset="-34"/>
              </a:rPr>
              <a:t>Midterm Presentation-</a:t>
            </a:r>
          </a:p>
          <a:p>
            <a:pPr algn="ctr"/>
            <a:r>
              <a:rPr lang="en-US" sz="2800" b="1" dirty="0">
                <a:solidFill>
                  <a:schemeClr val="tx1"/>
                </a:solidFill>
                <a:latin typeface="Consolas" panose="020B0609020204030204" pitchFamily="49" charset="0"/>
                <a:cs typeface="Kodchasan" panose="020B0604020202020204" charset="-34"/>
              </a:rPr>
              <a:t>AuRa Discovery – An Agentic Graph-RAG System </a:t>
            </a:r>
          </a:p>
          <a:p>
            <a:pPr algn="ctr"/>
            <a:r>
              <a:rPr lang="en-US" sz="2800" b="1" dirty="0">
                <a:solidFill>
                  <a:schemeClr val="tx1"/>
                </a:solidFill>
                <a:latin typeface="Consolas" panose="020B0609020204030204" pitchFamily="49" charset="0"/>
                <a:cs typeface="Kodchasan" panose="020B0604020202020204" charset="-34"/>
              </a:rPr>
              <a:t>for Biomedical Drug Discovery</a:t>
            </a:r>
          </a:p>
        </p:txBody>
      </p:sp>
      <p:sp>
        <p:nvSpPr>
          <p:cNvPr id="16" name="TextBox 15">
            <a:extLst>
              <a:ext uri="{FF2B5EF4-FFF2-40B4-BE49-F238E27FC236}">
                <a16:creationId xmlns:a16="http://schemas.microsoft.com/office/drawing/2014/main" id="{798CB2EE-E2C1-1401-B091-2D6842CA109B}"/>
              </a:ext>
            </a:extLst>
          </p:cNvPr>
          <p:cNvSpPr txBox="1"/>
          <p:nvPr/>
        </p:nvSpPr>
        <p:spPr>
          <a:xfrm>
            <a:off x="1045317" y="4703296"/>
            <a:ext cx="16197365" cy="2062103"/>
          </a:xfrm>
          <a:prstGeom prst="rect">
            <a:avLst/>
          </a:prstGeom>
          <a:noFill/>
        </p:spPr>
        <p:txBody>
          <a:bodyPr wrap="square" rtlCol="0">
            <a:spAutoFit/>
          </a:bodyPr>
          <a:lstStyle/>
          <a:p>
            <a:pPr algn="ctr"/>
            <a:r>
              <a:rPr lang="en-IN" sz="2800" b="1" dirty="0">
                <a:latin typeface="Consolas" panose="020B0609020204030204" pitchFamily="49" charset="0"/>
                <a:cs typeface="Kodchasan" panose="020B0604020202020204" charset="-34"/>
              </a:rPr>
              <a:t>Presented By-</a:t>
            </a:r>
          </a:p>
          <a:p>
            <a:pPr algn="ctr"/>
            <a:r>
              <a:rPr lang="en-IN" sz="2800" b="1" dirty="0">
                <a:latin typeface="Consolas" panose="020B0609020204030204" pitchFamily="49" charset="0"/>
                <a:cs typeface="Kodchasan" panose="020B0604020202020204" charset="-34"/>
              </a:rPr>
              <a:t>Judith Ria Talari</a:t>
            </a:r>
          </a:p>
          <a:p>
            <a:pPr algn="ctr"/>
            <a:r>
              <a:rPr lang="en-IN" sz="2800" b="1" dirty="0">
                <a:latin typeface="Consolas" panose="020B0609020204030204" pitchFamily="49" charset="0"/>
                <a:cs typeface="Kodchasan" panose="020B0604020202020204" charset="-34"/>
              </a:rPr>
              <a:t>Sasank Dhulipudi </a:t>
            </a:r>
            <a:br>
              <a:rPr lang="en-IN" sz="2800" b="1" dirty="0">
                <a:latin typeface="Consolas" panose="020B0609020204030204" pitchFamily="49" charset="0"/>
                <a:cs typeface="Kodchasan" panose="020B0604020202020204" charset="-34"/>
              </a:rPr>
            </a:br>
            <a:r>
              <a:rPr lang="en-IN" sz="2800" b="1" dirty="0">
                <a:latin typeface="Consolas" panose="020B0609020204030204" pitchFamily="49" charset="0"/>
                <a:cs typeface="Kodchasan" panose="020B0604020202020204" charset="-34"/>
              </a:rPr>
              <a:t>                                   </a:t>
            </a:r>
            <a:br>
              <a:rPr lang="en-IN" sz="1600" b="1" dirty="0">
                <a:latin typeface="Consolas" panose="020B0609020204030204" pitchFamily="49" charset="0"/>
                <a:cs typeface="Kodchasan" panose="020B0604020202020204" charset="-34"/>
              </a:rPr>
            </a:br>
            <a:r>
              <a:rPr lang="en-IN" sz="1600" b="1" dirty="0">
                <a:latin typeface="Consolas" panose="020B0609020204030204" pitchFamily="49" charset="0"/>
                <a:cs typeface="Kodchasan" panose="020B0604020202020204" charset="-34"/>
              </a:rPr>
              <a:t>                              </a:t>
            </a:r>
            <a:endParaRPr lang="en-IN" sz="1600" dirty="0">
              <a:latin typeface="Consolas" panose="020B0609020204030204" pitchFamily="49" charset="0"/>
              <a:cs typeface="Kodchasan" panose="020B0604020202020204" charset="-3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p:cNvGrpSpPr/>
        <p:nvPr/>
      </p:nvGrpSpPr>
      <p:grpSpPr>
        <a:xfrm>
          <a:off x="0" y="0"/>
          <a:ext cx="0" cy="0"/>
          <a:chOff x="0" y="0"/>
          <a:chExt cx="0" cy="0"/>
        </a:xfrm>
      </p:grpSpPr>
      <p:pic>
        <p:nvPicPr>
          <p:cNvPr id="1769" name="Graphic 1768" descr="Clipboard with solid fill">
            <a:extLst>
              <a:ext uri="{FF2B5EF4-FFF2-40B4-BE49-F238E27FC236}">
                <a16:creationId xmlns:a16="http://schemas.microsoft.com/office/drawing/2014/main" id="{45EEB7D4-57E1-5581-F616-6BAA13DEB3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18194" y="7094843"/>
            <a:ext cx="735890" cy="735890"/>
          </a:xfrm>
          <a:prstGeom prst="rect">
            <a:avLst/>
          </a:prstGeom>
        </p:spPr>
      </p:pic>
      <p:sp>
        <p:nvSpPr>
          <p:cNvPr id="1766" name="Freeform 4">
            <a:extLst>
              <a:ext uri="{FF2B5EF4-FFF2-40B4-BE49-F238E27FC236}">
                <a16:creationId xmlns:a16="http://schemas.microsoft.com/office/drawing/2014/main" id="{F416B960-4326-8BF0-7B87-9943892F934B}"/>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4">
              <a:alphaModFix amt="40000"/>
              <a:extLst>
                <a:ext uri="{96DAC541-7B7A-43D3-8B79-37D633B846F1}">
                  <asvg:svgBlip xmlns:asvg="http://schemas.microsoft.com/office/drawing/2016/SVG/main" r:embed="rId5"/>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BC165231-76A4-45CA-F3E9-60EB80DBD535}"/>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4">
              <a:alphaModFix amt="40000"/>
              <a:extLst>
                <a:ext uri="{96DAC541-7B7A-43D3-8B79-37D633B846F1}">
                  <asvg:svgBlip xmlns:asvg="http://schemas.microsoft.com/office/drawing/2016/SVG/main" r:embed="rId5"/>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2B7E6466-C459-571C-E9AC-94A00209EF08}"/>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4">
              <a:alphaModFix amt="40000"/>
              <a:extLst>
                <a:ext uri="{96DAC541-7B7A-43D3-8B79-37D633B846F1}">
                  <asvg:svgBlip xmlns:asvg="http://schemas.microsoft.com/office/drawing/2016/SVG/main" r:embed="rId5"/>
                </a:ext>
              </a:extLst>
            </a:blip>
            <a:stretch>
              <a:fillRect t="-45125" r="-101160"/>
            </a:stretch>
          </a:blipFill>
        </p:spPr>
        <p:txBody>
          <a:bodyPr/>
          <a:lstStyle/>
          <a:p>
            <a:endParaRPr lang="en-GB"/>
          </a:p>
        </p:txBody>
      </p:sp>
      <p:grpSp>
        <p:nvGrpSpPr>
          <p:cNvPr id="5" name="Group 5"/>
          <p:cNvGrpSpPr/>
          <p:nvPr/>
        </p:nvGrpSpPr>
        <p:grpSpPr>
          <a:xfrm>
            <a:off x="1160017" y="955302"/>
            <a:ext cx="16284006" cy="8376138"/>
            <a:chOff x="0" y="-47625"/>
            <a:chExt cx="5292307" cy="2722247"/>
          </a:xfrm>
        </p:grpSpPr>
        <p:sp>
          <p:nvSpPr>
            <p:cNvPr id="6" name="Freeform 6"/>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grpSp>
        <p:nvGrpSpPr>
          <p:cNvPr id="1228" name="Google Shape;84;p1">
            <a:extLst>
              <a:ext uri="{FF2B5EF4-FFF2-40B4-BE49-F238E27FC236}">
                <a16:creationId xmlns:a16="http://schemas.microsoft.com/office/drawing/2014/main" id="{CE0F7A51-65F8-C173-AD60-1D75C7FFF66A}"/>
              </a:ext>
            </a:extLst>
          </p:cNvPr>
          <p:cNvGrpSpPr/>
          <p:nvPr/>
        </p:nvGrpSpPr>
        <p:grpSpPr>
          <a:xfrm>
            <a:off x="7239000" y="2390498"/>
            <a:ext cx="3680460" cy="3680460"/>
            <a:chOff x="4031623" y="300118"/>
            <a:chExt cx="3820088" cy="3820088"/>
          </a:xfrm>
        </p:grpSpPr>
        <p:sp>
          <p:nvSpPr>
            <p:cNvPr id="1229" name="Google Shape;85;p1">
              <a:extLst>
                <a:ext uri="{FF2B5EF4-FFF2-40B4-BE49-F238E27FC236}">
                  <a16:creationId xmlns:a16="http://schemas.microsoft.com/office/drawing/2014/main" id="{7C436801-4C52-26C3-E41D-8A5ABFFBA240}"/>
                </a:ext>
              </a:extLst>
            </p:cNvPr>
            <p:cNvSpPr/>
            <p:nvPr/>
          </p:nvSpPr>
          <p:spPr>
            <a:xfrm>
              <a:off x="4031623" y="300118"/>
              <a:ext cx="3820088" cy="3820088"/>
            </a:xfrm>
            <a:prstGeom prst="ellipse">
              <a:avLst/>
            </a:prstGeom>
            <a:noFill/>
            <a:ln w="139700" cap="flat" cmpd="sng">
              <a:solidFill>
                <a:srgbClr val="F2F2F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30" name="Google Shape;86;p1">
              <a:extLst>
                <a:ext uri="{FF2B5EF4-FFF2-40B4-BE49-F238E27FC236}">
                  <a16:creationId xmlns:a16="http://schemas.microsoft.com/office/drawing/2014/main" id="{092F04B9-9478-7C45-BD71-3E33B6888CE8}"/>
                </a:ext>
              </a:extLst>
            </p:cNvPr>
            <p:cNvSpPr/>
            <p:nvPr/>
          </p:nvSpPr>
          <p:spPr>
            <a:xfrm>
              <a:off x="4290340" y="504879"/>
              <a:ext cx="3350211" cy="3350211"/>
            </a:xfrm>
            <a:prstGeom prst="ellipse">
              <a:avLst/>
            </a:prstGeom>
            <a:solidFill>
              <a:srgbClr val="F2F2F2"/>
            </a:solidFill>
            <a:ln>
              <a:noFill/>
            </a:ln>
            <a:effectLst>
              <a:outerShdw blurRad="292100" dist="63500" dir="7800000" sx="102000" sy="102000" algn="tr" rotWithShape="0">
                <a:srgbClr val="000000">
                  <a:alpha val="4078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grpSp>
      <p:sp>
        <p:nvSpPr>
          <p:cNvPr id="1231" name="Google Shape;87;p1">
            <a:extLst>
              <a:ext uri="{FF2B5EF4-FFF2-40B4-BE49-F238E27FC236}">
                <a16:creationId xmlns:a16="http://schemas.microsoft.com/office/drawing/2014/main" id="{E94F162C-61D4-FF49-7B42-056A6BE75581}"/>
              </a:ext>
            </a:extLst>
          </p:cNvPr>
          <p:cNvSpPr/>
          <p:nvPr/>
        </p:nvSpPr>
        <p:spPr>
          <a:xfrm rot="4288309">
            <a:off x="6710181" y="1850184"/>
            <a:ext cx="4700518" cy="4700518"/>
          </a:xfrm>
          <a:prstGeom prst="arc">
            <a:avLst>
              <a:gd name="adj1" fmla="val 15749458"/>
              <a:gd name="adj2" fmla="val 8100709"/>
            </a:avLst>
          </a:prstGeom>
          <a:noFill/>
          <a:ln w="571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264" name="Google Shape;120;p1">
            <a:extLst>
              <a:ext uri="{FF2B5EF4-FFF2-40B4-BE49-F238E27FC236}">
                <a16:creationId xmlns:a16="http://schemas.microsoft.com/office/drawing/2014/main" id="{4A09EE01-EC76-5756-3D1E-631159EB60FA}"/>
              </a:ext>
            </a:extLst>
          </p:cNvPr>
          <p:cNvGrpSpPr/>
          <p:nvPr/>
        </p:nvGrpSpPr>
        <p:grpSpPr>
          <a:xfrm>
            <a:off x="6784712" y="3003899"/>
            <a:ext cx="319137" cy="319137"/>
            <a:chOff x="3577335" y="1053147"/>
            <a:chExt cx="319137" cy="319137"/>
          </a:xfrm>
        </p:grpSpPr>
        <p:sp>
          <p:nvSpPr>
            <p:cNvPr id="1265" name="Google Shape;121;p1">
              <a:extLst>
                <a:ext uri="{FF2B5EF4-FFF2-40B4-BE49-F238E27FC236}">
                  <a16:creationId xmlns:a16="http://schemas.microsoft.com/office/drawing/2014/main" id="{0707BF23-A37C-546C-1357-1AA12885116E}"/>
                </a:ext>
              </a:extLst>
            </p:cNvPr>
            <p:cNvSpPr/>
            <p:nvPr/>
          </p:nvSpPr>
          <p:spPr>
            <a:xfrm>
              <a:off x="3676269" y="1148406"/>
              <a:ext cx="128620" cy="128620"/>
            </a:xfrm>
            <a:prstGeom prst="ellipse">
              <a:avLst/>
            </a:prstGeom>
            <a:solidFill>
              <a:srgbClr val="FFC500"/>
            </a:solidFill>
            <a:ln w="19050" cap="flat" cmpd="sng">
              <a:solidFill>
                <a:srgbClr val="FFE97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66" name="Google Shape;122;p1">
              <a:extLst>
                <a:ext uri="{FF2B5EF4-FFF2-40B4-BE49-F238E27FC236}">
                  <a16:creationId xmlns:a16="http://schemas.microsoft.com/office/drawing/2014/main" id="{75076DAD-8FC4-FE75-99F8-C1E3704F6287}"/>
                </a:ext>
              </a:extLst>
            </p:cNvPr>
            <p:cNvSpPr/>
            <p:nvPr/>
          </p:nvSpPr>
          <p:spPr>
            <a:xfrm>
              <a:off x="3577335" y="1053147"/>
              <a:ext cx="319137" cy="319137"/>
            </a:xfrm>
            <a:prstGeom prst="donut">
              <a:avLst>
                <a:gd name="adj" fmla="val 19304"/>
              </a:avLst>
            </a:prstGeom>
            <a:solidFill>
              <a:srgbClr val="FFC5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67" name="Google Shape;123;p1">
            <a:extLst>
              <a:ext uri="{FF2B5EF4-FFF2-40B4-BE49-F238E27FC236}">
                <a16:creationId xmlns:a16="http://schemas.microsoft.com/office/drawing/2014/main" id="{76933EEA-C710-BDBB-D666-F30FA66B2861}"/>
              </a:ext>
            </a:extLst>
          </p:cNvPr>
          <p:cNvGrpSpPr/>
          <p:nvPr/>
        </p:nvGrpSpPr>
        <p:grpSpPr>
          <a:xfrm>
            <a:off x="6657013" y="4648650"/>
            <a:ext cx="319137" cy="319137"/>
            <a:chOff x="3577335" y="1053147"/>
            <a:chExt cx="319137" cy="319137"/>
          </a:xfrm>
        </p:grpSpPr>
        <p:sp>
          <p:nvSpPr>
            <p:cNvPr id="1268" name="Google Shape;124;p1">
              <a:extLst>
                <a:ext uri="{FF2B5EF4-FFF2-40B4-BE49-F238E27FC236}">
                  <a16:creationId xmlns:a16="http://schemas.microsoft.com/office/drawing/2014/main" id="{99B84D89-107F-8A97-A154-423336A3E84B}"/>
                </a:ext>
              </a:extLst>
            </p:cNvPr>
            <p:cNvSpPr/>
            <p:nvPr/>
          </p:nvSpPr>
          <p:spPr>
            <a:xfrm>
              <a:off x="3676269" y="1148406"/>
              <a:ext cx="128620" cy="128620"/>
            </a:xfrm>
            <a:prstGeom prst="ellipse">
              <a:avLst/>
            </a:prstGeom>
            <a:solidFill>
              <a:srgbClr val="70E3D2"/>
            </a:solidFill>
            <a:ln w="19050" cap="flat" cmpd="sng">
              <a:solidFill>
                <a:srgbClr val="8CF7E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269" name="Google Shape;125;p1">
              <a:extLst>
                <a:ext uri="{FF2B5EF4-FFF2-40B4-BE49-F238E27FC236}">
                  <a16:creationId xmlns:a16="http://schemas.microsoft.com/office/drawing/2014/main" id="{8F0DE497-039B-2AC0-4789-8E2F531750F9}"/>
                </a:ext>
              </a:extLst>
            </p:cNvPr>
            <p:cNvSpPr/>
            <p:nvPr/>
          </p:nvSpPr>
          <p:spPr>
            <a:xfrm>
              <a:off x="3577335" y="1053147"/>
              <a:ext cx="319137" cy="319137"/>
            </a:xfrm>
            <a:prstGeom prst="donut">
              <a:avLst>
                <a:gd name="adj" fmla="val 19304"/>
              </a:avLst>
            </a:prstGeom>
            <a:solidFill>
              <a:srgbClr val="1DD6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70" name="Google Shape;126;p1">
            <a:extLst>
              <a:ext uri="{FF2B5EF4-FFF2-40B4-BE49-F238E27FC236}">
                <a16:creationId xmlns:a16="http://schemas.microsoft.com/office/drawing/2014/main" id="{320E262B-C478-460D-1D60-EFAEB1C37B35}"/>
              </a:ext>
            </a:extLst>
          </p:cNvPr>
          <p:cNvGrpSpPr/>
          <p:nvPr/>
        </p:nvGrpSpPr>
        <p:grpSpPr>
          <a:xfrm>
            <a:off x="11002558" y="2990094"/>
            <a:ext cx="319137" cy="319137"/>
            <a:chOff x="3577335" y="1053147"/>
            <a:chExt cx="319137" cy="319137"/>
          </a:xfrm>
        </p:grpSpPr>
        <p:sp>
          <p:nvSpPr>
            <p:cNvPr id="1271" name="Google Shape;127;p1">
              <a:extLst>
                <a:ext uri="{FF2B5EF4-FFF2-40B4-BE49-F238E27FC236}">
                  <a16:creationId xmlns:a16="http://schemas.microsoft.com/office/drawing/2014/main" id="{CE3A3F49-486E-64FA-EC77-1DE5B0AC3793}"/>
                </a:ext>
              </a:extLst>
            </p:cNvPr>
            <p:cNvSpPr/>
            <p:nvPr/>
          </p:nvSpPr>
          <p:spPr>
            <a:xfrm>
              <a:off x="3676269" y="1148406"/>
              <a:ext cx="128620" cy="128620"/>
            </a:xfrm>
            <a:prstGeom prst="ellipse">
              <a:avLst/>
            </a:prstGeom>
            <a:solidFill>
              <a:srgbClr val="A1CC1C"/>
            </a:solidFill>
            <a:ln w="19050" cap="flat" cmpd="sng">
              <a:solidFill>
                <a:srgbClr val="C6F74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72" name="Google Shape;128;p1">
              <a:extLst>
                <a:ext uri="{FF2B5EF4-FFF2-40B4-BE49-F238E27FC236}">
                  <a16:creationId xmlns:a16="http://schemas.microsoft.com/office/drawing/2014/main" id="{3D283E93-9481-5C66-32AC-4276DB426C30}"/>
                </a:ext>
              </a:extLst>
            </p:cNvPr>
            <p:cNvSpPr/>
            <p:nvPr/>
          </p:nvSpPr>
          <p:spPr>
            <a:xfrm>
              <a:off x="3577335" y="1053147"/>
              <a:ext cx="319137" cy="319137"/>
            </a:xfrm>
            <a:prstGeom prst="donut">
              <a:avLst>
                <a:gd name="adj" fmla="val 19304"/>
              </a:avLst>
            </a:prstGeom>
            <a:solidFill>
              <a:srgbClr val="A7D50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92" name="Google Shape;248;p1">
            <a:extLst>
              <a:ext uri="{FF2B5EF4-FFF2-40B4-BE49-F238E27FC236}">
                <a16:creationId xmlns:a16="http://schemas.microsoft.com/office/drawing/2014/main" id="{546B2C91-2568-3ACB-2A0E-36D73299DCAE}"/>
              </a:ext>
            </a:extLst>
          </p:cNvPr>
          <p:cNvSpPr txBox="1"/>
          <p:nvPr/>
        </p:nvSpPr>
        <p:spPr>
          <a:xfrm>
            <a:off x="7882000" y="3672409"/>
            <a:ext cx="2630810" cy="95406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chemeClr val="dk1"/>
                </a:solidFill>
                <a:latin typeface="Twentieth Century"/>
                <a:ea typeface="Twentieth Century"/>
                <a:cs typeface="Twentieth Century"/>
                <a:sym typeface="Twentieth Century"/>
              </a:rPr>
              <a:t>TABLE OF CONTENTS</a:t>
            </a:r>
            <a:endParaRPr sz="2800" b="1" dirty="0">
              <a:solidFill>
                <a:schemeClr val="dk1"/>
              </a:solidFill>
              <a:latin typeface="Twentieth Century"/>
              <a:ea typeface="Twentieth Century"/>
              <a:cs typeface="Twentieth Century"/>
              <a:sym typeface="Twentieth Century"/>
            </a:endParaRPr>
          </a:p>
        </p:txBody>
      </p:sp>
      <p:sp>
        <p:nvSpPr>
          <p:cNvPr id="1395" name="Google Shape;251;p1">
            <a:extLst>
              <a:ext uri="{FF2B5EF4-FFF2-40B4-BE49-F238E27FC236}">
                <a16:creationId xmlns:a16="http://schemas.microsoft.com/office/drawing/2014/main" id="{81A8BF84-1BF3-4796-7E66-D4008561FE6A}"/>
              </a:ext>
            </a:extLst>
          </p:cNvPr>
          <p:cNvSpPr txBox="1"/>
          <p:nvPr/>
        </p:nvSpPr>
        <p:spPr>
          <a:xfrm>
            <a:off x="13078192" y="2611201"/>
            <a:ext cx="2017395"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Consolas" panose="020B0609020204030204" pitchFamily="49" charset="0"/>
                <a:ea typeface="Twentieth Century"/>
                <a:cs typeface="Twentieth Century"/>
                <a:sym typeface="Twentieth Century"/>
              </a:rPr>
              <a:t>8.Conclusion</a:t>
            </a:r>
            <a:endParaRPr sz="2000" b="1" dirty="0">
              <a:solidFill>
                <a:schemeClr val="dk1"/>
              </a:solidFill>
              <a:latin typeface="Consolas" panose="020B0609020204030204" pitchFamily="49" charset="0"/>
              <a:ea typeface="Twentieth Century"/>
              <a:cs typeface="Twentieth Century"/>
              <a:sym typeface="Twentieth Century"/>
            </a:endParaRPr>
          </a:p>
        </p:txBody>
      </p:sp>
      <p:sp>
        <p:nvSpPr>
          <p:cNvPr id="1398" name="Google Shape;254;p1">
            <a:extLst>
              <a:ext uri="{FF2B5EF4-FFF2-40B4-BE49-F238E27FC236}">
                <a16:creationId xmlns:a16="http://schemas.microsoft.com/office/drawing/2014/main" id="{31236668-8A5D-4BF6-EA6C-2EF9739B1936}"/>
              </a:ext>
            </a:extLst>
          </p:cNvPr>
          <p:cNvSpPr txBox="1"/>
          <p:nvPr/>
        </p:nvSpPr>
        <p:spPr>
          <a:xfrm>
            <a:off x="13262781" y="4276173"/>
            <a:ext cx="4900009"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Consolas" panose="020B0609020204030204" pitchFamily="49" charset="0"/>
                <a:ea typeface="Twentieth Century"/>
                <a:cs typeface="Twentieth Century"/>
                <a:sym typeface="Twentieth Century"/>
              </a:rPr>
              <a:t>7. References</a:t>
            </a:r>
          </a:p>
        </p:txBody>
      </p:sp>
      <p:sp>
        <p:nvSpPr>
          <p:cNvPr id="1401" name="Google Shape;257;p1">
            <a:extLst>
              <a:ext uri="{FF2B5EF4-FFF2-40B4-BE49-F238E27FC236}">
                <a16:creationId xmlns:a16="http://schemas.microsoft.com/office/drawing/2014/main" id="{DC8EE8D1-8AC3-CFBC-A664-FFA6204BBA45}"/>
              </a:ext>
            </a:extLst>
          </p:cNvPr>
          <p:cNvSpPr txBox="1"/>
          <p:nvPr/>
        </p:nvSpPr>
        <p:spPr>
          <a:xfrm>
            <a:off x="12708365" y="6375262"/>
            <a:ext cx="2915712"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chemeClr val="dk1"/>
                </a:solidFill>
                <a:latin typeface="Consolas" panose="020B0609020204030204" pitchFamily="49" charset="0"/>
                <a:ea typeface="Twentieth Century"/>
                <a:cs typeface="Twentieth Century"/>
                <a:sym typeface="Twentieth Century"/>
              </a:rPr>
              <a:t>6.Proposed Solution</a:t>
            </a:r>
            <a:endParaRPr sz="2000" b="1" dirty="0">
              <a:solidFill>
                <a:schemeClr val="dk1"/>
              </a:solidFill>
              <a:latin typeface="Consolas" panose="020B0609020204030204" pitchFamily="49" charset="0"/>
              <a:ea typeface="Twentieth Century"/>
              <a:cs typeface="Twentieth Century"/>
              <a:sym typeface="Twentieth Century"/>
            </a:endParaRPr>
          </a:p>
        </p:txBody>
      </p:sp>
      <p:sp>
        <p:nvSpPr>
          <p:cNvPr id="1404" name="Google Shape;260;p1">
            <a:extLst>
              <a:ext uri="{FF2B5EF4-FFF2-40B4-BE49-F238E27FC236}">
                <a16:creationId xmlns:a16="http://schemas.microsoft.com/office/drawing/2014/main" id="{ACE6202A-38B9-2856-062E-9C71F469AD55}"/>
              </a:ext>
            </a:extLst>
          </p:cNvPr>
          <p:cNvSpPr txBox="1"/>
          <p:nvPr/>
        </p:nvSpPr>
        <p:spPr>
          <a:xfrm>
            <a:off x="7184665" y="8552189"/>
            <a:ext cx="4062101"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chemeClr val="dk1"/>
                </a:solidFill>
                <a:latin typeface="Consolas" panose="020B0609020204030204" pitchFamily="49" charset="0"/>
                <a:ea typeface="Twentieth Century"/>
                <a:cs typeface="Twentieth Century"/>
                <a:sym typeface="Twentieth Century"/>
              </a:rPr>
              <a:t>5.Exploratory Data Analysis</a:t>
            </a:r>
            <a:endParaRPr sz="2000" b="1" dirty="0">
              <a:solidFill>
                <a:schemeClr val="dk1"/>
              </a:solidFill>
              <a:latin typeface="Consolas" panose="020B0609020204030204" pitchFamily="49" charset="0"/>
              <a:ea typeface="Twentieth Century"/>
              <a:cs typeface="Twentieth Century"/>
              <a:sym typeface="Twentieth Century"/>
            </a:endParaRPr>
          </a:p>
        </p:txBody>
      </p:sp>
      <p:sp>
        <p:nvSpPr>
          <p:cNvPr id="1407" name="Google Shape;263;p1">
            <a:extLst>
              <a:ext uri="{FF2B5EF4-FFF2-40B4-BE49-F238E27FC236}">
                <a16:creationId xmlns:a16="http://schemas.microsoft.com/office/drawing/2014/main" id="{83BC8E15-9955-D962-732D-01CB93FCCC60}"/>
              </a:ext>
            </a:extLst>
          </p:cNvPr>
          <p:cNvSpPr txBox="1"/>
          <p:nvPr/>
        </p:nvSpPr>
        <p:spPr>
          <a:xfrm>
            <a:off x="3141922" y="6580528"/>
            <a:ext cx="2499988"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chemeClr val="dk1"/>
                </a:solidFill>
                <a:latin typeface="Consolas" panose="020B0609020204030204" pitchFamily="49" charset="0"/>
                <a:ea typeface="Twentieth Century"/>
                <a:cs typeface="Twentieth Century"/>
                <a:sym typeface="Twentieth Century"/>
              </a:rPr>
              <a:t>3. Dataset</a:t>
            </a:r>
            <a:endParaRPr sz="2000" b="1" dirty="0">
              <a:solidFill>
                <a:schemeClr val="dk1"/>
              </a:solidFill>
              <a:latin typeface="Consolas" panose="020B0609020204030204" pitchFamily="49" charset="0"/>
              <a:ea typeface="Twentieth Century"/>
              <a:cs typeface="Twentieth Century"/>
              <a:sym typeface="Twentieth Century"/>
            </a:endParaRPr>
          </a:p>
        </p:txBody>
      </p:sp>
      <p:sp>
        <p:nvSpPr>
          <p:cNvPr id="1413" name="Google Shape;269;p1">
            <a:extLst>
              <a:ext uri="{FF2B5EF4-FFF2-40B4-BE49-F238E27FC236}">
                <a16:creationId xmlns:a16="http://schemas.microsoft.com/office/drawing/2014/main" id="{7790C7BA-F4C8-729E-AEAD-2393C103B75B}"/>
              </a:ext>
            </a:extLst>
          </p:cNvPr>
          <p:cNvSpPr txBox="1"/>
          <p:nvPr/>
        </p:nvSpPr>
        <p:spPr>
          <a:xfrm>
            <a:off x="1764753" y="4536733"/>
            <a:ext cx="3351479"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chemeClr val="dk1"/>
                </a:solidFill>
                <a:latin typeface="Consolas" panose="020B0609020204030204" pitchFamily="49" charset="0"/>
                <a:ea typeface="Twentieth Century"/>
                <a:cs typeface="Twentieth Century"/>
                <a:sym typeface="Twentieth Century"/>
              </a:rPr>
              <a:t>2.Literature Review</a:t>
            </a:r>
            <a:endParaRPr sz="2000" b="1" dirty="0">
              <a:solidFill>
                <a:schemeClr val="dk1"/>
              </a:solidFill>
              <a:latin typeface="Consolas" panose="020B0609020204030204" pitchFamily="49" charset="0"/>
              <a:ea typeface="Twentieth Century"/>
              <a:cs typeface="Twentieth Century"/>
              <a:sym typeface="Twentieth Century"/>
            </a:endParaRPr>
          </a:p>
        </p:txBody>
      </p:sp>
      <p:sp>
        <p:nvSpPr>
          <p:cNvPr id="1416" name="Google Shape;272;p1">
            <a:extLst>
              <a:ext uri="{FF2B5EF4-FFF2-40B4-BE49-F238E27FC236}">
                <a16:creationId xmlns:a16="http://schemas.microsoft.com/office/drawing/2014/main" id="{9A67A85E-A032-21A1-3A77-245E7D9B43FC}"/>
              </a:ext>
            </a:extLst>
          </p:cNvPr>
          <p:cNvSpPr txBox="1"/>
          <p:nvPr/>
        </p:nvSpPr>
        <p:spPr>
          <a:xfrm>
            <a:off x="2737206" y="2757999"/>
            <a:ext cx="2194718"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Consolas" panose="020B0609020204030204" pitchFamily="49" charset="0"/>
                <a:ea typeface="Twentieth Century"/>
                <a:cs typeface="Twentieth Century"/>
                <a:sym typeface="Twentieth Century"/>
              </a:rPr>
              <a:t>1.Introduction</a:t>
            </a:r>
            <a:endParaRPr sz="2000" b="1" dirty="0">
              <a:solidFill>
                <a:schemeClr val="dk1"/>
              </a:solidFill>
              <a:latin typeface="Consolas" panose="020B0609020204030204" pitchFamily="49" charset="0"/>
              <a:ea typeface="Twentieth Century"/>
              <a:cs typeface="Twentieth Century"/>
              <a:sym typeface="Twentieth Century"/>
            </a:endParaRPr>
          </a:p>
        </p:txBody>
      </p:sp>
      <p:sp>
        <p:nvSpPr>
          <p:cNvPr id="1418" name="Google Shape;274;p1">
            <a:extLst>
              <a:ext uri="{FF2B5EF4-FFF2-40B4-BE49-F238E27FC236}">
                <a16:creationId xmlns:a16="http://schemas.microsoft.com/office/drawing/2014/main" id="{26ED3C00-8F99-BBB5-5FD3-E9ECCB936360}"/>
              </a:ext>
            </a:extLst>
          </p:cNvPr>
          <p:cNvSpPr/>
          <p:nvPr/>
        </p:nvSpPr>
        <p:spPr>
          <a:xfrm>
            <a:off x="5003244" y="2242098"/>
            <a:ext cx="1442175" cy="1442175"/>
          </a:xfrm>
          <a:prstGeom prst="ellipse">
            <a:avLst/>
          </a:prstGeom>
          <a:solidFill>
            <a:srgbClr val="FFC5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0" name="Google Shape;276;p1">
            <a:extLst>
              <a:ext uri="{FF2B5EF4-FFF2-40B4-BE49-F238E27FC236}">
                <a16:creationId xmlns:a16="http://schemas.microsoft.com/office/drawing/2014/main" id="{AE212588-21D8-1C21-289D-A6FE917ECACF}"/>
              </a:ext>
            </a:extLst>
          </p:cNvPr>
          <p:cNvSpPr/>
          <p:nvPr/>
        </p:nvSpPr>
        <p:spPr>
          <a:xfrm rot="-264435">
            <a:off x="5131207" y="2720669"/>
            <a:ext cx="925236" cy="936050"/>
          </a:xfrm>
          <a:prstGeom prst="teardrop">
            <a:avLst>
              <a:gd name="adj" fmla="val 88717"/>
            </a:avLst>
          </a:prstGeom>
          <a:solidFill>
            <a:srgbClr val="000000">
              <a:alpha val="1058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435" name="Google Shape;279;p1">
            <a:extLst>
              <a:ext uri="{FF2B5EF4-FFF2-40B4-BE49-F238E27FC236}">
                <a16:creationId xmlns:a16="http://schemas.microsoft.com/office/drawing/2014/main" id="{F03B688E-C11C-DC03-D816-96A40A26A118}"/>
              </a:ext>
            </a:extLst>
          </p:cNvPr>
          <p:cNvGrpSpPr/>
          <p:nvPr/>
        </p:nvGrpSpPr>
        <p:grpSpPr>
          <a:xfrm>
            <a:off x="5189067" y="2431885"/>
            <a:ext cx="1062600" cy="1062600"/>
            <a:chOff x="1282890" y="562664"/>
            <a:chExt cx="1514902" cy="1514902"/>
          </a:xfrm>
        </p:grpSpPr>
        <p:sp>
          <p:nvSpPr>
            <p:cNvPr id="1437" name="Google Shape;280;p1">
              <a:extLst>
                <a:ext uri="{FF2B5EF4-FFF2-40B4-BE49-F238E27FC236}">
                  <a16:creationId xmlns:a16="http://schemas.microsoft.com/office/drawing/2014/main" id="{5157BA85-C4E6-457A-AFE5-A89E1546E649}"/>
                </a:ext>
              </a:extLst>
            </p:cNvPr>
            <p:cNvSpPr/>
            <p:nvPr/>
          </p:nvSpPr>
          <p:spPr>
            <a:xfrm>
              <a:off x="1282890" y="562664"/>
              <a:ext cx="1514902" cy="1514902"/>
            </a:xfrm>
            <a:prstGeom prst="ellipse">
              <a:avLst/>
            </a:prstGeom>
            <a:noFill/>
            <a:ln w="57150" cap="flat" cmpd="sng">
              <a:solidFill>
                <a:srgbClr val="FFE978"/>
              </a:solidFill>
              <a:prstDash val="solid"/>
              <a:miter lim="800000"/>
              <a:headEnd type="none" w="sm" len="sm"/>
              <a:tailEnd type="none" w="sm" len="sm"/>
            </a:ln>
            <a:effectLst>
              <a:outerShdw blurRad="127000" dist="25400" dir="8100000" sx="104000" sy="104000" algn="tr" rotWithShape="0">
                <a:srgbClr val="000000">
                  <a:alpha val="2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8" name="Google Shape;281;p1">
              <a:extLst>
                <a:ext uri="{FF2B5EF4-FFF2-40B4-BE49-F238E27FC236}">
                  <a16:creationId xmlns:a16="http://schemas.microsoft.com/office/drawing/2014/main" id="{E5A37B1D-C87D-F4F3-BF7F-72151EAF3CB8}"/>
                </a:ext>
              </a:extLst>
            </p:cNvPr>
            <p:cNvSpPr/>
            <p:nvPr/>
          </p:nvSpPr>
          <p:spPr>
            <a:xfrm>
              <a:off x="1310269" y="585168"/>
              <a:ext cx="1469894" cy="1469894"/>
            </a:xfrm>
            <a:prstGeom prst="ellipse">
              <a:avLst/>
            </a:prstGeom>
            <a:solidFill>
              <a:srgbClr val="F2F2F2"/>
            </a:solidFill>
            <a:ln w="19050" cap="flat" cmpd="sng">
              <a:solidFill>
                <a:srgbClr val="F1CE4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grpSp>
      <p:grpSp>
        <p:nvGrpSpPr>
          <p:cNvPr id="1473" name="Google Shape;329;p1">
            <a:extLst>
              <a:ext uri="{FF2B5EF4-FFF2-40B4-BE49-F238E27FC236}">
                <a16:creationId xmlns:a16="http://schemas.microsoft.com/office/drawing/2014/main" id="{4D00D44C-D58A-9C3C-FADB-4DA29284E47C}"/>
              </a:ext>
            </a:extLst>
          </p:cNvPr>
          <p:cNvGrpSpPr/>
          <p:nvPr/>
        </p:nvGrpSpPr>
        <p:grpSpPr>
          <a:xfrm>
            <a:off x="11178798" y="4648650"/>
            <a:ext cx="319137" cy="319137"/>
            <a:chOff x="3577335" y="1053147"/>
            <a:chExt cx="319137" cy="319137"/>
          </a:xfrm>
        </p:grpSpPr>
        <p:sp>
          <p:nvSpPr>
            <p:cNvPr id="1474" name="Google Shape;330;p1">
              <a:extLst>
                <a:ext uri="{FF2B5EF4-FFF2-40B4-BE49-F238E27FC236}">
                  <a16:creationId xmlns:a16="http://schemas.microsoft.com/office/drawing/2014/main" id="{29412861-6F1A-88D1-AFE6-8EBC7BAA80D2}"/>
                </a:ext>
              </a:extLst>
            </p:cNvPr>
            <p:cNvSpPr/>
            <p:nvPr/>
          </p:nvSpPr>
          <p:spPr>
            <a:xfrm>
              <a:off x="3676269" y="1148406"/>
              <a:ext cx="128620" cy="128620"/>
            </a:xfrm>
            <a:prstGeom prst="ellipse">
              <a:avLst/>
            </a:prstGeom>
            <a:solidFill>
              <a:srgbClr val="E39279"/>
            </a:solidFill>
            <a:ln w="19050" cap="flat" cmpd="sng">
              <a:solidFill>
                <a:srgbClr val="FEB28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5" name="Google Shape;331;p1">
              <a:extLst>
                <a:ext uri="{FF2B5EF4-FFF2-40B4-BE49-F238E27FC236}">
                  <a16:creationId xmlns:a16="http://schemas.microsoft.com/office/drawing/2014/main" id="{301D69A1-D040-50F9-DE4D-87D328D96720}"/>
                </a:ext>
              </a:extLst>
            </p:cNvPr>
            <p:cNvSpPr/>
            <p:nvPr/>
          </p:nvSpPr>
          <p:spPr>
            <a:xfrm>
              <a:off x="3577335" y="1053147"/>
              <a:ext cx="319137" cy="319137"/>
            </a:xfrm>
            <a:prstGeom prst="donut">
              <a:avLst>
                <a:gd name="adj" fmla="val 19304"/>
              </a:avLst>
            </a:prstGeom>
            <a:solidFill>
              <a:srgbClr val="FE9B7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476" name="Google Shape;332;p1">
            <a:extLst>
              <a:ext uri="{FF2B5EF4-FFF2-40B4-BE49-F238E27FC236}">
                <a16:creationId xmlns:a16="http://schemas.microsoft.com/office/drawing/2014/main" id="{A4033C59-BC95-0B1B-97B2-D293EF0FB25C}"/>
              </a:ext>
            </a:extLst>
          </p:cNvPr>
          <p:cNvGrpSpPr/>
          <p:nvPr/>
        </p:nvGrpSpPr>
        <p:grpSpPr>
          <a:xfrm>
            <a:off x="10461667" y="5776330"/>
            <a:ext cx="319137" cy="319137"/>
            <a:chOff x="3577335" y="1053147"/>
            <a:chExt cx="319137" cy="319137"/>
          </a:xfrm>
        </p:grpSpPr>
        <p:sp>
          <p:nvSpPr>
            <p:cNvPr id="1477" name="Google Shape;333;p1">
              <a:extLst>
                <a:ext uri="{FF2B5EF4-FFF2-40B4-BE49-F238E27FC236}">
                  <a16:creationId xmlns:a16="http://schemas.microsoft.com/office/drawing/2014/main" id="{91CC388F-3B76-DB9A-64D4-396F863C7C1D}"/>
                </a:ext>
              </a:extLst>
            </p:cNvPr>
            <p:cNvSpPr/>
            <p:nvPr/>
          </p:nvSpPr>
          <p:spPr>
            <a:xfrm>
              <a:off x="3672593" y="1148405"/>
              <a:ext cx="128620" cy="128620"/>
            </a:xfrm>
            <a:prstGeom prst="ellipse">
              <a:avLst/>
            </a:prstGeom>
            <a:solidFill>
              <a:srgbClr val="8469A1"/>
            </a:solidFill>
            <a:ln w="19050" cap="flat" cmpd="sng">
              <a:solidFill>
                <a:srgbClr val="A481D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8" name="Google Shape;334;p1">
              <a:extLst>
                <a:ext uri="{FF2B5EF4-FFF2-40B4-BE49-F238E27FC236}">
                  <a16:creationId xmlns:a16="http://schemas.microsoft.com/office/drawing/2014/main" id="{ADAA1A60-02EA-2E8D-FCC2-A5488985F612}"/>
                </a:ext>
              </a:extLst>
            </p:cNvPr>
            <p:cNvSpPr/>
            <p:nvPr/>
          </p:nvSpPr>
          <p:spPr>
            <a:xfrm>
              <a:off x="3577335" y="1053147"/>
              <a:ext cx="319137" cy="319137"/>
            </a:xfrm>
            <a:prstGeom prst="donut">
              <a:avLst>
                <a:gd name="adj" fmla="val 19304"/>
              </a:avLst>
            </a:prstGeom>
            <a:solidFill>
              <a:srgbClr val="A179B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479" name="Google Shape;335;p1">
            <a:extLst>
              <a:ext uri="{FF2B5EF4-FFF2-40B4-BE49-F238E27FC236}">
                <a16:creationId xmlns:a16="http://schemas.microsoft.com/office/drawing/2014/main" id="{BA21353A-5256-BDF8-EED5-AE67C7EA71DC}"/>
              </a:ext>
            </a:extLst>
          </p:cNvPr>
          <p:cNvGrpSpPr/>
          <p:nvPr/>
        </p:nvGrpSpPr>
        <p:grpSpPr>
          <a:xfrm>
            <a:off x="8979670" y="6380754"/>
            <a:ext cx="319137" cy="319137"/>
            <a:chOff x="3577335" y="1053147"/>
            <a:chExt cx="319137" cy="319137"/>
          </a:xfrm>
        </p:grpSpPr>
        <p:sp>
          <p:nvSpPr>
            <p:cNvPr id="1480" name="Google Shape;336;p1">
              <a:extLst>
                <a:ext uri="{FF2B5EF4-FFF2-40B4-BE49-F238E27FC236}">
                  <a16:creationId xmlns:a16="http://schemas.microsoft.com/office/drawing/2014/main" id="{B83C59B9-E39F-B416-39EB-77FC59F75D7E}"/>
                </a:ext>
              </a:extLst>
            </p:cNvPr>
            <p:cNvSpPr/>
            <p:nvPr/>
          </p:nvSpPr>
          <p:spPr>
            <a:xfrm>
              <a:off x="3672593" y="1139682"/>
              <a:ext cx="128620" cy="128620"/>
            </a:xfrm>
            <a:prstGeom prst="ellipse">
              <a:avLst/>
            </a:prstGeom>
            <a:solidFill>
              <a:srgbClr val="42BDE0"/>
            </a:solidFill>
            <a:ln w="19050" cap="flat" cmpd="sng">
              <a:solidFill>
                <a:srgbClr val="83E2F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1" name="Google Shape;337;p1">
              <a:extLst>
                <a:ext uri="{FF2B5EF4-FFF2-40B4-BE49-F238E27FC236}">
                  <a16:creationId xmlns:a16="http://schemas.microsoft.com/office/drawing/2014/main" id="{FC06B11F-FDBE-F171-8E7A-DDAA5D013531}"/>
                </a:ext>
              </a:extLst>
            </p:cNvPr>
            <p:cNvSpPr/>
            <p:nvPr/>
          </p:nvSpPr>
          <p:spPr>
            <a:xfrm>
              <a:off x="3577335" y="1053147"/>
              <a:ext cx="319137" cy="319137"/>
            </a:xfrm>
            <a:prstGeom prst="donut">
              <a:avLst>
                <a:gd name="adj" fmla="val 19304"/>
              </a:avLst>
            </a:prstGeom>
            <a:solidFill>
              <a:srgbClr val="3ECEF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1482" name="Google Shape;338;p1">
            <a:extLst>
              <a:ext uri="{FF2B5EF4-FFF2-40B4-BE49-F238E27FC236}">
                <a16:creationId xmlns:a16="http://schemas.microsoft.com/office/drawing/2014/main" id="{91DAE544-F9B4-FDEF-84B5-ADE44ECF2AE4}"/>
              </a:ext>
            </a:extLst>
          </p:cNvPr>
          <p:cNvGrpSpPr/>
          <p:nvPr/>
        </p:nvGrpSpPr>
        <p:grpSpPr>
          <a:xfrm>
            <a:off x="7312989" y="5769292"/>
            <a:ext cx="319137" cy="319137"/>
            <a:chOff x="3577335" y="1053147"/>
            <a:chExt cx="319137" cy="319137"/>
          </a:xfrm>
        </p:grpSpPr>
        <p:sp>
          <p:nvSpPr>
            <p:cNvPr id="1483" name="Google Shape;339;p1">
              <a:extLst>
                <a:ext uri="{FF2B5EF4-FFF2-40B4-BE49-F238E27FC236}">
                  <a16:creationId xmlns:a16="http://schemas.microsoft.com/office/drawing/2014/main" id="{1DAFD330-9BD0-C733-FBF0-A48C0CD136A9}"/>
                </a:ext>
              </a:extLst>
            </p:cNvPr>
            <p:cNvSpPr/>
            <p:nvPr/>
          </p:nvSpPr>
          <p:spPr>
            <a:xfrm>
              <a:off x="3676269" y="1148406"/>
              <a:ext cx="128620" cy="128620"/>
            </a:xfrm>
            <a:prstGeom prst="ellipse">
              <a:avLst/>
            </a:prstGeom>
            <a:solidFill>
              <a:srgbClr val="D882DD"/>
            </a:solidFill>
            <a:ln w="19050" cap="flat" cmpd="sng">
              <a:solidFill>
                <a:srgbClr val="FBA9E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484" name="Google Shape;340;p1">
              <a:extLst>
                <a:ext uri="{FF2B5EF4-FFF2-40B4-BE49-F238E27FC236}">
                  <a16:creationId xmlns:a16="http://schemas.microsoft.com/office/drawing/2014/main" id="{07E6462C-01CF-3491-E950-FBB154337943}"/>
                </a:ext>
              </a:extLst>
            </p:cNvPr>
            <p:cNvSpPr/>
            <p:nvPr/>
          </p:nvSpPr>
          <p:spPr>
            <a:xfrm>
              <a:off x="3577335" y="1053147"/>
              <a:ext cx="319137" cy="319137"/>
            </a:xfrm>
            <a:prstGeom prst="donut">
              <a:avLst>
                <a:gd name="adj" fmla="val 19304"/>
              </a:avLst>
            </a:prstGeom>
            <a:solidFill>
              <a:srgbClr val="F779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p:txBody>
        </p:sp>
      </p:grpSp>
      <p:pic>
        <p:nvPicPr>
          <p:cNvPr id="1761" name="Graphic 1760" descr="Classroom with solid fill">
            <a:extLst>
              <a:ext uri="{FF2B5EF4-FFF2-40B4-BE49-F238E27FC236}">
                <a16:creationId xmlns:a16="http://schemas.microsoft.com/office/drawing/2014/main" id="{85B0645A-44CB-2069-8071-61CA09448B7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7482" y="2609048"/>
            <a:ext cx="665849" cy="665849"/>
          </a:xfrm>
          <a:prstGeom prst="rect">
            <a:avLst/>
          </a:prstGeom>
        </p:spPr>
      </p:pic>
      <mc:AlternateContent xmlns:mc="http://schemas.openxmlformats.org/markup-compatibility/2006" xmlns:psez="http://schemas.microsoft.com/office/powerpoint/2016/sectionzoom">
        <mc:Choice Requires="psez">
          <p:graphicFrame>
            <p:nvGraphicFramePr>
              <p:cNvPr id="15" name="Section Zoom 14">
                <a:extLst>
                  <a:ext uri="{FF2B5EF4-FFF2-40B4-BE49-F238E27FC236}">
                    <a16:creationId xmlns:a16="http://schemas.microsoft.com/office/drawing/2014/main" id="{0942FF50-2A4A-B026-CF5B-D21BB677E829}"/>
                  </a:ext>
                </a:extLst>
              </p:cNvPr>
              <p:cNvGraphicFramePr>
                <a:graphicFrameLocks noChangeAspect="1"/>
              </p:cNvGraphicFramePr>
              <p:nvPr>
                <p:extLst>
                  <p:ext uri="{D42A27DB-BD31-4B8C-83A1-F6EECF244321}">
                    <p14:modId xmlns:p14="http://schemas.microsoft.com/office/powerpoint/2010/main" val="3750709489"/>
                  </p:ext>
                </p:extLst>
              </p:nvPr>
            </p:nvGraphicFramePr>
            <p:xfrm>
              <a:off x="4866300" y="2103967"/>
              <a:ext cx="1708134" cy="1708134"/>
            </p:xfrm>
            <a:graphic>
              <a:graphicData uri="http://schemas.microsoft.com/office/powerpoint/2016/sectionzoom">
                <psez:sectionZm>
                  <psez:sectionZmObj sectionId="{6D6CBBA9-5BBC-42C2-9FC1-097FE4E05730}">
                    <psez:zmPr id="{D15C3DDB-575D-4B1E-A631-7FC4C36E9DA4}" imageType="cover" transitionDur="1000">
                      <p166:blipFill xmlns:p166="http://schemas.microsoft.com/office/powerpoint/2016/6/main">
                        <a:blip r:embed="rId8" cstate="print">
                          <a:extLst>
                            <a:ext uri="{28A0092B-C50C-407E-A947-70E740481C1C}">
                              <a14:useLocalDpi xmlns:a14="http://schemas.microsoft.com/office/drawing/2010/main" val="0"/>
                            </a:ext>
                          </a:extLst>
                        </a:blip>
                        <a:stretch>
                          <a:fillRect/>
                        </a:stretch>
                      </p166:blipFill>
                      <p166:spPr xmlns:p166="http://schemas.microsoft.com/office/powerpoint/2016/6/main">
                        <a:xfrm>
                          <a:off x="0" y="0"/>
                          <a:ext cx="1708134" cy="1708134"/>
                        </a:xfrm>
                        <a:prstGeom prst="rect">
                          <a:avLst/>
                        </a:prstGeom>
                        <a:ln w="3175">
                          <a:solidFill>
                            <a:prstClr val="ltGray"/>
                          </a:solidFill>
                        </a:ln>
                      </p166:spPr>
                    </psez:zmPr>
                  </psez:sectionZmObj>
                </psez:sectionZm>
              </a:graphicData>
            </a:graphic>
          </p:graphicFrame>
        </mc:Choice>
        <mc:Fallback xmlns="">
          <p:pic>
            <p:nvPicPr>
              <p:cNvPr id="15" name="Section Zoom 14">
                <a:hlinkClick r:id="rId9" action="ppaction://hlinksldjump"/>
                <a:extLst>
                  <a:ext uri="{FF2B5EF4-FFF2-40B4-BE49-F238E27FC236}">
                    <a16:creationId xmlns:a16="http://schemas.microsoft.com/office/drawing/2014/main" id="{0942FF50-2A4A-B026-CF5B-D21BB677E829}"/>
                  </a:ext>
                </a:extLst>
              </p:cNvPr>
              <p:cNvPicPr>
                <a:picLocks noGrp="1" noRot="1" noChangeAspect="1" noMove="1" noResize="1" noEditPoints="1" noAdjustHandles="1" noChangeArrowheads="1" noChangeShapeType="1"/>
              </p:cNvPicPr>
              <p:nvPr/>
            </p:nvPicPr>
            <p:blipFill>
              <a:blip r:embed="rId10" cstate="print">
                <a:extLst>
                  <a:ext uri="{28A0092B-C50C-407E-A947-70E740481C1C}">
                    <a14:useLocalDpi xmlns:a14="http://schemas.microsoft.com/office/drawing/2010/main" val="0"/>
                  </a:ext>
                </a:extLst>
              </a:blip>
              <a:stretch>
                <a:fillRect/>
              </a:stretch>
            </p:blipFill>
            <p:spPr>
              <a:xfrm>
                <a:off x="4866300" y="2103967"/>
                <a:ext cx="1708134" cy="1708134"/>
              </a:xfrm>
              <a:prstGeom prst="rect">
                <a:avLst/>
              </a:prstGeom>
              <a:ln w="3175">
                <a:solidFill>
                  <a:prstClr val="ltGray"/>
                </a:solidFill>
              </a:ln>
            </p:spPr>
          </p:pic>
        </mc:Fallback>
      </mc:AlternateContent>
      <mc:AlternateContent xmlns:mc="http://schemas.openxmlformats.org/markup-compatibility/2006" xmlns:psez="http://schemas.microsoft.com/office/powerpoint/2016/sectionzoom">
        <mc:Choice Requires="psez">
          <p:graphicFrame>
            <p:nvGraphicFramePr>
              <p:cNvPr id="17" name="Section Zoom 16">
                <a:extLst>
                  <a:ext uri="{FF2B5EF4-FFF2-40B4-BE49-F238E27FC236}">
                    <a16:creationId xmlns:a16="http://schemas.microsoft.com/office/drawing/2014/main" id="{0F940068-7CED-5447-CA4D-F3E88E698D8C}"/>
                  </a:ext>
                </a:extLst>
              </p:cNvPr>
              <p:cNvGraphicFramePr>
                <a:graphicFrameLocks noChangeAspect="1"/>
              </p:cNvGraphicFramePr>
              <p:nvPr>
                <p:extLst>
                  <p:ext uri="{D42A27DB-BD31-4B8C-83A1-F6EECF244321}">
                    <p14:modId xmlns:p14="http://schemas.microsoft.com/office/powerpoint/2010/main" val="2157661384"/>
                  </p:ext>
                </p:extLst>
              </p:nvPr>
            </p:nvGraphicFramePr>
            <p:xfrm>
              <a:off x="4904615" y="3998076"/>
              <a:ext cx="1603178" cy="1600294"/>
            </p:xfrm>
            <a:graphic>
              <a:graphicData uri="http://schemas.microsoft.com/office/powerpoint/2016/sectionzoom">
                <psez:sectionZm>
                  <psez:sectionZmObj sectionId="{02D0EE30-2252-4041-9013-50E814E5B1B6}">
                    <psez:zmPr id="{C0C9A956-0582-4904-93BB-E0C95C8DC5DA}" imageType="cover" transitionDur="1000">
                      <p166:blipFill xmlns:p166="http://schemas.microsoft.com/office/powerpoint/2016/6/main">
                        <a:blip r:embed="rId11" cstate="print">
                          <a:extLst>
                            <a:ext uri="{28A0092B-C50C-407E-A947-70E740481C1C}">
                              <a14:useLocalDpi xmlns:a14="http://schemas.microsoft.com/office/drawing/2010/main" val="0"/>
                            </a:ext>
                          </a:extLst>
                        </a:blip>
                        <a:stretch>
                          <a:fillRect/>
                        </a:stretch>
                      </p166:blipFill>
                      <p166:spPr xmlns:p166="http://schemas.microsoft.com/office/powerpoint/2016/6/main">
                        <a:xfrm>
                          <a:off x="0" y="0"/>
                          <a:ext cx="1603178" cy="1600294"/>
                        </a:xfrm>
                        <a:prstGeom prst="rect">
                          <a:avLst/>
                        </a:prstGeom>
                        <a:ln w="3175">
                          <a:solidFill>
                            <a:prstClr val="ltGray"/>
                          </a:solidFill>
                        </a:ln>
                      </p166:spPr>
                    </psez:zmPr>
                  </psez:sectionZmObj>
                </psez:sectionZm>
              </a:graphicData>
            </a:graphic>
          </p:graphicFrame>
        </mc:Choice>
        <mc:Fallback xmlns="">
          <p:pic>
            <p:nvPicPr>
              <p:cNvPr id="17" name="Section Zoom 16">
                <a:hlinkClick r:id="rId12" action="ppaction://hlinksldjump"/>
                <a:extLst>
                  <a:ext uri="{FF2B5EF4-FFF2-40B4-BE49-F238E27FC236}">
                    <a16:creationId xmlns:a16="http://schemas.microsoft.com/office/drawing/2014/main" id="{0F940068-7CED-5447-CA4D-F3E88E698D8C}"/>
                  </a:ext>
                </a:extLst>
              </p:cNvPr>
              <p:cNvPicPr>
                <a:picLocks noGrp="1" noRot="1" noChangeAspect="1" noMove="1" noResize="1" noEditPoints="1" noAdjustHandles="1" noChangeArrowheads="1" noChangeShapeType="1"/>
              </p:cNvPicPr>
              <p:nvPr/>
            </p:nvPicPr>
            <p:blipFill>
              <a:blip r:embed="rId13" cstate="print">
                <a:extLst>
                  <a:ext uri="{28A0092B-C50C-407E-A947-70E740481C1C}">
                    <a14:useLocalDpi xmlns:a14="http://schemas.microsoft.com/office/drawing/2010/main" val="0"/>
                  </a:ext>
                </a:extLst>
              </a:blip>
              <a:stretch>
                <a:fillRect/>
              </a:stretch>
            </p:blipFill>
            <p:spPr>
              <a:xfrm>
                <a:off x="4904615" y="3998076"/>
                <a:ext cx="1603178" cy="1600294"/>
              </a:xfrm>
              <a:prstGeom prst="rect">
                <a:avLst/>
              </a:prstGeom>
              <a:ln w="3175">
                <a:solidFill>
                  <a:prstClr val="ltGray"/>
                </a:solidFill>
              </a:ln>
            </p:spPr>
          </p:pic>
        </mc:Fallback>
      </mc:AlternateContent>
      <mc:AlternateContent xmlns:mc="http://schemas.openxmlformats.org/markup-compatibility/2006" xmlns:psez="http://schemas.microsoft.com/office/powerpoint/2016/sectionzoom">
        <mc:Choice Requires="psez">
          <p:graphicFrame>
            <p:nvGraphicFramePr>
              <p:cNvPr id="42" name="Section Zoom 41">
                <a:extLst>
                  <a:ext uri="{FF2B5EF4-FFF2-40B4-BE49-F238E27FC236}">
                    <a16:creationId xmlns:a16="http://schemas.microsoft.com/office/drawing/2014/main" id="{60EF1D16-092B-DAE4-17DA-C50E3E5757A3}"/>
                  </a:ext>
                </a:extLst>
              </p:cNvPr>
              <p:cNvGraphicFramePr>
                <a:graphicFrameLocks noChangeAspect="1"/>
              </p:cNvGraphicFramePr>
              <p:nvPr>
                <p:extLst>
                  <p:ext uri="{D42A27DB-BD31-4B8C-83A1-F6EECF244321}">
                    <p14:modId xmlns:p14="http://schemas.microsoft.com/office/powerpoint/2010/main" val="828040371"/>
                  </p:ext>
                </p:extLst>
              </p:nvPr>
            </p:nvGraphicFramePr>
            <p:xfrm>
              <a:off x="8330384" y="6855464"/>
              <a:ext cx="1617708" cy="1617708"/>
            </p:xfrm>
            <a:graphic>
              <a:graphicData uri="http://schemas.microsoft.com/office/powerpoint/2016/sectionzoom">
                <psez:sectionZm>
                  <psez:sectionZmObj sectionId="{28FDC9B2-3BB0-4A0A-AB3F-D9B1371609B1}">
                    <psez:zmPr id="{4A96639E-9156-4109-A868-03DDD501A36B}" imageType="cover" transitionDur="1000">
                      <p166:blipFill xmlns:p166="http://schemas.microsoft.com/office/powerpoint/2016/6/main">
                        <a:blip r:embed="rId14" cstate="print">
                          <a:extLst>
                            <a:ext uri="{28A0092B-C50C-407E-A947-70E740481C1C}">
                              <a14:useLocalDpi xmlns:a14="http://schemas.microsoft.com/office/drawing/2010/main" val="0"/>
                            </a:ext>
                          </a:extLst>
                        </a:blip>
                        <a:stretch>
                          <a:fillRect/>
                        </a:stretch>
                      </p166:blipFill>
                      <p166:spPr xmlns:p166="http://schemas.microsoft.com/office/powerpoint/2016/6/main">
                        <a:xfrm>
                          <a:off x="0" y="0"/>
                          <a:ext cx="1617708" cy="1617708"/>
                        </a:xfrm>
                        <a:prstGeom prst="rect">
                          <a:avLst/>
                        </a:prstGeom>
                        <a:ln w="3175">
                          <a:solidFill>
                            <a:prstClr val="ltGray"/>
                          </a:solidFill>
                        </a:ln>
                      </p166:spPr>
                    </psez:zmPr>
                  </psez:sectionZmObj>
                </psez:sectionZm>
              </a:graphicData>
            </a:graphic>
          </p:graphicFrame>
        </mc:Choice>
        <mc:Fallback xmlns="">
          <p:pic>
            <p:nvPicPr>
              <p:cNvPr id="42" name="Section Zoom 41">
                <a:hlinkClick r:id="rId15" action="ppaction://hlinksldjump"/>
                <a:extLst>
                  <a:ext uri="{FF2B5EF4-FFF2-40B4-BE49-F238E27FC236}">
                    <a16:creationId xmlns:a16="http://schemas.microsoft.com/office/drawing/2014/main" id="{60EF1D16-092B-DAE4-17DA-C50E3E5757A3}"/>
                  </a:ext>
                </a:extLst>
              </p:cNvPr>
              <p:cNvPicPr>
                <a:picLocks noGrp="1" noRot="1" noChangeAspect="1" noMove="1" noResize="1" noEditPoints="1" noAdjustHandles="1" noChangeArrowheads="1" noChangeShapeType="1"/>
              </p:cNvPicPr>
              <p:nvPr/>
            </p:nvPicPr>
            <p:blipFill>
              <a:blip r:embed="rId16" cstate="print">
                <a:extLst>
                  <a:ext uri="{28A0092B-C50C-407E-A947-70E740481C1C}">
                    <a14:useLocalDpi xmlns:a14="http://schemas.microsoft.com/office/drawing/2010/main" val="0"/>
                  </a:ext>
                </a:extLst>
              </a:blip>
              <a:stretch>
                <a:fillRect/>
              </a:stretch>
            </p:blipFill>
            <p:spPr>
              <a:xfrm>
                <a:off x="8330384" y="6855464"/>
                <a:ext cx="1617708" cy="1617708"/>
              </a:xfrm>
              <a:prstGeom prst="rect">
                <a:avLst/>
              </a:prstGeom>
              <a:ln w="3175">
                <a:solidFill>
                  <a:prstClr val="ltGray"/>
                </a:solidFill>
              </a:ln>
            </p:spPr>
          </p:pic>
        </mc:Fallback>
      </mc:AlternateContent>
      <p:pic>
        <p:nvPicPr>
          <p:cNvPr id="56" name="Picture 55">
            <a:extLst>
              <a:ext uri="{FF2B5EF4-FFF2-40B4-BE49-F238E27FC236}">
                <a16:creationId xmlns:a16="http://schemas.microsoft.com/office/drawing/2014/main" id="{6EC31983-B43B-9DE5-4AD0-4A61ABE9BA45}"/>
              </a:ext>
            </a:extLst>
          </p:cNvPr>
          <p:cNvPicPr>
            <a:picLocks noChangeAspect="1"/>
          </p:cNvPicPr>
          <p:nvPr/>
        </p:nvPicPr>
        <p:blipFill>
          <a:blip r:embed="rId17" cstate="print">
            <a:extLst>
              <a:ext uri="{28A0092B-C50C-407E-A947-70E740481C1C}">
                <a14:useLocalDpi xmlns:a14="http://schemas.microsoft.com/office/drawing/2010/main" val="0"/>
              </a:ext>
            </a:extLst>
          </a:blip>
          <a:srcRect/>
          <a:stretch/>
        </p:blipFill>
        <p:spPr>
          <a:xfrm>
            <a:off x="1360459" y="1504865"/>
            <a:ext cx="1553526" cy="734389"/>
          </a:xfrm>
          <a:prstGeom prst="rect">
            <a:avLst/>
          </a:prstGeom>
        </p:spPr>
      </p:pic>
      <mc:AlternateContent xmlns:mc="http://schemas.openxmlformats.org/markup-compatibility/2006" xmlns:psez="http://schemas.microsoft.com/office/powerpoint/2016/sectionzoom">
        <mc:Choice Requires="psez">
          <p:graphicFrame>
            <p:nvGraphicFramePr>
              <p:cNvPr id="58" name="Section Zoom 57">
                <a:extLst>
                  <a:ext uri="{FF2B5EF4-FFF2-40B4-BE49-F238E27FC236}">
                    <a16:creationId xmlns:a16="http://schemas.microsoft.com/office/drawing/2014/main" id="{28B3AD39-26C9-C70C-376A-91AAF6346878}"/>
                  </a:ext>
                </a:extLst>
              </p:cNvPr>
              <p:cNvGraphicFramePr>
                <a:graphicFrameLocks noChangeAspect="1"/>
              </p:cNvGraphicFramePr>
              <p:nvPr>
                <p:extLst>
                  <p:ext uri="{D42A27DB-BD31-4B8C-83A1-F6EECF244321}">
                    <p14:modId xmlns:p14="http://schemas.microsoft.com/office/powerpoint/2010/main" val="2814969686"/>
                  </p:ext>
                </p:extLst>
              </p:nvPr>
            </p:nvGraphicFramePr>
            <p:xfrm>
              <a:off x="5593083" y="5928860"/>
              <a:ext cx="1706245" cy="1703406"/>
            </p:xfrm>
            <a:graphic>
              <a:graphicData uri="http://schemas.microsoft.com/office/powerpoint/2016/sectionzoom">
                <psez:sectionZm>
                  <psez:sectionZmObj sectionId="{EFE48C50-D64E-42D7-819C-AD88CBF8D381}">
                    <psez:zmPr id="{AF28424F-D386-4C21-8227-D4D9DB92066B}" imageType="cover" transitionDur="1000">
                      <p166:blipFill xmlns:p166="http://schemas.microsoft.com/office/powerpoint/2016/6/main">
                        <a:blip r:embed="rId18" cstate="print">
                          <a:extLst>
                            <a:ext uri="{28A0092B-C50C-407E-A947-70E740481C1C}">
                              <a14:useLocalDpi xmlns:a14="http://schemas.microsoft.com/office/drawing/2010/main" val="0"/>
                            </a:ext>
                          </a:extLst>
                        </a:blip>
                        <a:stretch>
                          <a:fillRect/>
                        </a:stretch>
                      </p166:blipFill>
                      <p166:spPr xmlns:p166="http://schemas.microsoft.com/office/powerpoint/2016/6/main">
                        <a:xfrm>
                          <a:off x="0" y="0"/>
                          <a:ext cx="1706245" cy="1703406"/>
                        </a:xfrm>
                        <a:prstGeom prst="rect">
                          <a:avLst/>
                        </a:prstGeom>
                        <a:ln w="3175">
                          <a:solidFill>
                            <a:prstClr val="ltGray"/>
                          </a:solidFill>
                        </a:ln>
                      </p166:spPr>
                    </psez:zmPr>
                  </psez:sectionZmObj>
                </psez:sectionZm>
              </a:graphicData>
            </a:graphic>
          </p:graphicFrame>
        </mc:Choice>
        <mc:Fallback xmlns="">
          <p:pic>
            <p:nvPicPr>
              <p:cNvPr id="58" name="Section Zoom 57">
                <a:hlinkClick r:id="rId19" action="ppaction://hlinksldjump"/>
                <a:extLst>
                  <a:ext uri="{FF2B5EF4-FFF2-40B4-BE49-F238E27FC236}">
                    <a16:creationId xmlns:a16="http://schemas.microsoft.com/office/drawing/2014/main" id="{28B3AD39-26C9-C70C-376A-91AAF6346878}"/>
                  </a:ext>
                </a:extLst>
              </p:cNvPr>
              <p:cNvPicPr>
                <a:picLocks noGrp="1" noRot="1" noChangeAspect="1" noMove="1" noResize="1" noEditPoints="1" noAdjustHandles="1" noChangeArrowheads="1" noChangeShapeType="1"/>
              </p:cNvPicPr>
              <p:nvPr/>
            </p:nvPicPr>
            <p:blipFill>
              <a:blip r:embed="rId20" cstate="print">
                <a:extLst>
                  <a:ext uri="{28A0092B-C50C-407E-A947-70E740481C1C}">
                    <a14:useLocalDpi xmlns:a14="http://schemas.microsoft.com/office/drawing/2010/main" val="0"/>
                  </a:ext>
                </a:extLst>
              </a:blip>
              <a:stretch>
                <a:fillRect/>
              </a:stretch>
            </p:blipFill>
            <p:spPr>
              <a:xfrm>
                <a:off x="5593083" y="5928860"/>
                <a:ext cx="1706245" cy="1703406"/>
              </a:xfrm>
              <a:prstGeom prst="rect">
                <a:avLst/>
              </a:prstGeom>
              <a:ln w="3175">
                <a:solidFill>
                  <a:prstClr val="ltGray"/>
                </a:solidFill>
              </a:ln>
            </p:spPr>
          </p:pic>
        </mc:Fallback>
      </mc:AlternateContent>
      <p:pic>
        <p:nvPicPr>
          <p:cNvPr id="3" name="Picture 2">
            <a:extLst>
              <a:ext uri="{FF2B5EF4-FFF2-40B4-BE49-F238E27FC236}">
                <a16:creationId xmlns:a16="http://schemas.microsoft.com/office/drawing/2014/main" id="{546D83F2-93E6-A239-B0E8-DA309F28B665}"/>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0898455" y="5726828"/>
            <a:ext cx="1841152" cy="1841152"/>
          </a:xfrm>
          <a:prstGeom prst="rect">
            <a:avLst/>
          </a:prstGeom>
        </p:spPr>
      </p:pic>
      <p:pic>
        <p:nvPicPr>
          <p:cNvPr id="8" name="Picture 7">
            <a:hlinkClick r:id="rId22" action="ppaction://hlinksldjump"/>
            <a:extLst>
              <a:ext uri="{FF2B5EF4-FFF2-40B4-BE49-F238E27FC236}">
                <a16:creationId xmlns:a16="http://schemas.microsoft.com/office/drawing/2014/main" id="{FB491ABB-4AA8-09D9-5669-65F5B31B182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1595696" y="3866971"/>
            <a:ext cx="1694835" cy="1694835"/>
          </a:xfrm>
          <a:prstGeom prst="rect">
            <a:avLst/>
          </a:prstGeom>
        </p:spPr>
      </p:pic>
      <p:pic>
        <p:nvPicPr>
          <p:cNvPr id="10" name="Picture 9">
            <a:hlinkClick r:id="rId24" action="ppaction://hlinksldjump"/>
            <a:extLst>
              <a:ext uri="{FF2B5EF4-FFF2-40B4-BE49-F238E27FC236}">
                <a16:creationId xmlns:a16="http://schemas.microsoft.com/office/drawing/2014/main" id="{8933C032-A5CC-EA37-673E-A8EB883E567D}"/>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11345927" y="1943884"/>
            <a:ext cx="1774090" cy="1780186"/>
          </a:xfrm>
          <a:prstGeom prst="rect">
            <a:avLst/>
          </a:prstGeom>
        </p:spPr>
      </p:pic>
    </p:spTree>
    <p:extLst>
      <p:ext uri="{BB962C8B-B14F-4D97-AF65-F5344CB8AC3E}">
        <p14:creationId xmlns:p14="http://schemas.microsoft.com/office/powerpoint/2010/main" val="13827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p:cNvGrpSpPr/>
        <p:nvPr/>
      </p:nvGrpSpPr>
      <p:grpSpPr>
        <a:xfrm>
          <a:off x="0" y="0"/>
          <a:ext cx="0" cy="0"/>
          <a:chOff x="0" y="0"/>
          <a:chExt cx="0" cy="0"/>
        </a:xfrm>
      </p:grpSpPr>
      <p:sp>
        <p:nvSpPr>
          <p:cNvPr id="1766" name="Freeform 4">
            <a:extLst>
              <a:ext uri="{FF2B5EF4-FFF2-40B4-BE49-F238E27FC236}">
                <a16:creationId xmlns:a16="http://schemas.microsoft.com/office/drawing/2014/main" id="{F416B960-4326-8BF0-7B87-9943892F934B}"/>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BC165231-76A4-45CA-F3E9-60EB80DBD535}"/>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2B7E6466-C459-571C-E9AC-94A00209EF08}"/>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grpSp>
        <p:nvGrpSpPr>
          <p:cNvPr id="5" name="Group 5"/>
          <p:cNvGrpSpPr/>
          <p:nvPr/>
        </p:nvGrpSpPr>
        <p:grpSpPr>
          <a:xfrm>
            <a:off x="1160017" y="955302"/>
            <a:ext cx="16284006" cy="8376138"/>
            <a:chOff x="0" y="-47625"/>
            <a:chExt cx="5292307" cy="2722247"/>
          </a:xfrm>
        </p:grpSpPr>
        <p:sp>
          <p:nvSpPr>
            <p:cNvPr id="6" name="Freeform 6"/>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3" name="TextBox 10">
            <a:extLst>
              <a:ext uri="{FF2B5EF4-FFF2-40B4-BE49-F238E27FC236}">
                <a16:creationId xmlns:a16="http://schemas.microsoft.com/office/drawing/2014/main" id="{E6E64905-95E9-7AF4-5FAD-0568273B5B9C}"/>
              </a:ext>
            </a:extLst>
          </p:cNvPr>
          <p:cNvSpPr txBox="1"/>
          <p:nvPr/>
        </p:nvSpPr>
        <p:spPr>
          <a:xfrm>
            <a:off x="3900481" y="660374"/>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INTRODUCTION</a:t>
            </a:r>
          </a:p>
        </p:txBody>
      </p:sp>
      <p:sp>
        <p:nvSpPr>
          <p:cNvPr id="8" name="TextBox 7">
            <a:extLst>
              <a:ext uri="{FF2B5EF4-FFF2-40B4-BE49-F238E27FC236}">
                <a16:creationId xmlns:a16="http://schemas.microsoft.com/office/drawing/2014/main" id="{13374A50-493A-DFC3-4DC1-8E303B8E2577}"/>
              </a:ext>
            </a:extLst>
          </p:cNvPr>
          <p:cNvSpPr txBox="1"/>
          <p:nvPr/>
        </p:nvSpPr>
        <p:spPr>
          <a:xfrm>
            <a:off x="4238453" y="1608374"/>
            <a:ext cx="9769142" cy="6413872"/>
          </a:xfrm>
          <a:prstGeom prst="rect">
            <a:avLst/>
          </a:prstGeom>
          <a:noFill/>
        </p:spPr>
        <p:txBody>
          <a:bodyPr wrap="square">
            <a:spAutoFit/>
          </a:bodyPr>
          <a:lstStyle/>
          <a:p>
            <a:pPr algn="just">
              <a:lnSpc>
                <a:spcPct val="150000"/>
              </a:lnSpc>
            </a:pPr>
            <a:endParaRPr lang="en-IN" sz="2000" dirty="0">
              <a:latin typeface="Consolas" panose="020B0609020204030204" pitchFamily="49" charset="0"/>
            </a:endParaRPr>
          </a:p>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Consolas" panose="020B0609020204030204" pitchFamily="49" charset="0"/>
              </a:rPr>
              <a:t>130,000+ adverse drug events annually in the US </a:t>
            </a:r>
          </a:p>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Consolas" panose="020B0609020204030204" pitchFamily="49" charset="0"/>
              </a:rPr>
              <a:t>DDI-related hospitalizations cost $3.5B/year </a:t>
            </a:r>
          </a:p>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Consolas" panose="020B0609020204030204" pitchFamily="49" charset="0"/>
              </a:rPr>
              <a:t>2.5M biomedical papers published yearly on PubMed </a:t>
            </a:r>
          </a:p>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Consolas" panose="020B0609020204030204" pitchFamily="49" charset="0"/>
              </a:rPr>
              <a:t>Existing databases (</a:t>
            </a:r>
            <a:r>
              <a:rPr lang="en-US" altLang="en-US" sz="2000" dirty="0" err="1">
                <a:latin typeface="Consolas" panose="020B0609020204030204" pitchFamily="49" charset="0"/>
              </a:rPr>
              <a:t>ChEMBL</a:t>
            </a:r>
            <a:r>
              <a:rPr lang="en-US" altLang="en-US" sz="2000" dirty="0">
                <a:latin typeface="Consolas" panose="020B0609020204030204" pitchFamily="49" charset="0"/>
              </a:rPr>
              <a:t>, </a:t>
            </a:r>
            <a:r>
              <a:rPr lang="en-US" altLang="en-US" sz="2000" dirty="0" err="1">
                <a:latin typeface="Consolas" panose="020B0609020204030204" pitchFamily="49" charset="0"/>
              </a:rPr>
              <a:t>DrugBank</a:t>
            </a:r>
            <a:r>
              <a:rPr lang="en-US" altLang="en-US" sz="2000" dirty="0">
                <a:latin typeface="Consolas" panose="020B0609020204030204" pitchFamily="49" charset="0"/>
              </a:rPr>
              <a:t>) lag behind research by months/years </a:t>
            </a:r>
          </a:p>
          <a:p>
            <a:pPr marL="285750" lvl="0" indent="-285750" algn="just"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Consolas" panose="020B0609020204030204" pitchFamily="49" charset="0"/>
              </a:rPr>
              <a:t>Manual extraction is slow, error-prone, and doesn't scale </a:t>
            </a:r>
          </a:p>
          <a:p>
            <a:pPr marL="285750" lvl="0" indent="-285750" algn="just" eaLnBrk="0" fontAlgn="base" hangingPunct="0">
              <a:lnSpc>
                <a:spcPct val="150000"/>
              </a:lnSpc>
              <a:spcBef>
                <a:spcPct val="0"/>
              </a:spcBef>
              <a:spcAft>
                <a:spcPct val="0"/>
              </a:spcAft>
              <a:buFont typeface="Wingdings" panose="05000000000000000000" pitchFamily="2" charset="2"/>
              <a:buChar char="Ø"/>
            </a:pPr>
            <a:endParaRPr lang="en-US" altLang="en-US" sz="2000" dirty="0">
              <a:latin typeface="Consolas" panose="020B0609020204030204" pitchFamily="49" charset="0"/>
            </a:endParaRPr>
          </a:p>
          <a:p>
            <a:pPr lvl="0" algn="just" eaLnBrk="0" fontAlgn="base" hangingPunct="0">
              <a:lnSpc>
                <a:spcPct val="150000"/>
              </a:lnSpc>
              <a:spcBef>
                <a:spcPct val="0"/>
              </a:spcBef>
              <a:spcAft>
                <a:spcPct val="0"/>
              </a:spcAft>
            </a:pPr>
            <a:r>
              <a:rPr lang="en-US" altLang="en-US" sz="2400" b="1" dirty="0">
                <a:latin typeface="Consolas" panose="020B0609020204030204" pitchFamily="49" charset="0"/>
              </a:rPr>
              <a:t>Our Question/Problem Statement:</a:t>
            </a:r>
          </a:p>
          <a:p>
            <a:pPr lvl="0" algn="just" eaLnBrk="0" fontAlgn="base" hangingPunct="0">
              <a:lnSpc>
                <a:spcPct val="150000"/>
              </a:lnSpc>
              <a:spcBef>
                <a:spcPct val="0"/>
              </a:spcBef>
              <a:spcAft>
                <a:spcPct val="0"/>
              </a:spcAft>
            </a:pPr>
            <a:r>
              <a:rPr lang="en-US" altLang="en-US" sz="2000" dirty="0">
                <a:latin typeface="Consolas" panose="020B0609020204030204" pitchFamily="49" charset="0"/>
              </a:rPr>
              <a:t>Can an AI agent read the medical literature, validate what it finds, and discover dangerous drug interactions — faster and more accurately than a human expert?</a:t>
            </a:r>
          </a:p>
          <a:p>
            <a:pPr algn="just"/>
            <a:endParaRPr lang="en-GB" dirty="0">
              <a:latin typeface="Consolas" panose="020B0609020204030204" pitchFamily="49" charset="0"/>
            </a:endParaRPr>
          </a:p>
          <a:p>
            <a:pPr algn="just">
              <a:lnSpc>
                <a:spcPct val="150000"/>
              </a:lnSpc>
            </a:pPr>
            <a:endParaRPr lang="en-IN" sz="2000" dirty="0">
              <a:latin typeface="Consolas" panose="020B0609020204030204" pitchFamily="49" charset="0"/>
            </a:endParaRPr>
          </a:p>
        </p:txBody>
      </p:sp>
      <p:pic>
        <p:nvPicPr>
          <p:cNvPr id="9" name="Picture 8">
            <a:extLst>
              <a:ext uri="{FF2B5EF4-FFF2-40B4-BE49-F238E27FC236}">
                <a16:creationId xmlns:a16="http://schemas.microsoft.com/office/drawing/2014/main" id="{97D325B7-958E-99FD-2EDF-BB6B0083C2B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371600" y="1504865"/>
            <a:ext cx="1553526" cy="734389"/>
          </a:xfrm>
          <a:prstGeom prst="rect">
            <a:avLst/>
          </a:prstGeom>
        </p:spPr>
      </p:pic>
      <p:sp>
        <p:nvSpPr>
          <p:cNvPr id="4" name="Rectangle 2">
            <a:extLst>
              <a:ext uri="{FF2B5EF4-FFF2-40B4-BE49-F238E27FC236}">
                <a16:creationId xmlns:a16="http://schemas.microsoft.com/office/drawing/2014/main" id="{70481BE0-F632-5695-A03C-AC553BC59632}"/>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4290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9C05FE18-8402-BD85-789C-AD3A2BB69497}"/>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D9DEC4DF-42EC-5D76-CC8E-871780202137}"/>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18532DFB-AA6B-3B20-5E4D-075DFF275E5B}"/>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51375957-B650-D67B-9E61-92DC4DD07208}"/>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CB7BD4BA-7980-92A0-9AEE-271AE239FE36}"/>
              </a:ext>
            </a:extLst>
          </p:cNvPr>
          <p:cNvGrpSpPr/>
          <p:nvPr/>
        </p:nvGrpSpPr>
        <p:grpSpPr>
          <a:xfrm>
            <a:off x="1160017" y="955302"/>
            <a:ext cx="16284006" cy="8376138"/>
            <a:chOff x="0" y="-47625"/>
            <a:chExt cx="5292307" cy="2722247"/>
          </a:xfrm>
        </p:grpSpPr>
        <p:sp>
          <p:nvSpPr>
            <p:cNvPr id="6" name="Freeform 6">
              <a:extLst>
                <a:ext uri="{FF2B5EF4-FFF2-40B4-BE49-F238E27FC236}">
                  <a16:creationId xmlns:a16="http://schemas.microsoft.com/office/drawing/2014/main" id="{DF8B6FC8-3317-25D6-FA0C-2DA80673AF14}"/>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02232A97-0056-3579-D8D9-1510258B1EBE}"/>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3" name="TextBox 10">
            <a:extLst>
              <a:ext uri="{FF2B5EF4-FFF2-40B4-BE49-F238E27FC236}">
                <a16:creationId xmlns:a16="http://schemas.microsoft.com/office/drawing/2014/main" id="{A0FB7374-BBBF-8A88-E83A-ECEB9B43F477}"/>
              </a:ext>
            </a:extLst>
          </p:cNvPr>
          <p:cNvSpPr txBox="1"/>
          <p:nvPr/>
        </p:nvSpPr>
        <p:spPr>
          <a:xfrm>
            <a:off x="3900481" y="660374"/>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INTRODUCTION</a:t>
            </a:r>
          </a:p>
        </p:txBody>
      </p:sp>
      <p:sp>
        <p:nvSpPr>
          <p:cNvPr id="8" name="TextBox 7">
            <a:extLst>
              <a:ext uri="{FF2B5EF4-FFF2-40B4-BE49-F238E27FC236}">
                <a16:creationId xmlns:a16="http://schemas.microsoft.com/office/drawing/2014/main" id="{00349F26-5BB7-8C58-672C-3860A5D939DD}"/>
              </a:ext>
            </a:extLst>
          </p:cNvPr>
          <p:cNvSpPr txBox="1"/>
          <p:nvPr/>
        </p:nvSpPr>
        <p:spPr>
          <a:xfrm>
            <a:off x="4143831" y="3191914"/>
            <a:ext cx="9769142" cy="4936544"/>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IN" sz="2000" dirty="0">
                <a:latin typeface="Consolas" panose="020B0609020204030204" pitchFamily="49" charset="0"/>
              </a:rPr>
              <a:t>End Users: Pharmacologists, clinical researchers, healthcare AI systems, pharma companies </a:t>
            </a:r>
          </a:p>
          <a:p>
            <a:pPr marL="342900" indent="-342900" algn="just">
              <a:lnSpc>
                <a:spcPct val="150000"/>
              </a:lnSpc>
              <a:buFont typeface="Wingdings" panose="05000000000000000000" pitchFamily="2" charset="2"/>
              <a:buChar char="Ø"/>
            </a:pPr>
            <a:r>
              <a:rPr lang="en-IN" sz="2000" dirty="0">
                <a:latin typeface="Consolas" panose="020B0609020204030204" pitchFamily="49" charset="0"/>
              </a:rPr>
              <a:t>Capabilities: Automated literature mining, real-time </a:t>
            </a:r>
            <a:r>
              <a:rPr lang="en-IN" sz="2000" dirty="0" err="1">
                <a:latin typeface="Consolas" panose="020B0609020204030204" pitchFamily="49" charset="0"/>
              </a:rPr>
              <a:t>ChEMBL</a:t>
            </a:r>
            <a:r>
              <a:rPr lang="en-IN" sz="2000" dirty="0">
                <a:latin typeface="Consolas" panose="020B0609020204030204" pitchFamily="49" charset="0"/>
              </a:rPr>
              <a:t> validation, conflict detection, novel discovery identification, knowledge graph construction, domain-specialized extraction </a:t>
            </a:r>
          </a:p>
          <a:p>
            <a:pPr marL="342900" indent="-342900" algn="just">
              <a:lnSpc>
                <a:spcPct val="150000"/>
              </a:lnSpc>
              <a:buFont typeface="Wingdings" panose="05000000000000000000" pitchFamily="2" charset="2"/>
              <a:buChar char="Ø"/>
            </a:pPr>
            <a:r>
              <a:rPr lang="en-IN" sz="2000" dirty="0">
                <a:latin typeface="Consolas" panose="020B0609020204030204" pitchFamily="49" charset="0"/>
              </a:rPr>
              <a:t>Why Agentic AI: Different tasks require different reasoning strategies + conditional routing + error recovery → solved with </a:t>
            </a:r>
            <a:r>
              <a:rPr lang="en-IN" sz="2000" dirty="0" err="1">
                <a:latin typeface="Consolas" panose="020B0609020204030204" pitchFamily="49" charset="0"/>
              </a:rPr>
              <a:t>LangGraph</a:t>
            </a:r>
            <a:r>
              <a:rPr lang="en-IN" sz="2000" dirty="0">
                <a:latin typeface="Consolas" panose="020B0609020204030204" pitchFamily="49" charset="0"/>
              </a:rPr>
              <a:t> </a:t>
            </a:r>
          </a:p>
          <a:p>
            <a:pPr algn="just">
              <a:lnSpc>
                <a:spcPct val="150000"/>
              </a:lnSpc>
            </a:pPr>
            <a:endParaRPr lang="en-IN" sz="2000" dirty="0">
              <a:latin typeface="Consolas" panose="020B0609020204030204" pitchFamily="49" charset="0"/>
            </a:endParaRPr>
          </a:p>
          <a:p>
            <a:pPr algn="just"/>
            <a:endParaRPr lang="en-GB" dirty="0">
              <a:latin typeface="Consolas" panose="020B0609020204030204" pitchFamily="49" charset="0"/>
            </a:endParaRPr>
          </a:p>
          <a:p>
            <a:pPr algn="just">
              <a:lnSpc>
                <a:spcPct val="150000"/>
              </a:lnSpc>
            </a:pPr>
            <a:endParaRPr lang="en-IN" sz="2000" dirty="0">
              <a:latin typeface="Consolas" panose="020B0609020204030204" pitchFamily="49" charset="0"/>
            </a:endParaRPr>
          </a:p>
        </p:txBody>
      </p:sp>
      <p:pic>
        <p:nvPicPr>
          <p:cNvPr id="9" name="Picture 8">
            <a:extLst>
              <a:ext uri="{FF2B5EF4-FFF2-40B4-BE49-F238E27FC236}">
                <a16:creationId xmlns:a16="http://schemas.microsoft.com/office/drawing/2014/main" id="{3ED4AEF2-B2B1-8BA2-8ACA-52F03158732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371600" y="1504865"/>
            <a:ext cx="1553526" cy="734389"/>
          </a:xfrm>
          <a:prstGeom prst="rect">
            <a:avLst/>
          </a:prstGeom>
        </p:spPr>
      </p:pic>
      <p:sp>
        <p:nvSpPr>
          <p:cNvPr id="4" name="Rectangle 2">
            <a:extLst>
              <a:ext uri="{FF2B5EF4-FFF2-40B4-BE49-F238E27FC236}">
                <a16:creationId xmlns:a16="http://schemas.microsoft.com/office/drawing/2014/main" id="{6DFD6DA5-95F4-D551-D733-F93BFE636206}"/>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D91AB8DA-34B9-A615-07D0-2A694D478B99}"/>
              </a:ext>
            </a:extLst>
          </p:cNvPr>
          <p:cNvSpPr txBox="1"/>
          <p:nvPr/>
        </p:nvSpPr>
        <p:spPr>
          <a:xfrm>
            <a:off x="3581400" y="2351953"/>
            <a:ext cx="9677400" cy="461665"/>
          </a:xfrm>
          <a:prstGeom prst="rect">
            <a:avLst/>
          </a:prstGeom>
          <a:noFill/>
        </p:spPr>
        <p:txBody>
          <a:bodyPr wrap="square" rtlCol="0">
            <a:spAutoFit/>
          </a:bodyPr>
          <a:lstStyle/>
          <a:p>
            <a:r>
              <a:rPr lang="en-US" sz="2400" b="1" dirty="0">
                <a:latin typeface="Consolas" panose="020B0609020204030204" pitchFamily="49" charset="0"/>
              </a:rPr>
              <a:t>Why This System &amp; Who Needs It?</a:t>
            </a:r>
            <a:endParaRPr lang="en-GB" sz="2400" b="1" dirty="0">
              <a:latin typeface="Consolas" panose="020B0609020204030204" pitchFamily="49" charset="0"/>
            </a:endParaRPr>
          </a:p>
        </p:txBody>
      </p:sp>
    </p:spTree>
    <p:extLst>
      <p:ext uri="{BB962C8B-B14F-4D97-AF65-F5344CB8AC3E}">
        <p14:creationId xmlns:p14="http://schemas.microsoft.com/office/powerpoint/2010/main" val="4172344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p:cNvGrpSpPr/>
        <p:nvPr/>
      </p:nvGrpSpPr>
      <p:grpSpPr>
        <a:xfrm>
          <a:off x="0" y="0"/>
          <a:ext cx="0" cy="0"/>
          <a:chOff x="0" y="0"/>
          <a:chExt cx="0" cy="0"/>
        </a:xfrm>
      </p:grpSpPr>
      <p:sp>
        <p:nvSpPr>
          <p:cNvPr id="1766" name="Freeform 4">
            <a:extLst>
              <a:ext uri="{FF2B5EF4-FFF2-40B4-BE49-F238E27FC236}">
                <a16:creationId xmlns:a16="http://schemas.microsoft.com/office/drawing/2014/main" id="{F416B960-4326-8BF0-7B87-9943892F934B}"/>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BC165231-76A4-45CA-F3E9-60EB80DBD535}"/>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2B7E6466-C459-571C-E9AC-94A00209EF08}"/>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grpSp>
        <p:nvGrpSpPr>
          <p:cNvPr id="5" name="Group 5"/>
          <p:cNvGrpSpPr/>
          <p:nvPr/>
        </p:nvGrpSpPr>
        <p:grpSpPr>
          <a:xfrm>
            <a:off x="1178509" y="955302"/>
            <a:ext cx="16284006" cy="8376138"/>
            <a:chOff x="0" y="-47625"/>
            <a:chExt cx="5292307" cy="2722247"/>
          </a:xfrm>
        </p:grpSpPr>
        <p:sp>
          <p:nvSpPr>
            <p:cNvPr id="6" name="Freeform 6"/>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D10BE36C-9A1A-8364-3631-398F3F93D8D4}"/>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BACKGROUND</a:t>
            </a:r>
          </a:p>
        </p:txBody>
      </p:sp>
      <p:sp>
        <p:nvSpPr>
          <p:cNvPr id="16" name="TextBox 15">
            <a:extLst>
              <a:ext uri="{FF2B5EF4-FFF2-40B4-BE49-F238E27FC236}">
                <a16:creationId xmlns:a16="http://schemas.microsoft.com/office/drawing/2014/main" id="{50308C92-BC1E-F730-4D8F-4E59FA2300D9}"/>
              </a:ext>
            </a:extLst>
          </p:cNvPr>
          <p:cNvSpPr txBox="1"/>
          <p:nvPr/>
        </p:nvSpPr>
        <p:spPr>
          <a:xfrm>
            <a:off x="4405612" y="2131865"/>
            <a:ext cx="9829800" cy="6044540"/>
          </a:xfrm>
          <a:prstGeom prst="rect">
            <a:avLst/>
          </a:prstGeom>
          <a:noFill/>
        </p:spPr>
        <p:txBody>
          <a:bodyPr wrap="square">
            <a:spAutoFit/>
          </a:bodyPr>
          <a:lstStyle/>
          <a:p>
            <a:r>
              <a:rPr lang="en-US" sz="2000" b="1" dirty="0">
                <a:latin typeface="Consolas" panose="020B0609020204030204" pitchFamily="49" charset="0"/>
              </a:rPr>
              <a:t>Historical Benchmark - </a:t>
            </a:r>
            <a:r>
              <a:rPr lang="en-US" sz="2000" b="1" dirty="0" err="1">
                <a:latin typeface="Consolas" panose="020B0609020204030204" pitchFamily="49" charset="0"/>
              </a:rPr>
              <a:t>DDIExtraction</a:t>
            </a:r>
            <a:r>
              <a:rPr lang="en-US" sz="2000" b="1" dirty="0">
                <a:latin typeface="Consolas" panose="020B0609020204030204" pitchFamily="49" charset="0"/>
              </a:rPr>
              <a:t> 2013</a:t>
            </a:r>
          </a:p>
          <a:p>
            <a:r>
              <a:rPr lang="en-US" sz="2000" b="1" dirty="0">
                <a:latin typeface="Consolas" panose="020B0609020204030204" pitchFamily="49" charset="0"/>
              </a:rPr>
              <a:t>What it is:</a:t>
            </a:r>
            <a:r>
              <a:rPr lang="en-US" sz="2000" dirty="0">
                <a:latin typeface="Consolas" panose="020B0609020204030204" pitchFamily="49" charset="0"/>
              </a:rPr>
              <a:t> The seminal "Shared Task" (SemEval-2013 Task 9) that defined the DDI extraction problem for a decade.</a:t>
            </a:r>
          </a:p>
          <a:p>
            <a:r>
              <a:rPr lang="en-US" sz="2000" b="1" dirty="0">
                <a:latin typeface="Consolas" panose="020B0609020204030204" pitchFamily="49" charset="0"/>
              </a:rPr>
              <a:t>The Dataset:</a:t>
            </a:r>
            <a:r>
              <a:rPr lang="en-US" sz="2000" dirty="0">
                <a:latin typeface="Consolas" panose="020B0609020204030204" pitchFamily="49" charset="0"/>
              </a:rPr>
              <a:t> 1,017 documents from </a:t>
            </a:r>
            <a:r>
              <a:rPr lang="en-US" sz="2000" dirty="0" err="1">
                <a:latin typeface="Consolas" panose="020B0609020204030204" pitchFamily="49" charset="0"/>
              </a:rPr>
              <a:t>DrugBank</a:t>
            </a:r>
            <a:r>
              <a:rPr lang="en-US" sz="2000" dirty="0">
                <a:latin typeface="Consolas" panose="020B0609020204030204" pitchFamily="49" charset="0"/>
              </a:rPr>
              <a:t> and </a:t>
            </a:r>
            <a:r>
              <a:rPr lang="en-US" sz="2000" dirty="0" err="1">
                <a:latin typeface="Consolas" panose="020B0609020204030204" pitchFamily="49" charset="0"/>
              </a:rPr>
              <a:t>MedLine</a:t>
            </a:r>
            <a:r>
              <a:rPr lang="en-US" sz="2000" dirty="0">
                <a:latin typeface="Consolas" panose="020B0609020204030204" pitchFamily="49" charset="0"/>
              </a:rPr>
              <a:t> abstracts, manually annotated for 4 types of interactions: </a:t>
            </a:r>
            <a:r>
              <a:rPr lang="en-US" sz="2000" i="1" dirty="0">
                <a:latin typeface="Consolas" panose="020B0609020204030204" pitchFamily="49" charset="0"/>
              </a:rPr>
              <a:t>Mechanism, Effect, Advice, and Interact.</a:t>
            </a:r>
            <a:endParaRPr lang="en-US" sz="2000" dirty="0">
              <a:latin typeface="Consolas" panose="020B0609020204030204" pitchFamily="49" charset="0"/>
            </a:endParaRPr>
          </a:p>
          <a:p>
            <a:r>
              <a:rPr lang="en-US" sz="2000" b="1" dirty="0">
                <a:latin typeface="Consolas" panose="020B0609020204030204" pitchFamily="49" charset="0"/>
              </a:rPr>
              <a:t>Classic Approach:</a:t>
            </a:r>
            <a:endParaRPr lang="en-US" sz="2000" dirty="0">
              <a:latin typeface="Consolas" panose="020B0609020204030204" pitchFamily="49" charset="0"/>
            </a:endParaRPr>
          </a:p>
          <a:p>
            <a:pPr lvl="1"/>
            <a:r>
              <a:rPr lang="en-US" sz="2000" b="1" dirty="0">
                <a:latin typeface="Consolas" panose="020B0609020204030204" pitchFamily="49" charset="0"/>
              </a:rPr>
              <a:t>Technology:</a:t>
            </a:r>
            <a:r>
              <a:rPr lang="en-US" sz="2000" dirty="0">
                <a:latin typeface="Consolas" panose="020B0609020204030204" pitchFamily="49" charset="0"/>
              </a:rPr>
              <a:t> Support Vector Machines (SVMs) with non-linear kernels.</a:t>
            </a:r>
          </a:p>
          <a:p>
            <a:pPr lvl="1"/>
            <a:r>
              <a:rPr lang="en-US" sz="2000" b="1" dirty="0">
                <a:latin typeface="Consolas" panose="020B0609020204030204" pitchFamily="49" charset="0"/>
              </a:rPr>
              <a:t>Performance:</a:t>
            </a:r>
            <a:r>
              <a:rPr lang="en-US" sz="2000" dirty="0">
                <a:latin typeface="Consolas" panose="020B0609020204030204" pitchFamily="49" charset="0"/>
              </a:rPr>
              <a:t> The top-performing teams achieved an </a:t>
            </a:r>
            <a:r>
              <a:rPr lang="en-US" sz="2000" b="1" dirty="0">
                <a:latin typeface="Consolas" panose="020B0609020204030204" pitchFamily="49" charset="0"/>
              </a:rPr>
              <a:t>F1-score of 0.65</a:t>
            </a:r>
            <a:r>
              <a:rPr lang="en-US" sz="2000" dirty="0">
                <a:latin typeface="Consolas" panose="020B0609020204030204" pitchFamily="49" charset="0"/>
              </a:rPr>
              <a:t>.</a:t>
            </a:r>
          </a:p>
          <a:p>
            <a:r>
              <a:rPr lang="en-US" sz="2000" b="1" dirty="0">
                <a:latin typeface="Consolas" panose="020B0609020204030204" pitchFamily="49" charset="0"/>
              </a:rPr>
              <a:t>The Problem (The Gap):</a:t>
            </a:r>
            <a:endParaRPr lang="en-US" sz="2000" dirty="0">
              <a:latin typeface="Consolas" panose="020B0609020204030204" pitchFamily="49" charset="0"/>
            </a:endParaRPr>
          </a:p>
          <a:p>
            <a:pPr lvl="1"/>
            <a:r>
              <a:rPr lang="en-US" sz="2000" b="1" dirty="0">
                <a:latin typeface="Consolas" panose="020B0609020204030204" pitchFamily="49" charset="0"/>
              </a:rPr>
              <a:t>Brittle Features:</a:t>
            </a:r>
            <a:r>
              <a:rPr lang="en-US" sz="2000" dirty="0">
                <a:latin typeface="Consolas" panose="020B0609020204030204" pitchFamily="49" charset="0"/>
              </a:rPr>
              <a:t> Relied on manual "feature engineering" (detecting specific sentence structures).</a:t>
            </a:r>
          </a:p>
          <a:p>
            <a:pPr lvl="1"/>
            <a:r>
              <a:rPr lang="en-US" sz="2000" b="1" dirty="0">
                <a:latin typeface="Consolas" panose="020B0609020204030204" pitchFamily="49" charset="0"/>
              </a:rPr>
              <a:t>Lack of Generalization:</a:t>
            </a:r>
            <a:r>
              <a:rPr lang="en-US" sz="2000" dirty="0">
                <a:latin typeface="Consolas" panose="020B0609020204030204" pitchFamily="49" charset="0"/>
              </a:rPr>
              <a:t> Failed when scientific language evolved or sentence structures became complex.</a:t>
            </a:r>
          </a:p>
          <a:p>
            <a:pPr lvl="1"/>
            <a:r>
              <a:rPr lang="en-US" sz="2000" b="1" dirty="0">
                <a:latin typeface="Consolas" panose="020B0609020204030204" pitchFamily="49" charset="0"/>
              </a:rPr>
              <a:t>Static Output:</a:t>
            </a:r>
            <a:r>
              <a:rPr lang="en-US" sz="2000" dirty="0">
                <a:latin typeface="Consolas" panose="020B0609020204030204" pitchFamily="49" charset="0"/>
              </a:rPr>
              <a:t> Models provided a label but no real-world verification or "reasoning."</a:t>
            </a:r>
          </a:p>
          <a:p>
            <a:pPr algn="just">
              <a:lnSpc>
                <a:spcPct val="150000"/>
              </a:lnSpc>
            </a:pPr>
            <a:endParaRPr lang="en-IN" sz="2000" dirty="0">
              <a:latin typeface="Consolas" panose="020B0609020204030204" pitchFamily="49" charset="0"/>
            </a:endParaRPr>
          </a:p>
        </p:txBody>
      </p:sp>
      <p:pic>
        <p:nvPicPr>
          <p:cNvPr id="2" name="Picture 1">
            <a:extLst>
              <a:ext uri="{FF2B5EF4-FFF2-40B4-BE49-F238E27FC236}">
                <a16:creationId xmlns:a16="http://schemas.microsoft.com/office/drawing/2014/main" id="{E0A7A510-85ED-7AC8-656A-8BDDB96CC70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360459" y="1504865"/>
            <a:ext cx="1553526" cy="734389"/>
          </a:xfrm>
          <a:prstGeom prst="rect">
            <a:avLst/>
          </a:prstGeom>
        </p:spPr>
      </p:pic>
    </p:spTree>
    <p:extLst>
      <p:ext uri="{BB962C8B-B14F-4D97-AF65-F5344CB8AC3E}">
        <p14:creationId xmlns:p14="http://schemas.microsoft.com/office/powerpoint/2010/main" val="4256004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7A4279EC-66EB-C97D-D939-366A3B92F63B}"/>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84C09297-ACD6-480B-E989-5A9AB821B82B}"/>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AD6DC2E2-0B70-056C-F0E3-AC3506651BED}"/>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3A90F983-13DE-E336-0A77-0BF258B7F396}"/>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9D47DE59-D163-E0C7-AA5E-39E1EEECC2F4}"/>
              </a:ext>
            </a:extLst>
          </p:cNvPr>
          <p:cNvGrpSpPr/>
          <p:nvPr/>
        </p:nvGrpSpPr>
        <p:grpSpPr>
          <a:xfrm>
            <a:off x="1178509" y="955302"/>
            <a:ext cx="16284006" cy="8376138"/>
            <a:chOff x="0" y="-47625"/>
            <a:chExt cx="5292307" cy="2722247"/>
          </a:xfrm>
        </p:grpSpPr>
        <p:sp>
          <p:nvSpPr>
            <p:cNvPr id="6" name="Freeform 6">
              <a:extLst>
                <a:ext uri="{FF2B5EF4-FFF2-40B4-BE49-F238E27FC236}">
                  <a16:creationId xmlns:a16="http://schemas.microsoft.com/office/drawing/2014/main" id="{7AB4BC4B-E1AE-D8C4-F89E-A356467E3BD1}"/>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AB6455D4-E357-2478-D1CA-C6F0948CCE9B}"/>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D5CAF4FC-1DDD-009E-75FC-2C995637F4D2}"/>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BACKGROUND</a:t>
            </a:r>
          </a:p>
        </p:txBody>
      </p:sp>
      <p:sp>
        <p:nvSpPr>
          <p:cNvPr id="16" name="TextBox 15">
            <a:extLst>
              <a:ext uri="{FF2B5EF4-FFF2-40B4-BE49-F238E27FC236}">
                <a16:creationId xmlns:a16="http://schemas.microsoft.com/office/drawing/2014/main" id="{9220ACF8-A7B1-5977-2386-9DE1D461C0E4}"/>
              </a:ext>
            </a:extLst>
          </p:cNvPr>
          <p:cNvSpPr txBox="1"/>
          <p:nvPr/>
        </p:nvSpPr>
        <p:spPr>
          <a:xfrm>
            <a:off x="4405612" y="2131865"/>
            <a:ext cx="9829800" cy="5736763"/>
          </a:xfrm>
          <a:prstGeom prst="rect">
            <a:avLst/>
          </a:prstGeom>
          <a:noFill/>
        </p:spPr>
        <p:txBody>
          <a:bodyPr wrap="square">
            <a:spAutoFit/>
          </a:bodyPr>
          <a:lstStyle/>
          <a:p>
            <a:r>
              <a:rPr lang="en-US" sz="2000" b="1" dirty="0">
                <a:latin typeface="Consolas" panose="020B0609020204030204" pitchFamily="49" charset="0"/>
              </a:rPr>
              <a:t>State-of-the-Art - </a:t>
            </a:r>
            <a:r>
              <a:rPr lang="en-US" sz="2000" b="1" dirty="0" err="1">
                <a:latin typeface="Consolas" panose="020B0609020204030204" pitchFamily="49" charset="0"/>
              </a:rPr>
              <a:t>PubTator</a:t>
            </a:r>
            <a:r>
              <a:rPr lang="en-US" sz="2000" b="1" dirty="0">
                <a:latin typeface="Consolas" panose="020B0609020204030204" pitchFamily="49" charset="0"/>
              </a:rPr>
              <a:t> 3.0</a:t>
            </a:r>
          </a:p>
          <a:p>
            <a:r>
              <a:rPr lang="en-US" sz="2000" b="1" dirty="0">
                <a:latin typeface="Consolas" panose="020B0609020204030204" pitchFamily="49" charset="0"/>
              </a:rPr>
              <a:t>What it is:</a:t>
            </a:r>
            <a:r>
              <a:rPr lang="en-US" sz="2000" dirty="0">
                <a:latin typeface="Consolas" panose="020B0609020204030204" pitchFamily="49" charset="0"/>
              </a:rPr>
              <a:t> A premier NIH resource using transformer-based AI to index over </a:t>
            </a:r>
            <a:r>
              <a:rPr lang="en-US" sz="2000" b="1" dirty="0">
                <a:latin typeface="Consolas" panose="020B0609020204030204" pitchFamily="49" charset="0"/>
              </a:rPr>
              <a:t>1 billion biomedical relations</a:t>
            </a:r>
            <a:r>
              <a:rPr lang="en-US" sz="2000" dirty="0">
                <a:latin typeface="Consolas" panose="020B0609020204030204" pitchFamily="49" charset="0"/>
              </a:rPr>
              <a:t> across 36 million abstracts.</a:t>
            </a:r>
          </a:p>
          <a:p>
            <a:r>
              <a:rPr lang="en-US" sz="2000" b="1" dirty="0">
                <a:latin typeface="Consolas" panose="020B0609020204030204" pitchFamily="49" charset="0"/>
              </a:rPr>
              <a:t>Key Innovation:</a:t>
            </a:r>
            <a:r>
              <a:rPr lang="en-US" sz="2000" dirty="0">
                <a:latin typeface="Consolas" panose="020B0609020204030204" pitchFamily="49" charset="0"/>
              </a:rPr>
              <a:t> Integrates advanced Named Entity Recognition (AIONER) with LLM capabilities (GPT-4) to improve search factuality.</a:t>
            </a:r>
          </a:p>
          <a:p>
            <a:r>
              <a:rPr lang="en-US" sz="2000" b="1" dirty="0">
                <a:latin typeface="Consolas" panose="020B0609020204030204" pitchFamily="49" charset="0"/>
              </a:rPr>
              <a:t>The Approach:</a:t>
            </a:r>
            <a:endParaRPr lang="en-US" sz="2000" dirty="0">
              <a:latin typeface="Consolas" panose="020B0609020204030204" pitchFamily="49" charset="0"/>
            </a:endParaRPr>
          </a:p>
          <a:p>
            <a:pPr lvl="1"/>
            <a:r>
              <a:rPr lang="en-US" sz="2000" b="1" dirty="0">
                <a:latin typeface="Consolas" panose="020B0609020204030204" pitchFamily="49" charset="0"/>
              </a:rPr>
              <a:t>Precomputed Annotations:</a:t>
            </a:r>
            <a:r>
              <a:rPr lang="en-US" sz="2000" dirty="0">
                <a:latin typeface="Consolas" panose="020B0609020204030204" pitchFamily="49" charset="0"/>
              </a:rPr>
              <a:t> Most relations are "pre-extracted" to allow for lightning-fast semantic search.</a:t>
            </a:r>
          </a:p>
          <a:p>
            <a:pPr lvl="1"/>
            <a:r>
              <a:rPr lang="en-US" sz="2000" b="1" dirty="0">
                <a:latin typeface="Consolas" panose="020B0609020204030204" pitchFamily="49" charset="0"/>
              </a:rPr>
              <a:t>Entity Normalization:</a:t>
            </a:r>
            <a:r>
              <a:rPr lang="en-US" sz="2000" dirty="0">
                <a:latin typeface="Consolas" panose="020B0609020204030204" pitchFamily="49" charset="0"/>
              </a:rPr>
              <a:t> Automatically maps drug mentions to standardized </a:t>
            </a:r>
            <a:r>
              <a:rPr lang="en-US" sz="2000" dirty="0" err="1">
                <a:latin typeface="Consolas" panose="020B0609020204030204" pitchFamily="49" charset="0"/>
              </a:rPr>
              <a:t>MeSH</a:t>
            </a:r>
            <a:r>
              <a:rPr lang="en-US" sz="2000" dirty="0">
                <a:latin typeface="Consolas" panose="020B0609020204030204" pitchFamily="49" charset="0"/>
              </a:rPr>
              <a:t> or </a:t>
            </a:r>
            <a:r>
              <a:rPr lang="en-US" sz="2000" dirty="0" err="1">
                <a:latin typeface="Consolas" panose="020B0609020204030204" pitchFamily="49" charset="0"/>
              </a:rPr>
              <a:t>ChEMBL</a:t>
            </a:r>
            <a:r>
              <a:rPr lang="en-US" sz="2000" dirty="0">
                <a:latin typeface="Consolas" panose="020B0609020204030204" pitchFamily="49" charset="0"/>
              </a:rPr>
              <a:t> identifiers.</a:t>
            </a:r>
          </a:p>
          <a:p>
            <a:r>
              <a:rPr lang="en-US" sz="2000" b="1" dirty="0">
                <a:latin typeface="Consolas" panose="020B0609020204030204" pitchFamily="49" charset="0"/>
              </a:rPr>
              <a:t>The Remaining Gap:</a:t>
            </a:r>
            <a:endParaRPr lang="en-US" sz="2000" dirty="0">
              <a:latin typeface="Consolas" panose="020B0609020204030204" pitchFamily="49" charset="0"/>
            </a:endParaRPr>
          </a:p>
          <a:p>
            <a:pPr lvl="1"/>
            <a:r>
              <a:rPr lang="en-US" sz="2000" b="1" dirty="0">
                <a:latin typeface="Consolas" panose="020B0609020204030204" pitchFamily="49" charset="0"/>
              </a:rPr>
              <a:t>Dynamic Latency:</a:t>
            </a:r>
            <a:r>
              <a:rPr lang="en-US" sz="2000" dirty="0">
                <a:latin typeface="Consolas" panose="020B0609020204030204" pitchFamily="49" charset="0"/>
              </a:rPr>
              <a:t> Because it relies on weekly updates/precomputation, it can lag behind daily preprints.</a:t>
            </a:r>
          </a:p>
          <a:p>
            <a:pPr lvl="1"/>
            <a:r>
              <a:rPr lang="en-US" sz="2000" b="1" dirty="0">
                <a:latin typeface="Consolas" panose="020B0609020204030204" pitchFamily="49" charset="0"/>
              </a:rPr>
              <a:t>Closed-Loop Limitation:</a:t>
            </a:r>
            <a:r>
              <a:rPr lang="en-US" sz="2000" dirty="0">
                <a:latin typeface="Consolas" panose="020B0609020204030204" pitchFamily="49" charset="0"/>
              </a:rPr>
              <a:t> While it is a world-class </a:t>
            </a:r>
            <a:r>
              <a:rPr lang="en-US" sz="2000" i="1" dirty="0">
                <a:latin typeface="Consolas" panose="020B0609020204030204" pitchFamily="49" charset="0"/>
              </a:rPr>
              <a:t>search</a:t>
            </a:r>
            <a:r>
              <a:rPr lang="en-US" sz="2000" dirty="0">
                <a:latin typeface="Consolas" panose="020B0609020204030204" pitchFamily="49" charset="0"/>
              </a:rPr>
              <a:t> tool, it does not act as an </a:t>
            </a:r>
            <a:r>
              <a:rPr lang="en-US" sz="2000" b="1" dirty="0">
                <a:latin typeface="Consolas" panose="020B0609020204030204" pitchFamily="49" charset="0"/>
              </a:rPr>
              <a:t>autonomous agent</a:t>
            </a:r>
            <a:r>
              <a:rPr lang="en-US" sz="2000" dirty="0">
                <a:latin typeface="Consolas" panose="020B0609020204030204" pitchFamily="49" charset="0"/>
              </a:rPr>
              <a:t> that cross-references findings against clinical ground truth in a self-correcting loop.</a:t>
            </a:r>
          </a:p>
          <a:p>
            <a:pPr algn="just">
              <a:lnSpc>
                <a:spcPct val="150000"/>
              </a:lnSpc>
            </a:pPr>
            <a:endParaRPr lang="en-IN" sz="2000" dirty="0">
              <a:latin typeface="Consolas" panose="020B0609020204030204" pitchFamily="49" charset="0"/>
            </a:endParaRPr>
          </a:p>
        </p:txBody>
      </p:sp>
      <p:pic>
        <p:nvPicPr>
          <p:cNvPr id="2" name="Picture 1">
            <a:extLst>
              <a:ext uri="{FF2B5EF4-FFF2-40B4-BE49-F238E27FC236}">
                <a16:creationId xmlns:a16="http://schemas.microsoft.com/office/drawing/2014/main" id="{A1C70176-D9FE-75DA-316E-15CA0765A7C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360459" y="1504865"/>
            <a:ext cx="1553526" cy="734389"/>
          </a:xfrm>
          <a:prstGeom prst="rect">
            <a:avLst/>
          </a:prstGeom>
        </p:spPr>
      </p:pic>
    </p:spTree>
    <p:extLst>
      <p:ext uri="{BB962C8B-B14F-4D97-AF65-F5344CB8AC3E}">
        <p14:creationId xmlns:p14="http://schemas.microsoft.com/office/powerpoint/2010/main" val="1484019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D41D7CD9-98BB-D8B9-4214-4CB0990CC3D6}"/>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642E8225-FA41-D1C6-CA47-92AF9B9CC590}"/>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14049175-6E89-AB5F-16FA-40D2EEA3FCBB}"/>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11058C46-D3A2-7241-BF4B-38258BD46487}"/>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14BED5CC-6AC0-2064-12F9-364DF4759972}"/>
              </a:ext>
            </a:extLst>
          </p:cNvPr>
          <p:cNvGrpSpPr/>
          <p:nvPr/>
        </p:nvGrpSpPr>
        <p:grpSpPr>
          <a:xfrm>
            <a:off x="1219200" y="955431"/>
            <a:ext cx="16284006" cy="8376138"/>
            <a:chOff x="0" y="-47625"/>
            <a:chExt cx="5292307" cy="2722247"/>
          </a:xfrm>
        </p:grpSpPr>
        <p:sp>
          <p:nvSpPr>
            <p:cNvPr id="6" name="Freeform 6">
              <a:extLst>
                <a:ext uri="{FF2B5EF4-FFF2-40B4-BE49-F238E27FC236}">
                  <a16:creationId xmlns:a16="http://schemas.microsoft.com/office/drawing/2014/main" id="{5EA1525B-337E-B84C-48FF-110027FE8980}"/>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F9EA20EF-7778-6ED2-0B12-D835481D8938}"/>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1259AA06-9AC8-E672-4512-D0E0161D121D}"/>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DATASET</a:t>
            </a:r>
          </a:p>
        </p:txBody>
      </p:sp>
      <p:pic>
        <p:nvPicPr>
          <p:cNvPr id="2" name="Picture 1">
            <a:extLst>
              <a:ext uri="{FF2B5EF4-FFF2-40B4-BE49-F238E27FC236}">
                <a16:creationId xmlns:a16="http://schemas.microsoft.com/office/drawing/2014/main" id="{C0AAC658-E752-D030-2A3E-F559AB2E8EC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292396" y="1422356"/>
            <a:ext cx="1553526" cy="734389"/>
          </a:xfrm>
          <a:prstGeom prst="rect">
            <a:avLst/>
          </a:prstGeom>
        </p:spPr>
      </p:pic>
      <p:pic>
        <p:nvPicPr>
          <p:cNvPr id="8" name="Picture 7">
            <a:extLst>
              <a:ext uri="{FF2B5EF4-FFF2-40B4-BE49-F238E27FC236}">
                <a16:creationId xmlns:a16="http://schemas.microsoft.com/office/drawing/2014/main" id="{2407FB28-8857-7892-1226-23D9E5960C7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93130" y="7238856"/>
            <a:ext cx="5477532" cy="4762500"/>
          </a:xfrm>
          <a:prstGeom prst="rect">
            <a:avLst/>
          </a:prstGeom>
        </p:spPr>
      </p:pic>
      <p:pic>
        <p:nvPicPr>
          <p:cNvPr id="9" name="Picture 8">
            <a:extLst>
              <a:ext uri="{FF2B5EF4-FFF2-40B4-BE49-F238E27FC236}">
                <a16:creationId xmlns:a16="http://schemas.microsoft.com/office/drawing/2014/main" id="{FAC56F02-FD94-F67C-B0B1-9EF23F85B9E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50369" y="7280910"/>
            <a:ext cx="5477532" cy="4762500"/>
          </a:xfrm>
          <a:prstGeom prst="rect">
            <a:avLst/>
          </a:prstGeom>
        </p:spPr>
      </p:pic>
      <p:sp>
        <p:nvSpPr>
          <p:cNvPr id="3" name="TextBox 2">
            <a:extLst>
              <a:ext uri="{FF2B5EF4-FFF2-40B4-BE49-F238E27FC236}">
                <a16:creationId xmlns:a16="http://schemas.microsoft.com/office/drawing/2014/main" id="{F51ACC20-7CEC-1755-9D41-8068DFE94623}"/>
              </a:ext>
            </a:extLst>
          </p:cNvPr>
          <p:cNvSpPr txBox="1"/>
          <p:nvPr/>
        </p:nvSpPr>
        <p:spPr>
          <a:xfrm>
            <a:off x="3810000" y="2139912"/>
            <a:ext cx="10972800" cy="6801862"/>
          </a:xfrm>
          <a:prstGeom prst="rect">
            <a:avLst/>
          </a:prstGeom>
          <a:noFill/>
        </p:spPr>
        <p:txBody>
          <a:bodyPr wrap="square" rtlCol="0">
            <a:spAutoFit/>
          </a:bodyPr>
          <a:lstStyle/>
          <a:p>
            <a:r>
              <a:rPr lang="en-GB" sz="2400" b="1" dirty="0">
                <a:latin typeface="Consolas" panose="020B0609020204030204" pitchFamily="49" charset="0"/>
              </a:rPr>
              <a:t>Data Sources:</a:t>
            </a:r>
          </a:p>
          <a:p>
            <a:endParaRPr lang="en-GB" sz="2400" dirty="0">
              <a:latin typeface="Consolas" panose="020B0609020204030204" pitchFamily="49" charset="0"/>
            </a:endParaRPr>
          </a:p>
          <a:p>
            <a:pPr algn="just"/>
            <a:r>
              <a:rPr lang="en-GB" sz="2000" b="1" dirty="0">
                <a:latin typeface="Consolas" panose="020B0609020204030204" pitchFamily="49" charset="0"/>
              </a:rPr>
              <a:t>A. PubMed Central (Input)</a:t>
            </a:r>
            <a:endParaRPr lang="en-GB" sz="2000" dirty="0">
              <a:latin typeface="Consolas" panose="020B0609020204030204" pitchFamily="49" charset="0"/>
            </a:endParaRPr>
          </a:p>
          <a:p>
            <a:pPr marL="342900" indent="-342900" algn="just">
              <a:buFont typeface="Arial" panose="020B0604020202020204" pitchFamily="34" charset="0"/>
              <a:buChar char="•"/>
            </a:pPr>
            <a:r>
              <a:rPr lang="en-GB" sz="2000" dirty="0">
                <a:latin typeface="Consolas" panose="020B0609020204030204" pitchFamily="49" charset="0"/>
              </a:rPr>
              <a:t>Source: NCBI E-utilities API</a:t>
            </a:r>
          </a:p>
          <a:p>
            <a:pPr marL="342900" indent="-342900" algn="just">
              <a:buFont typeface="Arial" panose="020B0604020202020204" pitchFamily="34" charset="0"/>
              <a:buChar char="•"/>
            </a:pPr>
            <a:r>
              <a:rPr lang="en-GB" sz="2000" dirty="0">
                <a:latin typeface="Consolas" panose="020B0609020204030204" pitchFamily="49" charset="0"/>
              </a:rPr>
              <a:t>43 papers ingested from pharmacology(2025–2026)</a:t>
            </a:r>
          </a:p>
          <a:p>
            <a:pPr marL="342900" indent="-342900" algn="just">
              <a:buFont typeface="Arial" panose="020B0604020202020204" pitchFamily="34" charset="0"/>
              <a:buChar char="•"/>
            </a:pPr>
            <a:r>
              <a:rPr lang="en-GB" sz="2000" dirty="0">
                <a:latin typeface="Consolas" panose="020B0609020204030204" pitchFamily="49" charset="0"/>
              </a:rPr>
              <a:t>Query: warfarin, aspirin, statins, metformin + "drug interaction"</a:t>
            </a:r>
          </a:p>
          <a:p>
            <a:pPr marL="342900" indent="-342900" algn="just">
              <a:buFont typeface="Arial" panose="020B0604020202020204" pitchFamily="34" charset="0"/>
              <a:buChar char="•"/>
            </a:pPr>
            <a:r>
              <a:rPr lang="en-GB" sz="2000" dirty="0">
                <a:latin typeface="Consolas" panose="020B0609020204030204" pitchFamily="49" charset="0"/>
              </a:rPr>
              <a:t>Format: XML → JSON with PMID, DOI, title, abstract, authors, date</a:t>
            </a:r>
          </a:p>
          <a:p>
            <a:pPr algn="just"/>
            <a:r>
              <a:rPr lang="en-GB" sz="2000" b="1" dirty="0">
                <a:latin typeface="Consolas" panose="020B0609020204030204" pitchFamily="49" charset="0"/>
              </a:rPr>
              <a:t>B. </a:t>
            </a:r>
            <a:r>
              <a:rPr lang="en-GB" sz="2000" b="1" dirty="0" err="1">
                <a:latin typeface="Consolas" panose="020B0609020204030204" pitchFamily="49" charset="0"/>
              </a:rPr>
              <a:t>ChEMBL</a:t>
            </a:r>
            <a:r>
              <a:rPr lang="en-GB" sz="2000" b="1" dirty="0">
                <a:latin typeface="Consolas" panose="020B0609020204030204" pitchFamily="49" charset="0"/>
              </a:rPr>
              <a:t> (Validation)</a:t>
            </a:r>
            <a:endParaRPr lang="en-GB" sz="2000" dirty="0">
              <a:latin typeface="Consolas" panose="020B0609020204030204" pitchFamily="49" charset="0"/>
            </a:endParaRPr>
          </a:p>
          <a:p>
            <a:pPr marL="342900" indent="-342900" algn="just">
              <a:buFont typeface="Arial" panose="020B0604020202020204" pitchFamily="34" charset="0"/>
              <a:buChar char="•"/>
            </a:pPr>
            <a:r>
              <a:rPr lang="en-GB" sz="2000" dirty="0">
                <a:latin typeface="Consolas" panose="020B0609020204030204" pitchFamily="49" charset="0"/>
              </a:rPr>
              <a:t>Source: EMBL-EBI REST API</a:t>
            </a:r>
          </a:p>
          <a:p>
            <a:pPr marL="342900" indent="-342900" algn="just">
              <a:buFont typeface="Arial" panose="020B0604020202020204" pitchFamily="34" charset="0"/>
              <a:buChar char="•"/>
            </a:pPr>
            <a:r>
              <a:rPr lang="en-GB" sz="2000" dirty="0">
                <a:latin typeface="Consolas" panose="020B0609020204030204" pitchFamily="49" charset="0"/>
              </a:rPr>
              <a:t>2.3M compound records, 20M bioactivity measurements</a:t>
            </a:r>
          </a:p>
          <a:p>
            <a:pPr marL="342900" indent="-342900" algn="just">
              <a:buFont typeface="Arial" panose="020B0604020202020204" pitchFamily="34" charset="0"/>
              <a:buChar char="•"/>
            </a:pPr>
            <a:r>
              <a:rPr lang="en-GB" sz="2000" dirty="0">
                <a:latin typeface="Consolas" panose="020B0609020204030204" pitchFamily="49" charset="0"/>
              </a:rPr>
              <a:t>Used for real-time drug name validation</a:t>
            </a:r>
          </a:p>
          <a:p>
            <a:pPr marL="342900" indent="-342900" algn="just">
              <a:buFont typeface="Arial" panose="020B0604020202020204" pitchFamily="34" charset="0"/>
              <a:buChar char="•"/>
            </a:pPr>
            <a:r>
              <a:rPr lang="en-GB" sz="2000" dirty="0">
                <a:latin typeface="Consolas" panose="020B0609020204030204" pitchFamily="49" charset="0"/>
              </a:rPr>
              <a:t>Returns: </a:t>
            </a:r>
            <a:r>
              <a:rPr lang="en-GB" sz="2000" dirty="0" err="1">
                <a:latin typeface="Consolas" panose="020B0609020204030204" pitchFamily="49" charset="0"/>
              </a:rPr>
              <a:t>ChEMBL</a:t>
            </a:r>
            <a:r>
              <a:rPr lang="en-GB" sz="2000" dirty="0">
                <a:latin typeface="Consolas" panose="020B0609020204030204" pitchFamily="49" charset="0"/>
              </a:rPr>
              <a:t> ID, mechanism of action, drug targets</a:t>
            </a:r>
          </a:p>
          <a:p>
            <a:pPr algn="just"/>
            <a:r>
              <a:rPr lang="en-GB" sz="2000" b="1" dirty="0">
                <a:latin typeface="Consolas" panose="020B0609020204030204" pitchFamily="49" charset="0"/>
              </a:rPr>
              <a:t>C. Neo4j Knowledge Graph (Output)</a:t>
            </a:r>
            <a:endParaRPr lang="en-GB" sz="2000" dirty="0">
              <a:latin typeface="Consolas" panose="020B0609020204030204" pitchFamily="49" charset="0"/>
            </a:endParaRPr>
          </a:p>
          <a:p>
            <a:pPr marL="342900" indent="-342900" algn="just">
              <a:buFont typeface="Arial" panose="020B0604020202020204" pitchFamily="34" charset="0"/>
              <a:buChar char="•"/>
            </a:pPr>
            <a:r>
              <a:rPr lang="en-GB" sz="2000" dirty="0">
                <a:latin typeface="Consolas" panose="020B0609020204030204" pitchFamily="49" charset="0"/>
              </a:rPr>
              <a:t>Nodes: Paper (43), Drug (~30), Author (~300)</a:t>
            </a:r>
          </a:p>
          <a:p>
            <a:pPr marL="342900" indent="-342900" algn="just">
              <a:buFont typeface="Arial" panose="020B0604020202020204" pitchFamily="34" charset="0"/>
              <a:buChar char="•"/>
            </a:pPr>
            <a:r>
              <a:rPr lang="en-GB" sz="2000" dirty="0">
                <a:latin typeface="Consolas" panose="020B0609020204030204" pitchFamily="49" charset="0"/>
              </a:rPr>
              <a:t>Edges: INTERACTS_WITH (22), WROTE</a:t>
            </a:r>
          </a:p>
          <a:p>
            <a:pPr marL="342900" indent="-342900" algn="just">
              <a:buFont typeface="Arial" panose="020B0604020202020204" pitchFamily="34" charset="0"/>
              <a:buChar char="•"/>
            </a:pPr>
            <a:r>
              <a:rPr lang="en-GB" sz="2000" dirty="0">
                <a:latin typeface="Consolas" panose="020B0609020204030204" pitchFamily="49" charset="0"/>
              </a:rPr>
              <a:t>Stores all validated DDI findings with metadata</a:t>
            </a:r>
          </a:p>
          <a:p>
            <a:endParaRPr lang="en-US" dirty="0">
              <a:latin typeface="Consolas" panose="020B0609020204030204" pitchFamily="49" charset="0"/>
            </a:endParaRPr>
          </a:p>
          <a:p>
            <a:endParaRPr lang="en-US" dirty="0">
              <a:latin typeface="Consolas" panose="020B0609020204030204" pitchFamily="49" charset="0"/>
            </a:endParaRPr>
          </a:p>
          <a:p>
            <a:endParaRPr lang="en-US" b="1" dirty="0">
              <a:latin typeface="Consolas" panose="020B0609020204030204" pitchFamily="49" charset="0"/>
            </a:endParaRPr>
          </a:p>
          <a:p>
            <a:r>
              <a:rPr lang="en-US" b="1" dirty="0">
                <a:latin typeface="Consolas" panose="020B0609020204030204" pitchFamily="49" charset="0"/>
              </a:rPr>
              <a:t>Note : </a:t>
            </a:r>
            <a:r>
              <a:rPr lang="en-US" i="1" dirty="0">
                <a:latin typeface="Consolas" panose="020B0609020204030204" pitchFamily="49" charset="0"/>
              </a:rPr>
              <a:t>Due to Gemini API Rate limit constraints, 19 of 43 papers have been fully processed at the time of this presentation. The remaining 24 will be completed for the final submission</a:t>
            </a:r>
            <a:r>
              <a:rPr lang="en-US" dirty="0"/>
              <a:t>.</a:t>
            </a:r>
            <a:endParaRPr lang="en-US" b="1" dirty="0">
              <a:latin typeface="Consolas" panose="020B0609020204030204" pitchFamily="49" charset="0"/>
            </a:endParaRPr>
          </a:p>
        </p:txBody>
      </p:sp>
    </p:spTree>
    <p:extLst>
      <p:ext uri="{BB962C8B-B14F-4D97-AF65-F5344CB8AC3E}">
        <p14:creationId xmlns:p14="http://schemas.microsoft.com/office/powerpoint/2010/main" val="3351349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C92F819E-F12E-2546-BD05-1F2056F8B647}"/>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622DD8ED-CEE7-7A4C-1920-6690CEAD8F9F}"/>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3EFAB894-62FE-D961-C000-F09E7E28327D}"/>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5DE48F33-7ACA-BEFA-64EF-5723CD272FD8}"/>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34BE7CC2-1CB2-DBEC-3F1D-CC2F152CFA7E}"/>
              </a:ext>
            </a:extLst>
          </p:cNvPr>
          <p:cNvGrpSpPr/>
          <p:nvPr/>
        </p:nvGrpSpPr>
        <p:grpSpPr>
          <a:xfrm>
            <a:off x="1219200" y="955431"/>
            <a:ext cx="16284006" cy="8376138"/>
            <a:chOff x="0" y="-47625"/>
            <a:chExt cx="5292307" cy="2722247"/>
          </a:xfrm>
        </p:grpSpPr>
        <p:sp>
          <p:nvSpPr>
            <p:cNvPr id="6" name="Freeform 6">
              <a:extLst>
                <a:ext uri="{FF2B5EF4-FFF2-40B4-BE49-F238E27FC236}">
                  <a16:creationId xmlns:a16="http://schemas.microsoft.com/office/drawing/2014/main" id="{7D137845-3ED6-56D2-4819-7EB2764E9796}"/>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51ECD4B7-39C0-6E66-F85A-57B0FD5B14C9}"/>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0E320AED-4EEC-633F-1688-87B375C300FE}"/>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DATASET</a:t>
            </a:r>
          </a:p>
        </p:txBody>
      </p:sp>
      <p:pic>
        <p:nvPicPr>
          <p:cNvPr id="2" name="Picture 1">
            <a:extLst>
              <a:ext uri="{FF2B5EF4-FFF2-40B4-BE49-F238E27FC236}">
                <a16:creationId xmlns:a16="http://schemas.microsoft.com/office/drawing/2014/main" id="{128D311C-2B74-0CAF-A235-56C51CEED11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292396" y="1422356"/>
            <a:ext cx="1553526" cy="734389"/>
          </a:xfrm>
          <a:prstGeom prst="rect">
            <a:avLst/>
          </a:prstGeom>
        </p:spPr>
      </p:pic>
      <p:pic>
        <p:nvPicPr>
          <p:cNvPr id="8" name="Picture 7">
            <a:extLst>
              <a:ext uri="{FF2B5EF4-FFF2-40B4-BE49-F238E27FC236}">
                <a16:creationId xmlns:a16="http://schemas.microsoft.com/office/drawing/2014/main" id="{19152760-B102-73D5-33D1-88067A78C4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93130" y="7238856"/>
            <a:ext cx="5477532" cy="4762500"/>
          </a:xfrm>
          <a:prstGeom prst="rect">
            <a:avLst/>
          </a:prstGeom>
        </p:spPr>
      </p:pic>
      <p:pic>
        <p:nvPicPr>
          <p:cNvPr id="9" name="Picture 8">
            <a:extLst>
              <a:ext uri="{FF2B5EF4-FFF2-40B4-BE49-F238E27FC236}">
                <a16:creationId xmlns:a16="http://schemas.microsoft.com/office/drawing/2014/main" id="{A5F4077B-55B9-3EFE-DF4B-9B16ED0127B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50369" y="7280910"/>
            <a:ext cx="5477532" cy="4762500"/>
          </a:xfrm>
          <a:prstGeom prst="rect">
            <a:avLst/>
          </a:prstGeom>
        </p:spPr>
      </p:pic>
      <p:sp>
        <p:nvSpPr>
          <p:cNvPr id="3" name="TextBox 2">
            <a:extLst>
              <a:ext uri="{FF2B5EF4-FFF2-40B4-BE49-F238E27FC236}">
                <a16:creationId xmlns:a16="http://schemas.microsoft.com/office/drawing/2014/main" id="{55760CE0-0EC6-37F9-58BD-4C3B9CF2D04E}"/>
              </a:ext>
            </a:extLst>
          </p:cNvPr>
          <p:cNvSpPr txBox="1"/>
          <p:nvPr/>
        </p:nvSpPr>
        <p:spPr>
          <a:xfrm>
            <a:off x="3810000" y="2139912"/>
            <a:ext cx="10972800" cy="7294305"/>
          </a:xfrm>
          <a:prstGeom prst="rect">
            <a:avLst/>
          </a:prstGeom>
          <a:noFill/>
        </p:spPr>
        <p:txBody>
          <a:bodyPr wrap="square" rtlCol="0">
            <a:spAutoFit/>
          </a:bodyPr>
          <a:lstStyle/>
          <a:p>
            <a:endParaRPr lang="en-US" dirty="0">
              <a:latin typeface="Consolas" panose="020B0609020204030204" pitchFamily="49" charset="0"/>
            </a:endParaRPr>
          </a:p>
          <a:p>
            <a:r>
              <a:rPr lang="en-US" sz="2400" b="1" dirty="0">
                <a:latin typeface="Consolas" panose="020B0609020204030204" pitchFamily="49" charset="0"/>
              </a:rPr>
              <a:t>Dataset Stats Table:</a:t>
            </a:r>
          </a:p>
          <a:p>
            <a:endParaRPr lang="en-US" sz="2400" b="1" dirty="0">
              <a:latin typeface="Consolas" panose="020B0609020204030204" pitchFamily="49" charset="0"/>
            </a:endParaRPr>
          </a:p>
          <a:p>
            <a:endParaRPr lang="en-US" sz="2400"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endParaRPr lang="en-US" b="1" dirty="0">
              <a:latin typeface="Consolas" panose="020B0609020204030204" pitchFamily="49" charset="0"/>
            </a:endParaRPr>
          </a:p>
          <a:p>
            <a:r>
              <a:rPr lang="en-US" b="1" dirty="0">
                <a:latin typeface="Consolas" panose="020B0609020204030204" pitchFamily="49" charset="0"/>
              </a:rPr>
              <a:t>Note : </a:t>
            </a:r>
            <a:r>
              <a:rPr lang="en-US" i="1" dirty="0">
                <a:latin typeface="Consolas" panose="020B0609020204030204" pitchFamily="49" charset="0"/>
              </a:rPr>
              <a:t>Due to Gemini API Rate limit constraints, 19 of 43 papers have been fully processed at the time of this presentation. The remaining 24 will be completed for the final submission</a:t>
            </a:r>
            <a:r>
              <a:rPr lang="en-US" dirty="0"/>
              <a:t>.</a:t>
            </a:r>
            <a:endParaRPr lang="en-US" b="1" dirty="0">
              <a:latin typeface="Consolas" panose="020B0609020204030204" pitchFamily="49" charset="0"/>
            </a:endParaRPr>
          </a:p>
        </p:txBody>
      </p:sp>
      <p:graphicFrame>
        <p:nvGraphicFramePr>
          <p:cNvPr id="11" name="Table 10">
            <a:extLst>
              <a:ext uri="{FF2B5EF4-FFF2-40B4-BE49-F238E27FC236}">
                <a16:creationId xmlns:a16="http://schemas.microsoft.com/office/drawing/2014/main" id="{B773DA82-2282-E08D-A875-FE69077FDFD6}"/>
              </a:ext>
            </a:extLst>
          </p:cNvPr>
          <p:cNvGraphicFramePr>
            <a:graphicFrameLocks noGrp="1"/>
          </p:cNvGraphicFramePr>
          <p:nvPr>
            <p:extLst>
              <p:ext uri="{D42A27DB-BD31-4B8C-83A1-F6EECF244321}">
                <p14:modId xmlns:p14="http://schemas.microsoft.com/office/powerpoint/2010/main" val="3853551395"/>
              </p:ext>
            </p:extLst>
          </p:nvPr>
        </p:nvGraphicFramePr>
        <p:xfrm>
          <a:off x="5273106" y="3387969"/>
          <a:ext cx="8229600" cy="3962400"/>
        </p:xfrm>
        <a:graphic>
          <a:graphicData uri="http://schemas.openxmlformats.org/drawingml/2006/table">
            <a:tbl>
              <a:tblPr/>
              <a:tblGrid>
                <a:gridCol w="4114800">
                  <a:extLst>
                    <a:ext uri="{9D8B030D-6E8A-4147-A177-3AD203B41FA5}">
                      <a16:colId xmlns:a16="http://schemas.microsoft.com/office/drawing/2014/main" val="414042724"/>
                    </a:ext>
                  </a:extLst>
                </a:gridCol>
                <a:gridCol w="4114800">
                  <a:extLst>
                    <a:ext uri="{9D8B030D-6E8A-4147-A177-3AD203B41FA5}">
                      <a16:colId xmlns:a16="http://schemas.microsoft.com/office/drawing/2014/main" val="3869112978"/>
                    </a:ext>
                  </a:extLst>
                </a:gridCol>
              </a:tblGrid>
              <a:tr h="0">
                <a:tc>
                  <a:txBody>
                    <a:bodyPr/>
                    <a:lstStyle/>
                    <a:p>
                      <a:pPr>
                        <a:buNone/>
                      </a:pPr>
                      <a:r>
                        <a:rPr lang="en-GB" sz="2000">
                          <a:latin typeface="Consolas" panose="020B0609020204030204" pitchFamily="49" charset="0"/>
                        </a:rPr>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125537"/>
                  </a:ext>
                </a:extLst>
              </a:tr>
              <a:tr h="0">
                <a:tc>
                  <a:txBody>
                    <a:bodyPr/>
                    <a:lstStyle/>
                    <a:p>
                      <a:pPr>
                        <a:buNone/>
                      </a:pPr>
                      <a:r>
                        <a:rPr lang="en-GB" sz="2000">
                          <a:latin typeface="Consolas" panose="020B0609020204030204" pitchFamily="49" charset="0"/>
                        </a:rPr>
                        <a:t>Total Papers Ingested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6446900"/>
                  </a:ext>
                </a:extLst>
              </a:tr>
              <a:tr h="0">
                <a:tc>
                  <a:txBody>
                    <a:bodyPr/>
                    <a:lstStyle/>
                    <a:p>
                      <a:pPr>
                        <a:buNone/>
                      </a:pPr>
                      <a:r>
                        <a:rPr lang="en-GB" sz="2000" dirty="0">
                          <a:latin typeface="Consolas" panose="020B0609020204030204" pitchFamily="49" charset="0"/>
                        </a:rPr>
                        <a:t>Papers Processed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7595600"/>
                  </a:ext>
                </a:extLst>
              </a:tr>
              <a:tr h="0">
                <a:tc>
                  <a:txBody>
                    <a:bodyPr/>
                    <a:lstStyle/>
                    <a:p>
                      <a:pPr>
                        <a:buNone/>
                      </a:pPr>
                      <a:r>
                        <a:rPr lang="en-GB" sz="2000">
                          <a:latin typeface="Consolas" panose="020B0609020204030204" pitchFamily="49" charset="0"/>
                        </a:rPr>
                        <a:t>Papers Pending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24 (API rate limit)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7003632"/>
                  </a:ext>
                </a:extLst>
              </a:tr>
              <a:tr h="0">
                <a:tc>
                  <a:txBody>
                    <a:bodyPr/>
                    <a:lstStyle/>
                    <a:p>
                      <a:pPr>
                        <a:buNone/>
                      </a:pPr>
                      <a:r>
                        <a:rPr lang="en-GB" sz="2000" dirty="0">
                          <a:latin typeface="Consolas" panose="020B0609020204030204" pitchFamily="49" charset="0"/>
                        </a:rPr>
                        <a:t>Total Interactions Extracted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6168116"/>
                  </a:ext>
                </a:extLst>
              </a:tr>
              <a:tr h="0">
                <a:tc>
                  <a:txBody>
                    <a:bodyPr/>
                    <a:lstStyle/>
                    <a:p>
                      <a:pPr>
                        <a:buNone/>
                      </a:pPr>
                      <a:r>
                        <a:rPr lang="en-GB" sz="2000">
                          <a:latin typeface="Consolas" panose="020B0609020204030204" pitchFamily="49" charset="0"/>
                        </a:rPr>
                        <a:t>ChEMBL Coverage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dirty="0">
                          <a:latin typeface="Consolas" panose="020B0609020204030204" pitchFamily="49" charset="0"/>
                        </a:rPr>
                        <a:t>95% (21/22)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0955505"/>
                  </a:ext>
                </a:extLst>
              </a:tr>
              <a:tr h="0">
                <a:tc>
                  <a:txBody>
                    <a:bodyPr/>
                    <a:lstStyle/>
                    <a:p>
                      <a:pPr>
                        <a:buNone/>
                      </a:pPr>
                      <a:r>
                        <a:rPr lang="en-GB" sz="2000">
                          <a:latin typeface="Consolas" panose="020B0609020204030204" pitchFamily="49" charset="0"/>
                        </a:rPr>
                        <a:t>Novel Discoveries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5% (1/22)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4205125"/>
                  </a:ext>
                </a:extLst>
              </a:tr>
              <a:tr h="0">
                <a:tc>
                  <a:txBody>
                    <a:bodyPr/>
                    <a:lstStyle/>
                    <a:p>
                      <a:pPr>
                        <a:buNone/>
                      </a:pPr>
                      <a:r>
                        <a:rPr lang="en-GB" sz="2000">
                          <a:latin typeface="Consolas" panose="020B0609020204030204" pitchFamily="49" charset="0"/>
                        </a:rPr>
                        <a:t>Conflict 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0% (0/22)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103146"/>
                  </a:ext>
                </a:extLst>
              </a:tr>
              <a:tr h="0">
                <a:tc>
                  <a:txBody>
                    <a:bodyPr/>
                    <a:lstStyle/>
                    <a:p>
                      <a:pPr>
                        <a:buNone/>
                      </a:pPr>
                      <a:r>
                        <a:rPr lang="en-GB" sz="2000">
                          <a:latin typeface="Consolas" panose="020B0609020204030204" pitchFamily="49" charset="0"/>
                        </a:rPr>
                        <a:t>Avg Abstract 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190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2727635"/>
                  </a:ext>
                </a:extLst>
              </a:tr>
              <a:tr h="0">
                <a:tc>
                  <a:txBody>
                    <a:bodyPr/>
                    <a:lstStyle/>
                    <a:p>
                      <a:pPr>
                        <a:buNone/>
                      </a:pPr>
                      <a:r>
                        <a:rPr lang="en-GB" sz="2000">
                          <a:latin typeface="Consolas" panose="020B0609020204030204" pitchFamily="49" charset="0"/>
                        </a:rPr>
                        <a:t>Avg Authors per Paper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dirty="0">
                          <a:latin typeface="Consolas" panose="020B0609020204030204" pitchFamily="49" charset="0"/>
                        </a:rPr>
                        <a:t>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5187982"/>
                  </a:ext>
                </a:extLst>
              </a:tr>
            </a:tbl>
          </a:graphicData>
        </a:graphic>
      </p:graphicFrame>
    </p:spTree>
    <p:extLst>
      <p:ext uri="{BB962C8B-B14F-4D97-AF65-F5344CB8AC3E}">
        <p14:creationId xmlns:p14="http://schemas.microsoft.com/office/powerpoint/2010/main" val="744361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0E249587-CAD6-5A16-450B-2EDD82A8C82D}"/>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4DBC8FC6-2EA3-5353-A239-4BA39E06B8B0}"/>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77110DC1-01DA-50FA-961C-F214EEDE6206}"/>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6ABBF759-705D-AE4B-7333-0DF09A295D2D}"/>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437A6348-677D-8E72-880B-6D995F7DEA0A}"/>
              </a:ext>
            </a:extLst>
          </p:cNvPr>
          <p:cNvGrpSpPr/>
          <p:nvPr/>
        </p:nvGrpSpPr>
        <p:grpSpPr>
          <a:xfrm>
            <a:off x="1249787" y="955302"/>
            <a:ext cx="16284006" cy="8376138"/>
            <a:chOff x="0" y="-47625"/>
            <a:chExt cx="5292307" cy="2722247"/>
          </a:xfrm>
        </p:grpSpPr>
        <p:sp>
          <p:nvSpPr>
            <p:cNvPr id="6" name="Freeform 6">
              <a:extLst>
                <a:ext uri="{FF2B5EF4-FFF2-40B4-BE49-F238E27FC236}">
                  <a16:creationId xmlns:a16="http://schemas.microsoft.com/office/drawing/2014/main" id="{9A61024D-166E-EC84-8AB1-2BFD83AEAF25}"/>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D9F9EBFD-46B6-40CD-0A31-0D0C50A6A78B}"/>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0A8E84C6-7515-BA30-BA30-277AFFF8BF91}"/>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EXPLORATORY DATA ANALYSIS</a:t>
            </a:r>
          </a:p>
        </p:txBody>
      </p:sp>
      <p:pic>
        <p:nvPicPr>
          <p:cNvPr id="2" name="Picture 1">
            <a:extLst>
              <a:ext uri="{FF2B5EF4-FFF2-40B4-BE49-F238E27FC236}">
                <a16:creationId xmlns:a16="http://schemas.microsoft.com/office/drawing/2014/main" id="{20F00E47-E7D9-1DA7-745E-820D277E39B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292396" y="1422356"/>
            <a:ext cx="1553526" cy="734389"/>
          </a:xfrm>
          <a:prstGeom prst="rect">
            <a:avLst/>
          </a:prstGeom>
        </p:spPr>
      </p:pic>
      <p:pic>
        <p:nvPicPr>
          <p:cNvPr id="8" name="Picture 7">
            <a:extLst>
              <a:ext uri="{FF2B5EF4-FFF2-40B4-BE49-F238E27FC236}">
                <a16:creationId xmlns:a16="http://schemas.microsoft.com/office/drawing/2014/main" id="{A039858F-1F8E-0F5A-DB64-7DA41F3483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93130" y="7238856"/>
            <a:ext cx="5477532" cy="4762500"/>
          </a:xfrm>
          <a:prstGeom prst="rect">
            <a:avLst/>
          </a:prstGeom>
        </p:spPr>
      </p:pic>
      <p:pic>
        <p:nvPicPr>
          <p:cNvPr id="9" name="Picture 8">
            <a:extLst>
              <a:ext uri="{FF2B5EF4-FFF2-40B4-BE49-F238E27FC236}">
                <a16:creationId xmlns:a16="http://schemas.microsoft.com/office/drawing/2014/main" id="{F5E47D3E-B28C-207A-81E8-2EB2AC7DAD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50369" y="7280910"/>
            <a:ext cx="5477532" cy="4762500"/>
          </a:xfrm>
          <a:prstGeom prst="rect">
            <a:avLst/>
          </a:prstGeom>
        </p:spPr>
      </p:pic>
      <p:sp>
        <p:nvSpPr>
          <p:cNvPr id="3" name="TextBox 2">
            <a:extLst>
              <a:ext uri="{FF2B5EF4-FFF2-40B4-BE49-F238E27FC236}">
                <a16:creationId xmlns:a16="http://schemas.microsoft.com/office/drawing/2014/main" id="{503EAA21-07EF-EAFA-3E33-9C26522BA460}"/>
              </a:ext>
            </a:extLst>
          </p:cNvPr>
          <p:cNvSpPr txBox="1"/>
          <p:nvPr/>
        </p:nvSpPr>
        <p:spPr>
          <a:xfrm>
            <a:off x="3810000" y="2139912"/>
            <a:ext cx="10972800" cy="830997"/>
          </a:xfrm>
          <a:prstGeom prst="rect">
            <a:avLst/>
          </a:prstGeom>
          <a:noFill/>
        </p:spPr>
        <p:txBody>
          <a:bodyPr wrap="square" rtlCol="0">
            <a:spAutoFit/>
          </a:bodyPr>
          <a:lstStyle/>
          <a:p>
            <a:r>
              <a:rPr lang="en-US" sz="2400" b="1" dirty="0">
                <a:latin typeface="Consolas" panose="020B0609020204030204" pitchFamily="49" charset="0"/>
              </a:rPr>
              <a:t>Charts and Graphs</a:t>
            </a:r>
          </a:p>
          <a:p>
            <a:endParaRPr lang="en-US" sz="2400" b="1" dirty="0">
              <a:latin typeface="Consolas" panose="020B0609020204030204" pitchFamily="49" charset="0"/>
            </a:endParaRPr>
          </a:p>
        </p:txBody>
      </p:sp>
      <p:pic>
        <p:nvPicPr>
          <p:cNvPr id="10" name="Picture 9">
            <a:extLst>
              <a:ext uri="{FF2B5EF4-FFF2-40B4-BE49-F238E27FC236}">
                <a16:creationId xmlns:a16="http://schemas.microsoft.com/office/drawing/2014/main" id="{DAF65A9C-0703-C35A-5B8D-CF5CBBB00A5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10008" y="3078629"/>
            <a:ext cx="7325460" cy="4516762"/>
          </a:xfrm>
          <a:prstGeom prst="rect">
            <a:avLst/>
          </a:prstGeom>
        </p:spPr>
      </p:pic>
      <p:pic>
        <p:nvPicPr>
          <p:cNvPr id="13" name="Picture 12">
            <a:extLst>
              <a:ext uri="{FF2B5EF4-FFF2-40B4-BE49-F238E27FC236}">
                <a16:creationId xmlns:a16="http://schemas.microsoft.com/office/drawing/2014/main" id="{1C1CDA3B-72BC-BBA1-1ADF-8EEE7B94670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9391790" y="3008147"/>
            <a:ext cx="7067409" cy="4244138"/>
          </a:xfrm>
          <a:prstGeom prst="rect">
            <a:avLst/>
          </a:prstGeom>
        </p:spPr>
      </p:pic>
    </p:spTree>
    <p:extLst>
      <p:ext uri="{BB962C8B-B14F-4D97-AF65-F5344CB8AC3E}">
        <p14:creationId xmlns:p14="http://schemas.microsoft.com/office/powerpoint/2010/main" val="802248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8EA7C94E-272C-7398-4900-A89519AE1F3A}"/>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88AFC963-DC23-8609-4CB3-2ADFA68D670D}"/>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9A724FDA-C94A-7EA1-863F-89BE205D6127}"/>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44042987-9331-6181-D0E1-B38A05F65964}"/>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5994B615-2E4D-0858-0A87-30ACC021B6D5}"/>
              </a:ext>
            </a:extLst>
          </p:cNvPr>
          <p:cNvGrpSpPr/>
          <p:nvPr/>
        </p:nvGrpSpPr>
        <p:grpSpPr>
          <a:xfrm>
            <a:off x="1219200" y="955431"/>
            <a:ext cx="16284006" cy="8376138"/>
            <a:chOff x="0" y="-47625"/>
            <a:chExt cx="5292307" cy="2722247"/>
          </a:xfrm>
        </p:grpSpPr>
        <p:sp>
          <p:nvSpPr>
            <p:cNvPr id="6" name="Freeform 6">
              <a:extLst>
                <a:ext uri="{FF2B5EF4-FFF2-40B4-BE49-F238E27FC236}">
                  <a16:creationId xmlns:a16="http://schemas.microsoft.com/office/drawing/2014/main" id="{9C24E510-35D0-FD39-F10E-94F5788F8624}"/>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12545675-95DF-0462-ECA9-4CCCD919E13D}"/>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C2E481C4-D101-3BDB-9707-196A20229E11}"/>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EXPLORATORY DATA ANALYSIS</a:t>
            </a:r>
          </a:p>
        </p:txBody>
      </p:sp>
      <p:pic>
        <p:nvPicPr>
          <p:cNvPr id="2" name="Picture 1">
            <a:extLst>
              <a:ext uri="{FF2B5EF4-FFF2-40B4-BE49-F238E27FC236}">
                <a16:creationId xmlns:a16="http://schemas.microsoft.com/office/drawing/2014/main" id="{EF56212B-D070-7F94-9E62-CB06E731BA6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292396" y="1422356"/>
            <a:ext cx="1553526" cy="734389"/>
          </a:xfrm>
          <a:prstGeom prst="rect">
            <a:avLst/>
          </a:prstGeom>
        </p:spPr>
      </p:pic>
      <p:pic>
        <p:nvPicPr>
          <p:cNvPr id="8" name="Picture 7">
            <a:extLst>
              <a:ext uri="{FF2B5EF4-FFF2-40B4-BE49-F238E27FC236}">
                <a16:creationId xmlns:a16="http://schemas.microsoft.com/office/drawing/2014/main" id="{55E8C4A3-0E06-7B83-6170-CF75C1F16B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93130" y="7238856"/>
            <a:ext cx="5477532" cy="4762500"/>
          </a:xfrm>
          <a:prstGeom prst="rect">
            <a:avLst/>
          </a:prstGeom>
        </p:spPr>
      </p:pic>
      <p:pic>
        <p:nvPicPr>
          <p:cNvPr id="9" name="Picture 8">
            <a:extLst>
              <a:ext uri="{FF2B5EF4-FFF2-40B4-BE49-F238E27FC236}">
                <a16:creationId xmlns:a16="http://schemas.microsoft.com/office/drawing/2014/main" id="{B62BB534-71F3-79FA-EF18-E6C656B407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50369" y="7280910"/>
            <a:ext cx="5477532" cy="4762500"/>
          </a:xfrm>
          <a:prstGeom prst="rect">
            <a:avLst/>
          </a:prstGeom>
        </p:spPr>
      </p:pic>
      <p:sp>
        <p:nvSpPr>
          <p:cNvPr id="3" name="TextBox 2">
            <a:extLst>
              <a:ext uri="{FF2B5EF4-FFF2-40B4-BE49-F238E27FC236}">
                <a16:creationId xmlns:a16="http://schemas.microsoft.com/office/drawing/2014/main" id="{FC994F43-1439-A5AB-F000-2563D1CDC367}"/>
              </a:ext>
            </a:extLst>
          </p:cNvPr>
          <p:cNvSpPr txBox="1"/>
          <p:nvPr/>
        </p:nvSpPr>
        <p:spPr>
          <a:xfrm>
            <a:off x="3810000" y="2139912"/>
            <a:ext cx="10972800" cy="830997"/>
          </a:xfrm>
          <a:prstGeom prst="rect">
            <a:avLst/>
          </a:prstGeom>
          <a:noFill/>
        </p:spPr>
        <p:txBody>
          <a:bodyPr wrap="square" rtlCol="0">
            <a:spAutoFit/>
          </a:bodyPr>
          <a:lstStyle/>
          <a:p>
            <a:r>
              <a:rPr lang="en-US" sz="2400" b="1" dirty="0">
                <a:latin typeface="Consolas" panose="020B0609020204030204" pitchFamily="49" charset="0"/>
              </a:rPr>
              <a:t>Charts and Graphs</a:t>
            </a:r>
          </a:p>
          <a:p>
            <a:endParaRPr lang="en-US" sz="2400" b="1" dirty="0">
              <a:latin typeface="Consolas" panose="020B0609020204030204" pitchFamily="49" charset="0"/>
            </a:endParaRPr>
          </a:p>
        </p:txBody>
      </p:sp>
      <p:pic>
        <p:nvPicPr>
          <p:cNvPr id="4" name="Picture 3">
            <a:extLst>
              <a:ext uri="{FF2B5EF4-FFF2-40B4-BE49-F238E27FC236}">
                <a16:creationId xmlns:a16="http://schemas.microsoft.com/office/drawing/2014/main" id="{BC0EBAA8-9801-05FF-E107-2AAEF602527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993836" y="3412832"/>
            <a:ext cx="7302564" cy="4290332"/>
          </a:xfrm>
          <a:prstGeom prst="rect">
            <a:avLst/>
          </a:prstGeom>
        </p:spPr>
      </p:pic>
      <p:pic>
        <p:nvPicPr>
          <p:cNvPr id="11" name="Picture 10">
            <a:extLst>
              <a:ext uri="{FF2B5EF4-FFF2-40B4-BE49-F238E27FC236}">
                <a16:creationId xmlns:a16="http://schemas.microsoft.com/office/drawing/2014/main" id="{8D89341D-9FA7-B219-C64B-B3AFDBA9576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9401458" y="2869662"/>
            <a:ext cx="7753802" cy="5098830"/>
          </a:xfrm>
          <a:prstGeom prst="rect">
            <a:avLst/>
          </a:prstGeom>
        </p:spPr>
      </p:pic>
    </p:spTree>
    <p:extLst>
      <p:ext uri="{BB962C8B-B14F-4D97-AF65-F5344CB8AC3E}">
        <p14:creationId xmlns:p14="http://schemas.microsoft.com/office/powerpoint/2010/main" val="2800588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1642FAE2-D17B-D1C9-8E1C-1D664AEC3B3D}"/>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7AB78FF4-D3E4-5440-AE0A-723555F8BF1C}"/>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0373CE6D-1EE3-AC8F-1A64-1F36164D8656}"/>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AC46D805-94FB-8136-B3B0-8B0C7CDA94E5}"/>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71E7DFEF-7F30-A439-201E-747BB2FE12C6}"/>
              </a:ext>
            </a:extLst>
          </p:cNvPr>
          <p:cNvGrpSpPr/>
          <p:nvPr/>
        </p:nvGrpSpPr>
        <p:grpSpPr>
          <a:xfrm>
            <a:off x="1219200" y="955431"/>
            <a:ext cx="16284006" cy="8376138"/>
            <a:chOff x="0" y="-47625"/>
            <a:chExt cx="5292307" cy="2722247"/>
          </a:xfrm>
        </p:grpSpPr>
        <p:sp>
          <p:nvSpPr>
            <p:cNvPr id="6" name="Freeform 6">
              <a:extLst>
                <a:ext uri="{FF2B5EF4-FFF2-40B4-BE49-F238E27FC236}">
                  <a16:creationId xmlns:a16="http://schemas.microsoft.com/office/drawing/2014/main" id="{8EF523F8-7D1C-FF58-DC19-FE29B7FEE8E3}"/>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9DE9B592-9918-AD98-45E6-FC5CDCEE23B1}"/>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73831067-1582-000A-EAB4-89BBB6D838E2}"/>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EXPLORATORY DATA ANALYSIS</a:t>
            </a:r>
          </a:p>
        </p:txBody>
      </p:sp>
      <p:pic>
        <p:nvPicPr>
          <p:cNvPr id="2" name="Picture 1">
            <a:extLst>
              <a:ext uri="{FF2B5EF4-FFF2-40B4-BE49-F238E27FC236}">
                <a16:creationId xmlns:a16="http://schemas.microsoft.com/office/drawing/2014/main" id="{103E1AB9-5220-D215-33E8-DB192C9A97B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292396" y="1422356"/>
            <a:ext cx="1553526" cy="734389"/>
          </a:xfrm>
          <a:prstGeom prst="rect">
            <a:avLst/>
          </a:prstGeom>
        </p:spPr>
      </p:pic>
      <p:pic>
        <p:nvPicPr>
          <p:cNvPr id="8" name="Picture 7">
            <a:extLst>
              <a:ext uri="{FF2B5EF4-FFF2-40B4-BE49-F238E27FC236}">
                <a16:creationId xmlns:a16="http://schemas.microsoft.com/office/drawing/2014/main" id="{8FD710C8-E77D-F716-6878-64971B7BA0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93130" y="7238856"/>
            <a:ext cx="5477532" cy="4762500"/>
          </a:xfrm>
          <a:prstGeom prst="rect">
            <a:avLst/>
          </a:prstGeom>
        </p:spPr>
      </p:pic>
      <p:pic>
        <p:nvPicPr>
          <p:cNvPr id="9" name="Picture 8">
            <a:extLst>
              <a:ext uri="{FF2B5EF4-FFF2-40B4-BE49-F238E27FC236}">
                <a16:creationId xmlns:a16="http://schemas.microsoft.com/office/drawing/2014/main" id="{CF14E885-7C45-DB17-F114-BEFB192336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50369" y="7280910"/>
            <a:ext cx="5477532" cy="4762500"/>
          </a:xfrm>
          <a:prstGeom prst="rect">
            <a:avLst/>
          </a:prstGeom>
        </p:spPr>
      </p:pic>
      <p:sp>
        <p:nvSpPr>
          <p:cNvPr id="3" name="TextBox 2">
            <a:extLst>
              <a:ext uri="{FF2B5EF4-FFF2-40B4-BE49-F238E27FC236}">
                <a16:creationId xmlns:a16="http://schemas.microsoft.com/office/drawing/2014/main" id="{4B962DD8-3A36-CF43-A0F0-0FEF4EB43D6B}"/>
              </a:ext>
            </a:extLst>
          </p:cNvPr>
          <p:cNvSpPr txBox="1"/>
          <p:nvPr/>
        </p:nvSpPr>
        <p:spPr>
          <a:xfrm>
            <a:off x="3784158" y="2131897"/>
            <a:ext cx="10972800" cy="7232749"/>
          </a:xfrm>
          <a:prstGeom prst="rect">
            <a:avLst/>
          </a:prstGeom>
          <a:noFill/>
        </p:spPr>
        <p:txBody>
          <a:bodyPr wrap="square" rtlCol="0">
            <a:spAutoFit/>
          </a:bodyPr>
          <a:lstStyle/>
          <a:p>
            <a:r>
              <a:rPr lang="en-US" sz="2400" b="1" dirty="0">
                <a:latin typeface="Consolas" panose="020B0609020204030204" pitchFamily="49" charset="0"/>
              </a:rPr>
              <a:t>Data Sources and How they compile into</a:t>
            </a:r>
          </a:p>
          <a:p>
            <a:endParaRPr lang="en-US" sz="2400" b="1" dirty="0">
              <a:latin typeface="Consolas" panose="020B0609020204030204" pitchFamily="49" charset="0"/>
            </a:endParaRPr>
          </a:p>
          <a:p>
            <a:endParaRPr lang="en-US" sz="2400" b="1" dirty="0">
              <a:latin typeface="Consolas" panose="020B0609020204030204" pitchFamily="49" charset="0"/>
            </a:endParaRPr>
          </a:p>
          <a:p>
            <a:endParaRPr lang="en-US" sz="2400" b="1" dirty="0">
              <a:latin typeface="Consolas" panose="020B0609020204030204" pitchFamily="49" charset="0"/>
            </a:endParaRPr>
          </a:p>
          <a:p>
            <a:endParaRPr lang="en-US" sz="2400" b="1" dirty="0">
              <a:latin typeface="Consolas" panose="020B0609020204030204" pitchFamily="49" charset="0"/>
            </a:endParaRPr>
          </a:p>
          <a:p>
            <a:endParaRPr lang="en-US" sz="2400" b="1" dirty="0">
              <a:latin typeface="Consolas" panose="020B0609020204030204" pitchFamily="49" charset="0"/>
            </a:endParaRPr>
          </a:p>
          <a:p>
            <a:endParaRPr lang="en-US" sz="2400" b="1" dirty="0">
              <a:latin typeface="Consolas" panose="020B0609020204030204" pitchFamily="49" charset="0"/>
            </a:endParaRPr>
          </a:p>
          <a:p>
            <a:endParaRPr lang="en-US" sz="2400" b="1" dirty="0">
              <a:latin typeface="Consolas" panose="020B0609020204030204" pitchFamily="49" charset="0"/>
            </a:endParaRPr>
          </a:p>
          <a:p>
            <a:endParaRPr lang="en-US" sz="2400" b="1" dirty="0">
              <a:latin typeface="Consolas" panose="020B0609020204030204" pitchFamily="49" charset="0"/>
            </a:endParaRPr>
          </a:p>
          <a:p>
            <a:endParaRPr lang="en-US" sz="2400" b="1" dirty="0">
              <a:latin typeface="Consolas" panose="020B0609020204030204" pitchFamily="49" charset="0"/>
            </a:endParaRPr>
          </a:p>
          <a:p>
            <a:endParaRPr lang="en-US" sz="2400" b="1" dirty="0">
              <a:latin typeface="Consolas" panose="020B0609020204030204" pitchFamily="49" charset="0"/>
            </a:endParaRPr>
          </a:p>
          <a:p>
            <a:endParaRPr lang="en-US" sz="2400" b="1" dirty="0">
              <a:latin typeface="Consolas" panose="020B0609020204030204" pitchFamily="49" charset="0"/>
            </a:endParaRPr>
          </a:p>
          <a:p>
            <a:endParaRPr lang="en-US" sz="2400" b="1" dirty="0">
              <a:latin typeface="Consolas" panose="020B0609020204030204" pitchFamily="49" charset="0"/>
            </a:endParaRPr>
          </a:p>
          <a:p>
            <a:r>
              <a:rPr lang="en-US" sz="2400" b="1" dirty="0">
                <a:latin typeface="Consolas" panose="020B0609020204030204" pitchFamily="49" charset="0"/>
              </a:rPr>
              <a:t>Why Gemini?</a:t>
            </a:r>
          </a:p>
          <a:p>
            <a:endParaRPr lang="en-US" sz="2000" b="1" dirty="0">
              <a:latin typeface="Consolas" panose="020B0609020204030204" pitchFamily="49" charset="0"/>
            </a:endParaRPr>
          </a:p>
          <a:p>
            <a:r>
              <a:rPr lang="en-US" sz="2000" dirty="0">
                <a:latin typeface="Consolas" panose="020B0609020204030204" pitchFamily="49" charset="0"/>
              </a:rPr>
              <a:t>Gemini 2.5-Flash was selected for its free tier API access via Google AI Studio, providing 5 RPM and 20 RPD without any cost — sufficient for our batch processing pipeline for testing the framework.</a:t>
            </a:r>
          </a:p>
          <a:p>
            <a:endParaRPr lang="en-US" sz="2400" b="1" dirty="0">
              <a:latin typeface="Consolas" panose="020B0609020204030204" pitchFamily="49" charset="0"/>
            </a:endParaRPr>
          </a:p>
          <a:p>
            <a:endParaRPr lang="en-US" sz="2400" b="1" dirty="0">
              <a:latin typeface="Consolas" panose="020B0609020204030204" pitchFamily="49" charset="0"/>
            </a:endParaRPr>
          </a:p>
        </p:txBody>
      </p:sp>
      <p:pic>
        <p:nvPicPr>
          <p:cNvPr id="11" name="Picture 10">
            <a:extLst>
              <a:ext uri="{FF2B5EF4-FFF2-40B4-BE49-F238E27FC236}">
                <a16:creationId xmlns:a16="http://schemas.microsoft.com/office/drawing/2014/main" id="{7F68873D-A50A-2E50-2747-CAB07490FAA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65183" y="2542372"/>
            <a:ext cx="10391775" cy="4829175"/>
          </a:xfrm>
          <a:prstGeom prst="rect">
            <a:avLst/>
          </a:prstGeom>
        </p:spPr>
      </p:pic>
    </p:spTree>
    <p:extLst>
      <p:ext uri="{BB962C8B-B14F-4D97-AF65-F5344CB8AC3E}">
        <p14:creationId xmlns:p14="http://schemas.microsoft.com/office/powerpoint/2010/main" val="2778478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F0173D2D-5B43-A452-6380-C5AA893C7B4D}"/>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1A344650-0034-5C68-439C-BEAF823EA872}"/>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E6707BEB-6AB6-6BEE-BB46-EF75B4374ABD}"/>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631D2713-5A96-E72F-E91F-2CD587A8947C}"/>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9DE6B69E-6DFA-0384-68D1-9333DF5B73A6}"/>
              </a:ext>
            </a:extLst>
          </p:cNvPr>
          <p:cNvGrpSpPr/>
          <p:nvPr/>
        </p:nvGrpSpPr>
        <p:grpSpPr>
          <a:xfrm>
            <a:off x="1219200" y="955431"/>
            <a:ext cx="16284006" cy="8376138"/>
            <a:chOff x="0" y="-47625"/>
            <a:chExt cx="5292307" cy="2722247"/>
          </a:xfrm>
        </p:grpSpPr>
        <p:sp>
          <p:nvSpPr>
            <p:cNvPr id="6" name="Freeform 6">
              <a:extLst>
                <a:ext uri="{FF2B5EF4-FFF2-40B4-BE49-F238E27FC236}">
                  <a16:creationId xmlns:a16="http://schemas.microsoft.com/office/drawing/2014/main" id="{0DC585F9-47DB-8BE5-3C71-F25DF89A1890}"/>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0225C71C-7A60-3754-19B5-E156DADCFA31}"/>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33D2E2CF-67D9-F194-94AA-C073A92A7EC5}"/>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EXPLORATORY DATA ANALYSIS</a:t>
            </a:r>
          </a:p>
        </p:txBody>
      </p:sp>
      <p:pic>
        <p:nvPicPr>
          <p:cNvPr id="2" name="Picture 1">
            <a:extLst>
              <a:ext uri="{FF2B5EF4-FFF2-40B4-BE49-F238E27FC236}">
                <a16:creationId xmlns:a16="http://schemas.microsoft.com/office/drawing/2014/main" id="{8BC8BF07-C757-05E8-5CB2-D8CEFDFC733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292396" y="1422356"/>
            <a:ext cx="1553526" cy="734389"/>
          </a:xfrm>
          <a:prstGeom prst="rect">
            <a:avLst/>
          </a:prstGeom>
        </p:spPr>
      </p:pic>
      <p:pic>
        <p:nvPicPr>
          <p:cNvPr id="8" name="Picture 7">
            <a:extLst>
              <a:ext uri="{FF2B5EF4-FFF2-40B4-BE49-F238E27FC236}">
                <a16:creationId xmlns:a16="http://schemas.microsoft.com/office/drawing/2014/main" id="{0F20A180-149E-D7A3-2AA5-C6A0A065F3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93130" y="7238856"/>
            <a:ext cx="5477532" cy="4762500"/>
          </a:xfrm>
          <a:prstGeom prst="rect">
            <a:avLst/>
          </a:prstGeom>
        </p:spPr>
      </p:pic>
      <p:pic>
        <p:nvPicPr>
          <p:cNvPr id="9" name="Picture 8">
            <a:extLst>
              <a:ext uri="{FF2B5EF4-FFF2-40B4-BE49-F238E27FC236}">
                <a16:creationId xmlns:a16="http://schemas.microsoft.com/office/drawing/2014/main" id="{6EFB4460-7C1C-65CB-9DCB-8E2EC69D93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50369" y="7280910"/>
            <a:ext cx="5477532" cy="4762500"/>
          </a:xfrm>
          <a:prstGeom prst="rect">
            <a:avLst/>
          </a:prstGeom>
        </p:spPr>
      </p:pic>
      <p:sp>
        <p:nvSpPr>
          <p:cNvPr id="3" name="TextBox 2">
            <a:extLst>
              <a:ext uri="{FF2B5EF4-FFF2-40B4-BE49-F238E27FC236}">
                <a16:creationId xmlns:a16="http://schemas.microsoft.com/office/drawing/2014/main" id="{F143B0DA-3002-4FFC-0420-A06A6881EDB5}"/>
              </a:ext>
            </a:extLst>
          </p:cNvPr>
          <p:cNvSpPr txBox="1"/>
          <p:nvPr/>
        </p:nvSpPr>
        <p:spPr>
          <a:xfrm>
            <a:off x="3351409" y="3096778"/>
            <a:ext cx="11507591" cy="5386090"/>
          </a:xfrm>
          <a:prstGeom prst="rect">
            <a:avLst/>
          </a:prstGeom>
          <a:noFill/>
        </p:spPr>
        <p:txBody>
          <a:bodyPr wrap="square" rtlCol="0">
            <a:spAutoFit/>
          </a:bodyPr>
          <a:lstStyle/>
          <a:p>
            <a:r>
              <a:rPr lang="en-GB" sz="2000" b="1" dirty="0">
                <a:latin typeface="Consolas" panose="020B0609020204030204" pitchFamily="49" charset="0"/>
              </a:rPr>
              <a:t>Example Input:</a:t>
            </a:r>
            <a:endParaRPr lang="en-GB" sz="2000" dirty="0">
              <a:latin typeface="Consolas" panose="020B0609020204030204" pitchFamily="49" charset="0"/>
            </a:endParaRPr>
          </a:p>
          <a:p>
            <a:pPr algn="just"/>
            <a:r>
              <a:rPr lang="en-GB" sz="2000" dirty="0">
                <a:latin typeface="Consolas" panose="020B0609020204030204" pitchFamily="49" charset="0"/>
              </a:rPr>
              <a:t>PMID: 41790714</a:t>
            </a:r>
          </a:p>
          <a:p>
            <a:pPr algn="just"/>
            <a:r>
              <a:rPr lang="en-GB" sz="2000" dirty="0">
                <a:latin typeface="Consolas" panose="020B0609020204030204" pitchFamily="49" charset="0"/>
              </a:rPr>
              <a:t>DOI: 10.1016/j.pharma.2024.12.003</a:t>
            </a:r>
          </a:p>
          <a:p>
            <a:pPr algn="just"/>
            <a:r>
              <a:rPr lang="en-GB" sz="2000" dirty="0">
                <a:latin typeface="Consolas" panose="020B0609020204030204" pitchFamily="49" charset="0"/>
              </a:rPr>
              <a:t>Title: "Warfarin and aspirin interaction mechanisms in atrial fibrillation"</a:t>
            </a:r>
          </a:p>
          <a:p>
            <a:pPr algn="just"/>
            <a:r>
              <a:rPr lang="en-GB" sz="2000" dirty="0">
                <a:latin typeface="Consolas" panose="020B0609020204030204" pitchFamily="49" charset="0"/>
              </a:rPr>
              <a:t>Abstract (186 words):</a:t>
            </a:r>
          </a:p>
          <a:p>
            <a:pPr algn="just"/>
            <a:r>
              <a:rPr lang="en-GB" sz="2000" dirty="0">
                <a:latin typeface="Consolas" panose="020B0609020204030204" pitchFamily="49" charset="0"/>
              </a:rPr>
              <a:t>“Background: Concurrent use of warfarin and aspirin remains controversial in atrial fibrillation patients. This study investigated the pharmacokinetic and pharmacodynamic interactions. Methods: We analysed 150 patients on dual therapy versus warfarin monotherapy. INR, bleeding events, and aspirin metabolism were monitored. Results: Aspirin significantly potentiated warfarin's anticoagulant effect, with 68% of dual therapy patients showing INR &gt;3.0 versus 22% in monotherapy (p&lt;0.001). Bleeding events were 2.3-fold higher in combination therapy (HR 2.31, 95% CI 1.45-3.67). Aspirin's COX-1 inhibition enhanced warfarin's vitamin K antagonism. Conclusion: The combination increases bleeding risk and requires careful INR monitoring. Dose adjustment recommended when initiating aspirin in warfarin-treated patients.”</a:t>
            </a:r>
          </a:p>
          <a:p>
            <a:endParaRPr lang="en-US" sz="2400" b="1" dirty="0">
              <a:latin typeface="Consolas" panose="020B0609020204030204" pitchFamily="49" charset="0"/>
            </a:endParaRPr>
          </a:p>
        </p:txBody>
      </p:sp>
      <p:sp>
        <p:nvSpPr>
          <p:cNvPr id="11" name="Arrow: Right 10">
            <a:extLst>
              <a:ext uri="{FF2B5EF4-FFF2-40B4-BE49-F238E27FC236}">
                <a16:creationId xmlns:a16="http://schemas.microsoft.com/office/drawing/2014/main" id="{98BF1F5C-7AD2-DE14-9339-DA729EF9B229}"/>
              </a:ext>
            </a:extLst>
          </p:cNvPr>
          <p:cNvSpPr/>
          <p:nvPr/>
        </p:nvSpPr>
        <p:spPr>
          <a:xfrm>
            <a:off x="4381985" y="2079167"/>
            <a:ext cx="361720" cy="2286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13" name="TextBox 12">
            <a:extLst>
              <a:ext uri="{FF2B5EF4-FFF2-40B4-BE49-F238E27FC236}">
                <a16:creationId xmlns:a16="http://schemas.microsoft.com/office/drawing/2014/main" id="{4B56DCB6-B1B3-0D90-312E-D44171A63C3A}"/>
              </a:ext>
            </a:extLst>
          </p:cNvPr>
          <p:cNvSpPr txBox="1"/>
          <p:nvPr/>
        </p:nvSpPr>
        <p:spPr>
          <a:xfrm>
            <a:off x="3351409" y="1959234"/>
            <a:ext cx="5486400" cy="830997"/>
          </a:xfrm>
          <a:prstGeom prst="rect">
            <a:avLst/>
          </a:prstGeom>
          <a:noFill/>
        </p:spPr>
        <p:txBody>
          <a:bodyPr wrap="square" rtlCol="0">
            <a:spAutoFit/>
          </a:bodyPr>
          <a:lstStyle/>
          <a:p>
            <a:r>
              <a:rPr lang="en-US" sz="2400" b="1" dirty="0">
                <a:latin typeface="Consolas" panose="020B0609020204030204" pitchFamily="49" charset="0"/>
              </a:rPr>
              <a:t>Input   Output transformation</a:t>
            </a:r>
          </a:p>
          <a:p>
            <a:endParaRPr lang="en-GB" sz="2400" dirty="0"/>
          </a:p>
        </p:txBody>
      </p:sp>
    </p:spTree>
    <p:extLst>
      <p:ext uri="{BB962C8B-B14F-4D97-AF65-F5344CB8AC3E}">
        <p14:creationId xmlns:p14="http://schemas.microsoft.com/office/powerpoint/2010/main" val="4246593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83BF30E2-D4E3-D8A8-4979-A563D58A1AF1}"/>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AEEC9B55-EC70-3CF3-75AC-3E2890048055}"/>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54775439-D93C-FEAD-9D06-00F76D1845D0}"/>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7F94DF70-B3D1-E89E-FAE0-186FED71CEAF}"/>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8690EF4F-47AB-C58E-0DD6-1E5B83F4736A}"/>
              </a:ext>
            </a:extLst>
          </p:cNvPr>
          <p:cNvGrpSpPr/>
          <p:nvPr/>
        </p:nvGrpSpPr>
        <p:grpSpPr>
          <a:xfrm>
            <a:off x="1219200" y="955431"/>
            <a:ext cx="16284006" cy="8376138"/>
            <a:chOff x="0" y="-47625"/>
            <a:chExt cx="5292307" cy="2722247"/>
          </a:xfrm>
        </p:grpSpPr>
        <p:sp>
          <p:nvSpPr>
            <p:cNvPr id="6" name="Freeform 6">
              <a:extLst>
                <a:ext uri="{FF2B5EF4-FFF2-40B4-BE49-F238E27FC236}">
                  <a16:creationId xmlns:a16="http://schemas.microsoft.com/office/drawing/2014/main" id="{D1F4DC64-DB55-C777-D56C-4C383C314357}"/>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77E6A1C7-040F-4AA6-CACC-E95FE6692D90}"/>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1841CACD-7642-E86A-F37A-DB276A27BE01}"/>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EXPLORATORY DATA ANALYSIS</a:t>
            </a:r>
          </a:p>
        </p:txBody>
      </p:sp>
      <p:pic>
        <p:nvPicPr>
          <p:cNvPr id="2" name="Picture 1">
            <a:extLst>
              <a:ext uri="{FF2B5EF4-FFF2-40B4-BE49-F238E27FC236}">
                <a16:creationId xmlns:a16="http://schemas.microsoft.com/office/drawing/2014/main" id="{10A2C965-F219-6936-3FD6-BA6252BBEEC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292396" y="1422356"/>
            <a:ext cx="1553526" cy="734389"/>
          </a:xfrm>
          <a:prstGeom prst="rect">
            <a:avLst/>
          </a:prstGeom>
        </p:spPr>
      </p:pic>
      <p:pic>
        <p:nvPicPr>
          <p:cNvPr id="8" name="Picture 7">
            <a:extLst>
              <a:ext uri="{FF2B5EF4-FFF2-40B4-BE49-F238E27FC236}">
                <a16:creationId xmlns:a16="http://schemas.microsoft.com/office/drawing/2014/main" id="{0CE0528C-86CA-3ED2-CDE7-89989C1AB7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93130" y="7238856"/>
            <a:ext cx="5477532" cy="4762500"/>
          </a:xfrm>
          <a:prstGeom prst="rect">
            <a:avLst/>
          </a:prstGeom>
        </p:spPr>
      </p:pic>
      <p:pic>
        <p:nvPicPr>
          <p:cNvPr id="9" name="Picture 8">
            <a:extLst>
              <a:ext uri="{FF2B5EF4-FFF2-40B4-BE49-F238E27FC236}">
                <a16:creationId xmlns:a16="http://schemas.microsoft.com/office/drawing/2014/main" id="{9070CDAA-7389-291E-5BD2-94F5B22CE6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50369" y="7280910"/>
            <a:ext cx="5477532" cy="4762500"/>
          </a:xfrm>
          <a:prstGeom prst="rect">
            <a:avLst/>
          </a:prstGeom>
        </p:spPr>
      </p:pic>
      <p:sp>
        <p:nvSpPr>
          <p:cNvPr id="3" name="TextBox 2">
            <a:extLst>
              <a:ext uri="{FF2B5EF4-FFF2-40B4-BE49-F238E27FC236}">
                <a16:creationId xmlns:a16="http://schemas.microsoft.com/office/drawing/2014/main" id="{E3CDE1BE-595A-4309-D811-366ED727DDF8}"/>
              </a:ext>
            </a:extLst>
          </p:cNvPr>
          <p:cNvSpPr txBox="1"/>
          <p:nvPr/>
        </p:nvSpPr>
        <p:spPr>
          <a:xfrm>
            <a:off x="1371601" y="3096778"/>
            <a:ext cx="7678687" cy="5632311"/>
          </a:xfrm>
          <a:prstGeom prst="rect">
            <a:avLst/>
          </a:prstGeom>
          <a:noFill/>
        </p:spPr>
        <p:txBody>
          <a:bodyPr wrap="square" rtlCol="0">
            <a:spAutoFit/>
          </a:bodyPr>
          <a:lstStyle/>
          <a:p>
            <a:r>
              <a:rPr lang="en-US" sz="2000" b="1" dirty="0">
                <a:latin typeface="Consolas" panose="020B0609020204030204" pitchFamily="49" charset="0"/>
              </a:rPr>
              <a:t>Extraction Output (From Gemini):</a:t>
            </a:r>
          </a:p>
          <a:p>
            <a:r>
              <a:rPr lang="en-US" sz="2000" dirty="0" err="1">
                <a:latin typeface="Consolas" panose="020B0609020204030204" pitchFamily="49" charset="0"/>
              </a:rPr>
              <a:t>json</a:t>
            </a:r>
            <a:endParaRPr lang="en-US" sz="2000" dirty="0">
              <a:latin typeface="Consolas" panose="020B0609020204030204" pitchFamily="49" charset="0"/>
            </a:endParaRPr>
          </a:p>
          <a:p>
            <a:r>
              <a:rPr lang="en-US" sz="2000" dirty="0">
                <a:latin typeface="Consolas" panose="020B0609020204030204" pitchFamily="49" charset="0"/>
              </a:rPr>
              <a:t>{</a:t>
            </a:r>
          </a:p>
          <a:p>
            <a:r>
              <a:rPr lang="en-US" sz="2000" dirty="0">
                <a:latin typeface="Consolas" panose="020B0609020204030204" pitchFamily="49" charset="0"/>
              </a:rPr>
              <a:t>  "interactions": [</a:t>
            </a:r>
          </a:p>
          <a:p>
            <a:r>
              <a:rPr lang="en-US" sz="2000" dirty="0">
                <a:latin typeface="Consolas" panose="020B0609020204030204" pitchFamily="49" charset="0"/>
              </a:rPr>
              <a:t>    {</a:t>
            </a:r>
          </a:p>
          <a:p>
            <a:r>
              <a:rPr lang="en-US" sz="2000" dirty="0">
                <a:latin typeface="Consolas" panose="020B0609020204030204" pitchFamily="49" charset="0"/>
              </a:rPr>
              <a:t>      "</a:t>
            </a:r>
            <a:r>
              <a:rPr lang="en-US" sz="2000" dirty="0" err="1">
                <a:latin typeface="Consolas" panose="020B0609020204030204" pitchFamily="49" charset="0"/>
              </a:rPr>
              <a:t>drug_a</a:t>
            </a:r>
            <a:r>
              <a:rPr lang="en-US" sz="2000" dirty="0">
                <a:latin typeface="Consolas" panose="020B0609020204030204" pitchFamily="49" charset="0"/>
              </a:rPr>
              <a:t>": "Aspirin",</a:t>
            </a:r>
          </a:p>
          <a:p>
            <a:r>
              <a:rPr lang="en-US" sz="2000" dirty="0">
                <a:latin typeface="Consolas" panose="020B0609020204030204" pitchFamily="49" charset="0"/>
              </a:rPr>
              <a:t>      "</a:t>
            </a:r>
            <a:r>
              <a:rPr lang="en-US" sz="2000" dirty="0" err="1">
                <a:latin typeface="Consolas" panose="020B0609020204030204" pitchFamily="49" charset="0"/>
              </a:rPr>
              <a:t>drug_b</a:t>
            </a:r>
            <a:r>
              <a:rPr lang="en-US" sz="2000" dirty="0">
                <a:latin typeface="Consolas" panose="020B0609020204030204" pitchFamily="49" charset="0"/>
              </a:rPr>
              <a:t>": "Warfarin",</a:t>
            </a:r>
          </a:p>
          <a:p>
            <a:r>
              <a:rPr lang="en-US" sz="2000" dirty="0">
                <a:latin typeface="Consolas" panose="020B0609020204030204" pitchFamily="49" charset="0"/>
              </a:rPr>
              <a:t>      "</a:t>
            </a:r>
            <a:r>
              <a:rPr lang="en-US" sz="2000" dirty="0" err="1">
                <a:latin typeface="Consolas" panose="020B0609020204030204" pitchFamily="49" charset="0"/>
              </a:rPr>
              <a:t>interaction_type</a:t>
            </a:r>
            <a:r>
              <a:rPr lang="en-US" sz="2000" dirty="0">
                <a:latin typeface="Consolas" panose="020B0609020204030204" pitchFamily="49" charset="0"/>
              </a:rPr>
              <a:t>": "Potentiates",</a:t>
            </a:r>
          </a:p>
          <a:p>
            <a:r>
              <a:rPr lang="en-US" sz="2000" dirty="0">
                <a:latin typeface="Consolas" panose="020B0609020204030204" pitchFamily="49" charset="0"/>
              </a:rPr>
              <a:t>      "</a:t>
            </a:r>
            <a:r>
              <a:rPr lang="en-US" sz="2000" dirty="0" err="1">
                <a:latin typeface="Consolas" panose="020B0609020204030204" pitchFamily="49" charset="0"/>
              </a:rPr>
              <a:t>evidence_text</a:t>
            </a:r>
            <a:r>
              <a:rPr lang="en-US" sz="2000" dirty="0">
                <a:latin typeface="Consolas" panose="020B0609020204030204" pitchFamily="49" charset="0"/>
              </a:rPr>
              <a:t>": "Aspirin significantly potentiated warfarin's anticoagulant effect, with 68% of dual therapy patients showing INR &gt;3.0",</a:t>
            </a:r>
          </a:p>
          <a:p>
            <a:r>
              <a:rPr lang="en-US" sz="2000" dirty="0">
                <a:latin typeface="Consolas" panose="020B0609020204030204" pitchFamily="49" charset="0"/>
              </a:rPr>
              <a:t>      "confidence": 0.95</a:t>
            </a:r>
          </a:p>
          <a:p>
            <a:r>
              <a:rPr lang="en-US" sz="2000" dirty="0">
                <a:latin typeface="Consolas" panose="020B0609020204030204" pitchFamily="49" charset="0"/>
              </a:rPr>
              <a:t>    }</a:t>
            </a:r>
          </a:p>
          <a:p>
            <a:r>
              <a:rPr lang="en-US" sz="2000" dirty="0">
                <a:latin typeface="Consolas" panose="020B0609020204030204" pitchFamily="49" charset="0"/>
              </a:rPr>
              <a:t>  ],</a:t>
            </a:r>
          </a:p>
          <a:p>
            <a:r>
              <a:rPr lang="en-US" sz="2000" dirty="0">
                <a:latin typeface="Consolas" panose="020B0609020204030204" pitchFamily="49" charset="0"/>
              </a:rPr>
              <a:t>  "</a:t>
            </a:r>
            <a:r>
              <a:rPr lang="en-US" sz="2000" dirty="0" err="1">
                <a:latin typeface="Consolas" panose="020B0609020204030204" pitchFamily="49" charset="0"/>
              </a:rPr>
              <a:t>source_doi</a:t>
            </a:r>
            <a:r>
              <a:rPr lang="en-US" sz="2000" dirty="0">
                <a:latin typeface="Consolas" panose="020B0609020204030204" pitchFamily="49" charset="0"/>
              </a:rPr>
              <a:t>": "10.1016/j.pharma.2024.12.003",</a:t>
            </a:r>
          </a:p>
          <a:p>
            <a:r>
              <a:rPr lang="en-US" sz="2000" dirty="0">
                <a:latin typeface="Consolas" panose="020B0609020204030204" pitchFamily="49" charset="0"/>
              </a:rPr>
              <a:t>  "</a:t>
            </a:r>
            <a:r>
              <a:rPr lang="en-US" sz="2000" dirty="0" err="1">
                <a:latin typeface="Consolas" panose="020B0609020204030204" pitchFamily="49" charset="0"/>
              </a:rPr>
              <a:t>extraction_notes</a:t>
            </a:r>
            <a:r>
              <a:rPr lang="en-US" sz="2000" dirty="0">
                <a:latin typeface="Consolas" panose="020B0609020204030204" pitchFamily="49" charset="0"/>
              </a:rPr>
              <a:t>": "Found 1 high-confidence interaction with clinical evidence"</a:t>
            </a:r>
          </a:p>
          <a:p>
            <a:r>
              <a:rPr lang="en-US" sz="2000" dirty="0">
                <a:latin typeface="Consolas" panose="020B0609020204030204" pitchFamily="49" charset="0"/>
              </a:rPr>
              <a:t>}</a:t>
            </a:r>
          </a:p>
        </p:txBody>
      </p:sp>
      <p:sp>
        <p:nvSpPr>
          <p:cNvPr id="11" name="Arrow: Right 10">
            <a:extLst>
              <a:ext uri="{FF2B5EF4-FFF2-40B4-BE49-F238E27FC236}">
                <a16:creationId xmlns:a16="http://schemas.microsoft.com/office/drawing/2014/main" id="{64465180-E1FC-BB66-1D72-EADE1ED683FA}"/>
              </a:ext>
            </a:extLst>
          </p:cNvPr>
          <p:cNvSpPr/>
          <p:nvPr/>
        </p:nvSpPr>
        <p:spPr>
          <a:xfrm>
            <a:off x="4381985" y="2079167"/>
            <a:ext cx="361720" cy="2286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dirty="0"/>
          </a:p>
        </p:txBody>
      </p:sp>
      <p:sp>
        <p:nvSpPr>
          <p:cNvPr id="13" name="TextBox 12">
            <a:extLst>
              <a:ext uri="{FF2B5EF4-FFF2-40B4-BE49-F238E27FC236}">
                <a16:creationId xmlns:a16="http://schemas.microsoft.com/office/drawing/2014/main" id="{B52DC1AA-130C-D5FE-A51F-E78C58D4BA5F}"/>
              </a:ext>
            </a:extLst>
          </p:cNvPr>
          <p:cNvSpPr txBox="1"/>
          <p:nvPr/>
        </p:nvSpPr>
        <p:spPr>
          <a:xfrm>
            <a:off x="3351409" y="1959234"/>
            <a:ext cx="5486400" cy="830997"/>
          </a:xfrm>
          <a:prstGeom prst="rect">
            <a:avLst/>
          </a:prstGeom>
          <a:noFill/>
        </p:spPr>
        <p:txBody>
          <a:bodyPr wrap="square" rtlCol="0">
            <a:spAutoFit/>
          </a:bodyPr>
          <a:lstStyle/>
          <a:p>
            <a:r>
              <a:rPr lang="en-US" sz="2400" b="1" dirty="0">
                <a:latin typeface="Consolas" panose="020B0609020204030204" pitchFamily="49" charset="0"/>
              </a:rPr>
              <a:t>Input   Output transformation</a:t>
            </a:r>
          </a:p>
          <a:p>
            <a:endParaRPr lang="en-GB" sz="2400" dirty="0"/>
          </a:p>
        </p:txBody>
      </p:sp>
      <p:sp>
        <p:nvSpPr>
          <p:cNvPr id="4" name="TextBox 3">
            <a:extLst>
              <a:ext uri="{FF2B5EF4-FFF2-40B4-BE49-F238E27FC236}">
                <a16:creationId xmlns:a16="http://schemas.microsoft.com/office/drawing/2014/main" id="{A1BA813B-C29A-A15C-117C-58C946DC14ED}"/>
              </a:ext>
            </a:extLst>
          </p:cNvPr>
          <p:cNvSpPr txBox="1"/>
          <p:nvPr/>
        </p:nvSpPr>
        <p:spPr>
          <a:xfrm>
            <a:off x="9450191" y="2977515"/>
            <a:ext cx="7950961" cy="5940088"/>
          </a:xfrm>
          <a:prstGeom prst="rect">
            <a:avLst/>
          </a:prstGeom>
          <a:noFill/>
        </p:spPr>
        <p:txBody>
          <a:bodyPr wrap="square" rtlCol="0">
            <a:spAutoFit/>
          </a:bodyPr>
          <a:lstStyle/>
          <a:p>
            <a:r>
              <a:rPr lang="en-US" sz="2000" b="1" dirty="0">
                <a:latin typeface="Consolas" panose="020B0609020204030204" pitchFamily="49" charset="0"/>
              </a:rPr>
              <a:t>Neo4j Storage (After Validation):</a:t>
            </a:r>
          </a:p>
          <a:p>
            <a:r>
              <a:rPr lang="en-US" sz="1200" dirty="0">
                <a:latin typeface="Consolas" panose="020B0609020204030204" pitchFamily="49" charset="0"/>
              </a:rPr>
              <a:t>Query to retrieve:</a:t>
            </a:r>
          </a:p>
          <a:p>
            <a:r>
              <a:rPr lang="en-US" sz="1200" dirty="0">
                <a:latin typeface="Consolas" panose="020B0609020204030204" pitchFamily="49" charset="0"/>
              </a:rPr>
              <a:t>cypher</a:t>
            </a:r>
          </a:p>
          <a:p>
            <a:r>
              <a:rPr lang="en-US" sz="1200" dirty="0">
                <a:latin typeface="Consolas" panose="020B0609020204030204" pitchFamily="49" charset="0"/>
              </a:rPr>
              <a:t>MATCH (d1:Drug {name: "Aspirin"})-[</a:t>
            </a:r>
            <a:r>
              <a:rPr lang="en-US" sz="1200" dirty="0" err="1">
                <a:latin typeface="Consolas" panose="020B0609020204030204" pitchFamily="49" charset="0"/>
              </a:rPr>
              <a:t>r:INTERACTS_WITH</a:t>
            </a:r>
            <a:r>
              <a:rPr lang="en-US" sz="1200" dirty="0">
                <a:latin typeface="Consolas" panose="020B0609020204030204" pitchFamily="49" charset="0"/>
              </a:rPr>
              <a:t>]-&gt;(d2:Drug {name: "Warfarin"})</a:t>
            </a:r>
          </a:p>
          <a:p>
            <a:r>
              <a:rPr lang="en-US" sz="1200" dirty="0">
                <a:latin typeface="Consolas" panose="020B0609020204030204" pitchFamily="49" charset="0"/>
              </a:rPr>
              <a:t>WHERE </a:t>
            </a:r>
            <a:r>
              <a:rPr lang="en-US" sz="1200" dirty="0" err="1">
                <a:latin typeface="Consolas" panose="020B0609020204030204" pitchFamily="49" charset="0"/>
              </a:rPr>
              <a:t>r.source_doi</a:t>
            </a:r>
            <a:r>
              <a:rPr lang="en-US" sz="1200" dirty="0">
                <a:latin typeface="Consolas" panose="020B0609020204030204" pitchFamily="49" charset="0"/>
              </a:rPr>
              <a:t> = "10.1016/j.pharma.2024.12.003"</a:t>
            </a:r>
          </a:p>
          <a:p>
            <a:r>
              <a:rPr lang="en-US" sz="1200" dirty="0">
                <a:latin typeface="Consolas" panose="020B0609020204030204" pitchFamily="49" charset="0"/>
              </a:rPr>
              <a:t>RETURN d1, r, d2</a:t>
            </a:r>
          </a:p>
          <a:p>
            <a:endParaRPr lang="en-US" sz="1200" dirty="0">
              <a:latin typeface="Consolas" panose="020B0609020204030204" pitchFamily="49" charset="0"/>
            </a:endParaRPr>
          </a:p>
          <a:p>
            <a:r>
              <a:rPr lang="en-US" sz="1200" dirty="0">
                <a:latin typeface="Consolas" panose="020B0609020204030204" pitchFamily="49" charset="0"/>
              </a:rPr>
              <a:t>Result:</a:t>
            </a:r>
          </a:p>
          <a:p>
            <a:r>
              <a:rPr lang="en-US" sz="1200" dirty="0" err="1">
                <a:latin typeface="Consolas" panose="020B0609020204030204" pitchFamily="49" charset="0"/>
              </a:rPr>
              <a:t>json</a:t>
            </a:r>
            <a:endParaRPr lang="en-US" sz="1200" dirty="0">
              <a:latin typeface="Consolas" panose="020B0609020204030204" pitchFamily="49" charset="0"/>
            </a:endParaRPr>
          </a:p>
          <a:p>
            <a:r>
              <a:rPr lang="en-US" sz="1200" dirty="0">
                <a:latin typeface="Consolas" panose="020B0609020204030204" pitchFamily="49" charset="0"/>
              </a:rPr>
              <a:t>{</a:t>
            </a:r>
          </a:p>
          <a:p>
            <a:r>
              <a:rPr lang="en-US" sz="1200" dirty="0">
                <a:latin typeface="Consolas" panose="020B0609020204030204" pitchFamily="49" charset="0"/>
              </a:rPr>
              <a:t>  "</a:t>
            </a:r>
            <a:r>
              <a:rPr lang="en-US" sz="1200" dirty="0" err="1">
                <a:latin typeface="Consolas" panose="020B0609020204030204" pitchFamily="49" charset="0"/>
              </a:rPr>
              <a:t>drug_a</a:t>
            </a:r>
            <a:r>
              <a:rPr lang="en-US" sz="1200" dirty="0">
                <a:latin typeface="Consolas" panose="020B0609020204030204" pitchFamily="49" charset="0"/>
              </a:rPr>
              <a:t>": {</a:t>
            </a:r>
          </a:p>
          <a:p>
            <a:r>
              <a:rPr lang="en-US" sz="1200" dirty="0">
                <a:latin typeface="Consolas" panose="020B0609020204030204" pitchFamily="49" charset="0"/>
              </a:rPr>
              <a:t>    "name": "Aspirin",</a:t>
            </a:r>
          </a:p>
          <a:p>
            <a:r>
              <a:rPr lang="en-US" sz="1200" dirty="0">
                <a:latin typeface="Consolas" panose="020B0609020204030204" pitchFamily="49" charset="0"/>
              </a:rPr>
              <a:t>    "</a:t>
            </a:r>
            <a:r>
              <a:rPr lang="en-US" sz="1200" dirty="0" err="1">
                <a:latin typeface="Consolas" panose="020B0609020204030204" pitchFamily="49" charset="0"/>
              </a:rPr>
              <a:t>chembl_validated</a:t>
            </a:r>
            <a:r>
              <a:rPr lang="en-US" sz="1200" dirty="0">
                <a:latin typeface="Consolas" panose="020B0609020204030204" pitchFamily="49" charset="0"/>
              </a:rPr>
              <a:t>": true,</a:t>
            </a:r>
          </a:p>
          <a:p>
            <a:r>
              <a:rPr lang="en-US" sz="1200" dirty="0">
                <a:latin typeface="Consolas" panose="020B0609020204030204" pitchFamily="49" charset="0"/>
              </a:rPr>
              <a:t>    "</a:t>
            </a:r>
            <a:r>
              <a:rPr lang="en-US" sz="1200" dirty="0" err="1">
                <a:latin typeface="Consolas" panose="020B0609020204030204" pitchFamily="49" charset="0"/>
              </a:rPr>
              <a:t>chembl_id</a:t>
            </a:r>
            <a:r>
              <a:rPr lang="en-US" sz="1200" dirty="0">
                <a:latin typeface="Consolas" panose="020B0609020204030204" pitchFamily="49" charset="0"/>
              </a:rPr>
              <a:t>": "CHEMBL25"</a:t>
            </a:r>
          </a:p>
          <a:p>
            <a:r>
              <a:rPr lang="en-US" sz="1200" dirty="0">
                <a:latin typeface="Consolas" panose="020B0609020204030204" pitchFamily="49" charset="0"/>
              </a:rPr>
              <a:t>  },</a:t>
            </a:r>
          </a:p>
          <a:p>
            <a:r>
              <a:rPr lang="en-US" sz="1200" dirty="0">
                <a:latin typeface="Consolas" panose="020B0609020204030204" pitchFamily="49" charset="0"/>
              </a:rPr>
              <a:t>  "interaction": {</a:t>
            </a:r>
          </a:p>
          <a:p>
            <a:r>
              <a:rPr lang="en-US" sz="1200" dirty="0">
                <a:latin typeface="Consolas" panose="020B0609020204030204" pitchFamily="49" charset="0"/>
              </a:rPr>
              <a:t>    "</a:t>
            </a:r>
            <a:r>
              <a:rPr lang="en-US" sz="1200" dirty="0" err="1">
                <a:latin typeface="Consolas" panose="020B0609020204030204" pitchFamily="49" charset="0"/>
              </a:rPr>
              <a:t>interaction_type</a:t>
            </a:r>
            <a:r>
              <a:rPr lang="en-US" sz="1200" dirty="0">
                <a:latin typeface="Consolas" panose="020B0609020204030204" pitchFamily="49" charset="0"/>
              </a:rPr>
              <a:t>": "Potentiates",</a:t>
            </a:r>
          </a:p>
          <a:p>
            <a:r>
              <a:rPr lang="en-US" sz="1200" dirty="0">
                <a:latin typeface="Consolas" panose="020B0609020204030204" pitchFamily="49" charset="0"/>
              </a:rPr>
              <a:t>    "</a:t>
            </a:r>
            <a:r>
              <a:rPr lang="en-US" sz="1200" dirty="0" err="1">
                <a:latin typeface="Consolas" panose="020B0609020204030204" pitchFamily="49" charset="0"/>
              </a:rPr>
              <a:t>evidence_text</a:t>
            </a:r>
            <a:r>
              <a:rPr lang="en-US" sz="1200" dirty="0">
                <a:latin typeface="Consolas" panose="020B0609020204030204" pitchFamily="49" charset="0"/>
              </a:rPr>
              <a:t>": "Aspirin significantly potentiated warfarin's anticoagulant effect...",</a:t>
            </a:r>
          </a:p>
          <a:p>
            <a:r>
              <a:rPr lang="en-US" sz="1200" dirty="0">
                <a:latin typeface="Consolas" panose="020B0609020204030204" pitchFamily="49" charset="0"/>
              </a:rPr>
              <a:t>    "</a:t>
            </a:r>
            <a:r>
              <a:rPr lang="en-US" sz="1200" dirty="0" err="1">
                <a:latin typeface="Consolas" panose="020B0609020204030204" pitchFamily="49" charset="0"/>
              </a:rPr>
              <a:t>source_doi</a:t>
            </a:r>
            <a:r>
              <a:rPr lang="en-US" sz="1200" dirty="0">
                <a:latin typeface="Consolas" panose="020B0609020204030204" pitchFamily="49" charset="0"/>
              </a:rPr>
              <a:t>": "10.1016/j.pharma.2024.12.003",</a:t>
            </a:r>
          </a:p>
          <a:p>
            <a:r>
              <a:rPr lang="en-US" sz="1200" dirty="0">
                <a:latin typeface="Consolas" panose="020B0609020204030204" pitchFamily="49" charset="0"/>
              </a:rPr>
              <a:t>    "</a:t>
            </a:r>
            <a:r>
              <a:rPr lang="en-US" sz="1200" dirty="0" err="1">
                <a:latin typeface="Consolas" panose="020B0609020204030204" pitchFamily="49" charset="0"/>
              </a:rPr>
              <a:t>validation_status</a:t>
            </a:r>
            <a:r>
              <a:rPr lang="en-US" sz="1200" dirty="0">
                <a:latin typeface="Consolas" panose="020B0609020204030204" pitchFamily="49" charset="0"/>
              </a:rPr>
              <a:t>": "validated",</a:t>
            </a:r>
          </a:p>
          <a:p>
            <a:r>
              <a:rPr lang="en-US" sz="1200" dirty="0">
                <a:latin typeface="Consolas" panose="020B0609020204030204" pitchFamily="49" charset="0"/>
              </a:rPr>
              <a:t>    "</a:t>
            </a:r>
            <a:r>
              <a:rPr lang="en-US" sz="1200" dirty="0" err="1">
                <a:latin typeface="Consolas" panose="020B0609020204030204" pitchFamily="49" charset="0"/>
              </a:rPr>
              <a:t>chembl_validated</a:t>
            </a:r>
            <a:r>
              <a:rPr lang="en-US" sz="1200" dirty="0">
                <a:latin typeface="Consolas" panose="020B0609020204030204" pitchFamily="49" charset="0"/>
              </a:rPr>
              <a:t>": true,</a:t>
            </a:r>
          </a:p>
          <a:p>
            <a:r>
              <a:rPr lang="en-US" sz="1200" dirty="0">
                <a:latin typeface="Consolas" panose="020B0609020204030204" pitchFamily="49" charset="0"/>
              </a:rPr>
              <a:t>    "</a:t>
            </a:r>
            <a:r>
              <a:rPr lang="en-US" sz="1200" dirty="0" err="1">
                <a:latin typeface="Consolas" panose="020B0609020204030204" pitchFamily="49" charset="0"/>
              </a:rPr>
              <a:t>conflict_detected</a:t>
            </a:r>
            <a:r>
              <a:rPr lang="en-US" sz="1200" dirty="0">
                <a:latin typeface="Consolas" panose="020B0609020204030204" pitchFamily="49" charset="0"/>
              </a:rPr>
              <a:t>": false,</a:t>
            </a:r>
          </a:p>
          <a:p>
            <a:r>
              <a:rPr lang="en-US" sz="1200" dirty="0">
                <a:latin typeface="Consolas" panose="020B0609020204030204" pitchFamily="49" charset="0"/>
              </a:rPr>
              <a:t>    "</a:t>
            </a:r>
            <a:r>
              <a:rPr lang="en-US" sz="1200" dirty="0" err="1">
                <a:latin typeface="Consolas" panose="020B0609020204030204" pitchFamily="49" charset="0"/>
              </a:rPr>
              <a:t>potential_discovery</a:t>
            </a:r>
            <a:r>
              <a:rPr lang="en-US" sz="1200" dirty="0">
                <a:latin typeface="Consolas" panose="020B0609020204030204" pitchFamily="49" charset="0"/>
              </a:rPr>
              <a:t>": false,</a:t>
            </a:r>
          </a:p>
          <a:p>
            <a:r>
              <a:rPr lang="en-US" sz="1200" dirty="0">
                <a:latin typeface="Consolas" panose="020B0609020204030204" pitchFamily="49" charset="0"/>
              </a:rPr>
              <a:t>    "</a:t>
            </a:r>
            <a:r>
              <a:rPr lang="en-US" sz="1200" dirty="0" err="1">
                <a:latin typeface="Consolas" panose="020B0609020204030204" pitchFamily="49" charset="0"/>
              </a:rPr>
              <a:t>updated_at</a:t>
            </a:r>
            <a:r>
              <a:rPr lang="en-US" sz="1200" dirty="0">
                <a:latin typeface="Consolas" panose="020B0609020204030204" pitchFamily="49" charset="0"/>
              </a:rPr>
              <a:t>": "2026-03-10T15:23:45Z"</a:t>
            </a:r>
          </a:p>
          <a:p>
            <a:r>
              <a:rPr lang="en-US" sz="1200" dirty="0">
                <a:latin typeface="Consolas" panose="020B0609020204030204" pitchFamily="49" charset="0"/>
              </a:rPr>
              <a:t>  },</a:t>
            </a:r>
          </a:p>
          <a:p>
            <a:r>
              <a:rPr lang="en-US" sz="1200" dirty="0">
                <a:latin typeface="Consolas" panose="020B0609020204030204" pitchFamily="49" charset="0"/>
              </a:rPr>
              <a:t>  "</a:t>
            </a:r>
            <a:r>
              <a:rPr lang="en-US" sz="1200" dirty="0" err="1">
                <a:latin typeface="Consolas" panose="020B0609020204030204" pitchFamily="49" charset="0"/>
              </a:rPr>
              <a:t>drug_b</a:t>
            </a:r>
            <a:r>
              <a:rPr lang="en-US" sz="1200" dirty="0">
                <a:latin typeface="Consolas" panose="020B0609020204030204" pitchFamily="49" charset="0"/>
              </a:rPr>
              <a:t>": {</a:t>
            </a:r>
          </a:p>
          <a:p>
            <a:r>
              <a:rPr lang="en-US" sz="1200" dirty="0">
                <a:latin typeface="Consolas" panose="020B0609020204030204" pitchFamily="49" charset="0"/>
              </a:rPr>
              <a:t>    "name": "Warfarin",</a:t>
            </a:r>
          </a:p>
          <a:p>
            <a:r>
              <a:rPr lang="en-US" sz="1200" dirty="0">
                <a:latin typeface="Consolas" panose="020B0609020204030204" pitchFamily="49" charset="0"/>
              </a:rPr>
              <a:t>    "</a:t>
            </a:r>
            <a:r>
              <a:rPr lang="en-US" sz="1200" dirty="0" err="1">
                <a:latin typeface="Consolas" panose="020B0609020204030204" pitchFamily="49" charset="0"/>
              </a:rPr>
              <a:t>chembl_validated</a:t>
            </a:r>
            <a:r>
              <a:rPr lang="en-US" sz="1200" dirty="0">
                <a:latin typeface="Consolas" panose="020B0609020204030204" pitchFamily="49" charset="0"/>
              </a:rPr>
              <a:t>": true,</a:t>
            </a:r>
          </a:p>
          <a:p>
            <a:r>
              <a:rPr lang="en-US" sz="1200" dirty="0">
                <a:latin typeface="Consolas" panose="020B0609020204030204" pitchFamily="49" charset="0"/>
              </a:rPr>
              <a:t>    "</a:t>
            </a:r>
            <a:r>
              <a:rPr lang="en-US" sz="1200" dirty="0" err="1">
                <a:latin typeface="Consolas" panose="020B0609020204030204" pitchFamily="49" charset="0"/>
              </a:rPr>
              <a:t>chembl_id</a:t>
            </a:r>
            <a:r>
              <a:rPr lang="en-US" sz="1200" dirty="0">
                <a:latin typeface="Consolas" panose="020B0609020204030204" pitchFamily="49" charset="0"/>
              </a:rPr>
              <a:t>": "CHEMBL1098659"</a:t>
            </a:r>
          </a:p>
          <a:p>
            <a:r>
              <a:rPr lang="en-US" sz="1200" dirty="0">
                <a:latin typeface="Consolas" panose="020B0609020204030204" pitchFamily="49" charset="0"/>
              </a:rPr>
              <a:t>  }</a:t>
            </a:r>
          </a:p>
          <a:p>
            <a:r>
              <a:rPr lang="en-US" sz="1200" dirty="0">
                <a:latin typeface="Consolas" panose="020B0609020204030204" pitchFamily="49" charset="0"/>
              </a:rPr>
              <a:t>}}</a:t>
            </a:r>
          </a:p>
        </p:txBody>
      </p:sp>
    </p:spTree>
    <p:extLst>
      <p:ext uri="{BB962C8B-B14F-4D97-AF65-F5344CB8AC3E}">
        <p14:creationId xmlns:p14="http://schemas.microsoft.com/office/powerpoint/2010/main" val="2792024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E0F7DA72-2999-68C1-E376-C4AB7E75CE34}"/>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F482F13E-7F6F-F6BD-A06C-2489E4E012DF}"/>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049AF1D2-38E7-A308-8B21-81DC17D84A69}"/>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43C1AB0A-6E9E-6AD9-D7FE-F18F31B8CCD0}"/>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7C5023D0-DB5E-A81A-CE47-7334DF734A57}"/>
              </a:ext>
            </a:extLst>
          </p:cNvPr>
          <p:cNvGrpSpPr/>
          <p:nvPr/>
        </p:nvGrpSpPr>
        <p:grpSpPr>
          <a:xfrm>
            <a:off x="1219200" y="955431"/>
            <a:ext cx="16284006" cy="8376138"/>
            <a:chOff x="0" y="-47625"/>
            <a:chExt cx="5292307" cy="2722247"/>
          </a:xfrm>
        </p:grpSpPr>
        <p:sp>
          <p:nvSpPr>
            <p:cNvPr id="6" name="Freeform 6">
              <a:extLst>
                <a:ext uri="{FF2B5EF4-FFF2-40B4-BE49-F238E27FC236}">
                  <a16:creationId xmlns:a16="http://schemas.microsoft.com/office/drawing/2014/main" id="{7E1D8121-D672-FEE6-92B0-26399CD360DE}"/>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A0BB2CA3-24E4-8A61-008B-C572FC05AADD}"/>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2D31110D-A2EC-86E3-7CB2-F44E627E992B}"/>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EXPLORATORY DATA ANALYSIS</a:t>
            </a:r>
          </a:p>
        </p:txBody>
      </p:sp>
      <p:pic>
        <p:nvPicPr>
          <p:cNvPr id="2" name="Picture 1">
            <a:extLst>
              <a:ext uri="{FF2B5EF4-FFF2-40B4-BE49-F238E27FC236}">
                <a16:creationId xmlns:a16="http://schemas.microsoft.com/office/drawing/2014/main" id="{9A083538-6AAE-150A-8216-2F5A86FF204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292396" y="1422356"/>
            <a:ext cx="1553526" cy="734389"/>
          </a:xfrm>
          <a:prstGeom prst="rect">
            <a:avLst/>
          </a:prstGeom>
        </p:spPr>
      </p:pic>
      <p:pic>
        <p:nvPicPr>
          <p:cNvPr id="8" name="Picture 7">
            <a:extLst>
              <a:ext uri="{FF2B5EF4-FFF2-40B4-BE49-F238E27FC236}">
                <a16:creationId xmlns:a16="http://schemas.microsoft.com/office/drawing/2014/main" id="{50D3391F-CEEB-6120-4F57-0DE8C60EED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93130" y="7238856"/>
            <a:ext cx="5477532" cy="4762500"/>
          </a:xfrm>
          <a:prstGeom prst="rect">
            <a:avLst/>
          </a:prstGeom>
        </p:spPr>
      </p:pic>
      <p:pic>
        <p:nvPicPr>
          <p:cNvPr id="9" name="Picture 8">
            <a:extLst>
              <a:ext uri="{FF2B5EF4-FFF2-40B4-BE49-F238E27FC236}">
                <a16:creationId xmlns:a16="http://schemas.microsoft.com/office/drawing/2014/main" id="{93F6F8F1-6309-0716-062B-6B1BFB9AAAB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50369" y="7280910"/>
            <a:ext cx="5477532" cy="4762500"/>
          </a:xfrm>
          <a:prstGeom prst="rect">
            <a:avLst/>
          </a:prstGeom>
        </p:spPr>
      </p:pic>
      <p:sp>
        <p:nvSpPr>
          <p:cNvPr id="3" name="TextBox 2">
            <a:extLst>
              <a:ext uri="{FF2B5EF4-FFF2-40B4-BE49-F238E27FC236}">
                <a16:creationId xmlns:a16="http://schemas.microsoft.com/office/drawing/2014/main" id="{0E0A2337-AFE0-0F75-2D9C-440CB48170D8}"/>
              </a:ext>
            </a:extLst>
          </p:cNvPr>
          <p:cNvSpPr txBox="1"/>
          <p:nvPr/>
        </p:nvSpPr>
        <p:spPr>
          <a:xfrm>
            <a:off x="3505200" y="3096778"/>
            <a:ext cx="11811000" cy="4197880"/>
          </a:xfrm>
          <a:prstGeom prst="rect">
            <a:avLst/>
          </a:prstGeom>
          <a:noFill/>
        </p:spPr>
        <p:txBody>
          <a:bodyPr wrap="square" rtlCol="0">
            <a:spAutoFit/>
          </a:bodyPr>
          <a:lstStyle/>
          <a:p>
            <a:pPr>
              <a:lnSpc>
                <a:spcPct val="150000"/>
              </a:lnSpc>
            </a:pPr>
            <a:r>
              <a:rPr lang="en-US" sz="2000" dirty="0">
                <a:latin typeface="Consolas" panose="020B0609020204030204" pitchFamily="49" charset="0"/>
              </a:rPr>
              <a:t>How Papers Were Found — PubMed Query</a:t>
            </a:r>
          </a:p>
          <a:p>
            <a:pPr>
              <a:lnSpc>
                <a:spcPct val="150000"/>
              </a:lnSpc>
            </a:pPr>
            <a:r>
              <a:rPr lang="en-US" sz="2000" dirty="0">
                <a:latin typeface="Consolas" panose="020B0609020204030204" pitchFamily="49" charset="0"/>
              </a:rPr>
              <a:t>Exact Query Used:</a:t>
            </a:r>
          </a:p>
          <a:p>
            <a:pPr>
              <a:lnSpc>
                <a:spcPct val="150000"/>
              </a:lnSpc>
            </a:pPr>
            <a:r>
              <a:rPr lang="en-US" sz="2000" dirty="0">
                <a:latin typeface="Consolas" panose="020B0609020204030204" pitchFamily="49" charset="0"/>
              </a:rPr>
              <a:t>drug interaction[</a:t>
            </a:r>
            <a:r>
              <a:rPr lang="en-US" sz="2000" dirty="0" err="1">
                <a:latin typeface="Consolas" panose="020B0609020204030204" pitchFamily="49" charset="0"/>
              </a:rPr>
              <a:t>MeSH</a:t>
            </a:r>
            <a:r>
              <a:rPr lang="en-US" sz="2000" dirty="0">
                <a:latin typeface="Consolas" panose="020B0609020204030204" pitchFamily="49" charset="0"/>
              </a:rPr>
              <a:t> Terms] AND pharmacology[</a:t>
            </a:r>
            <a:r>
              <a:rPr lang="en-US" sz="2000" dirty="0" err="1">
                <a:latin typeface="Consolas" panose="020B0609020204030204" pitchFamily="49" charset="0"/>
              </a:rPr>
              <a:t>MeSH</a:t>
            </a:r>
            <a:r>
              <a:rPr lang="en-US" sz="2000" dirty="0">
                <a:latin typeface="Consolas" panose="020B0609020204030204" pitchFamily="49" charset="0"/>
              </a:rPr>
              <a:t> Terms]</a:t>
            </a:r>
          </a:p>
          <a:p>
            <a:pPr>
              <a:lnSpc>
                <a:spcPct val="150000"/>
              </a:lnSpc>
            </a:pPr>
            <a:r>
              <a:rPr lang="en-US" sz="2000" dirty="0">
                <a:latin typeface="Consolas" panose="020B0609020204030204" pitchFamily="49" charset="0"/>
              </a:rPr>
              <a:t>Date range: 2025/01/01 → 2026/03/10 </a:t>
            </a:r>
          </a:p>
          <a:p>
            <a:pPr>
              <a:lnSpc>
                <a:spcPct val="150000"/>
              </a:lnSpc>
            </a:pPr>
            <a:r>
              <a:rPr lang="en-US" sz="2000" dirty="0">
                <a:latin typeface="Consolas" panose="020B0609020204030204" pitchFamily="49" charset="0"/>
              </a:rPr>
              <a:t>Max results: 50 Returned: 43 papers</a:t>
            </a:r>
          </a:p>
          <a:p>
            <a:pPr>
              <a:lnSpc>
                <a:spcPct val="150000"/>
              </a:lnSpc>
            </a:pPr>
            <a:r>
              <a:rPr lang="en-US" sz="2000" dirty="0">
                <a:latin typeface="Consolas" panose="020B0609020204030204" pitchFamily="49" charset="0"/>
              </a:rPr>
              <a:t>Why </a:t>
            </a:r>
            <a:r>
              <a:rPr lang="en-US" sz="2000" dirty="0" err="1">
                <a:latin typeface="Consolas" panose="020B0609020204030204" pitchFamily="49" charset="0"/>
              </a:rPr>
              <a:t>MeSH</a:t>
            </a:r>
            <a:r>
              <a:rPr lang="en-US" sz="2000" dirty="0">
                <a:latin typeface="Consolas" panose="020B0609020204030204" pitchFamily="49" charset="0"/>
              </a:rPr>
              <a:t> terms (not keywords):- </a:t>
            </a:r>
            <a:r>
              <a:rPr lang="en-US" sz="2000" dirty="0" err="1">
                <a:latin typeface="Consolas" panose="020B0609020204030204" pitchFamily="49" charset="0"/>
              </a:rPr>
              <a:t>MeSH</a:t>
            </a:r>
            <a:r>
              <a:rPr lang="en-US" sz="2000" dirty="0">
                <a:latin typeface="Consolas" panose="020B0609020204030204" pitchFamily="49" charset="0"/>
              </a:rPr>
              <a:t> = Medical Subject Headings </a:t>
            </a:r>
          </a:p>
          <a:p>
            <a:pPr marL="342900" indent="-342900">
              <a:lnSpc>
                <a:spcPct val="150000"/>
              </a:lnSpc>
              <a:buFont typeface="Arial" panose="020B0604020202020204" pitchFamily="34" charset="0"/>
              <a:buChar char="•"/>
            </a:pPr>
            <a:r>
              <a:rPr lang="en-US" sz="2000" dirty="0">
                <a:latin typeface="Consolas" panose="020B0609020204030204" pitchFamily="49" charset="0"/>
              </a:rPr>
              <a:t>Controlled vocabulary by NLM</a:t>
            </a:r>
          </a:p>
          <a:p>
            <a:pPr marL="342900" indent="-342900">
              <a:lnSpc>
                <a:spcPct val="150000"/>
              </a:lnSpc>
              <a:buFont typeface="Arial" panose="020B0604020202020204" pitchFamily="34" charset="0"/>
              <a:buChar char="•"/>
            </a:pPr>
            <a:r>
              <a:rPr lang="en-US" sz="2000" dirty="0">
                <a:latin typeface="Consolas" panose="020B0609020204030204" pitchFamily="49" charset="0"/>
              </a:rPr>
              <a:t>More precise than free-text search</a:t>
            </a:r>
          </a:p>
          <a:p>
            <a:pPr marL="342900" indent="-342900">
              <a:lnSpc>
                <a:spcPct val="150000"/>
              </a:lnSpc>
              <a:buFont typeface="Arial" panose="020B0604020202020204" pitchFamily="34" charset="0"/>
              <a:buChar char="•"/>
            </a:pPr>
            <a:r>
              <a:rPr lang="en-US" sz="2000" dirty="0">
                <a:latin typeface="Consolas" panose="020B0609020204030204" pitchFamily="49" charset="0"/>
              </a:rPr>
              <a:t>Papers are human-tagged so less noise}</a:t>
            </a:r>
          </a:p>
        </p:txBody>
      </p:sp>
      <p:sp>
        <p:nvSpPr>
          <p:cNvPr id="13" name="TextBox 12">
            <a:extLst>
              <a:ext uri="{FF2B5EF4-FFF2-40B4-BE49-F238E27FC236}">
                <a16:creationId xmlns:a16="http://schemas.microsoft.com/office/drawing/2014/main" id="{29A33DCB-9F10-17DA-EBEE-C994B58781A8}"/>
              </a:ext>
            </a:extLst>
          </p:cNvPr>
          <p:cNvSpPr txBox="1"/>
          <p:nvPr/>
        </p:nvSpPr>
        <p:spPr>
          <a:xfrm>
            <a:off x="3319430" y="2097282"/>
            <a:ext cx="5486400" cy="461665"/>
          </a:xfrm>
          <a:prstGeom prst="rect">
            <a:avLst/>
          </a:prstGeom>
          <a:noFill/>
        </p:spPr>
        <p:txBody>
          <a:bodyPr wrap="square" rtlCol="0">
            <a:spAutoFit/>
          </a:bodyPr>
          <a:lstStyle/>
          <a:p>
            <a:r>
              <a:rPr lang="en-GB" sz="2400" b="1" dirty="0">
                <a:latin typeface="Consolas" panose="020B0609020204030204" pitchFamily="49" charset="0"/>
              </a:rPr>
              <a:t>Query Search Criteria</a:t>
            </a:r>
          </a:p>
        </p:txBody>
      </p:sp>
    </p:spTree>
    <p:extLst>
      <p:ext uri="{BB962C8B-B14F-4D97-AF65-F5344CB8AC3E}">
        <p14:creationId xmlns:p14="http://schemas.microsoft.com/office/powerpoint/2010/main" val="1403674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B4D85D55-FF06-BF22-94D1-3CA7D998EC49}"/>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14AFFE8A-82BE-8310-2AC9-6650F8C87C2E}"/>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463A7703-AE21-0726-443C-0242611401C9}"/>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0AB69609-D7A7-4861-F4E5-A5D66C7099AB}"/>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5EFABB00-9EDB-3B36-252C-C35D9F5D0CC3}"/>
              </a:ext>
            </a:extLst>
          </p:cNvPr>
          <p:cNvGrpSpPr/>
          <p:nvPr/>
        </p:nvGrpSpPr>
        <p:grpSpPr>
          <a:xfrm>
            <a:off x="1219200" y="955431"/>
            <a:ext cx="16284006" cy="8376138"/>
            <a:chOff x="0" y="-47625"/>
            <a:chExt cx="5292307" cy="2722247"/>
          </a:xfrm>
        </p:grpSpPr>
        <p:sp>
          <p:nvSpPr>
            <p:cNvPr id="6" name="Freeform 6">
              <a:extLst>
                <a:ext uri="{FF2B5EF4-FFF2-40B4-BE49-F238E27FC236}">
                  <a16:creationId xmlns:a16="http://schemas.microsoft.com/office/drawing/2014/main" id="{A1AD02D2-2E84-7FD5-D9FE-A0AB1CD48114}"/>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C63D1332-D376-39E4-CE22-4813F123A51E}"/>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A066713E-FCD5-EEA3-622F-641A36DACB79}"/>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EXPLORATORY DATA ANALYSIS</a:t>
            </a:r>
          </a:p>
        </p:txBody>
      </p:sp>
      <p:pic>
        <p:nvPicPr>
          <p:cNvPr id="2" name="Picture 1">
            <a:extLst>
              <a:ext uri="{FF2B5EF4-FFF2-40B4-BE49-F238E27FC236}">
                <a16:creationId xmlns:a16="http://schemas.microsoft.com/office/drawing/2014/main" id="{ED6A3BC6-7C8C-F456-63D4-3091EE52435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292396" y="1422356"/>
            <a:ext cx="1553526" cy="734389"/>
          </a:xfrm>
          <a:prstGeom prst="rect">
            <a:avLst/>
          </a:prstGeom>
        </p:spPr>
      </p:pic>
      <p:pic>
        <p:nvPicPr>
          <p:cNvPr id="8" name="Picture 7">
            <a:extLst>
              <a:ext uri="{FF2B5EF4-FFF2-40B4-BE49-F238E27FC236}">
                <a16:creationId xmlns:a16="http://schemas.microsoft.com/office/drawing/2014/main" id="{9FB1992E-9DC7-E1D7-D23D-237AFF6181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93130" y="7238856"/>
            <a:ext cx="5477532" cy="4762500"/>
          </a:xfrm>
          <a:prstGeom prst="rect">
            <a:avLst/>
          </a:prstGeom>
        </p:spPr>
      </p:pic>
      <p:pic>
        <p:nvPicPr>
          <p:cNvPr id="9" name="Picture 8">
            <a:extLst>
              <a:ext uri="{FF2B5EF4-FFF2-40B4-BE49-F238E27FC236}">
                <a16:creationId xmlns:a16="http://schemas.microsoft.com/office/drawing/2014/main" id="{158FD8A6-A999-C247-CBD9-D5FC737EF2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50369" y="7280910"/>
            <a:ext cx="5477532" cy="4762500"/>
          </a:xfrm>
          <a:prstGeom prst="rect">
            <a:avLst/>
          </a:prstGeom>
        </p:spPr>
      </p:pic>
      <p:sp>
        <p:nvSpPr>
          <p:cNvPr id="3" name="TextBox 2">
            <a:extLst>
              <a:ext uri="{FF2B5EF4-FFF2-40B4-BE49-F238E27FC236}">
                <a16:creationId xmlns:a16="http://schemas.microsoft.com/office/drawing/2014/main" id="{F6B08BCF-A355-3683-351D-1EC67808BBBE}"/>
              </a:ext>
            </a:extLst>
          </p:cNvPr>
          <p:cNvSpPr txBox="1"/>
          <p:nvPr/>
        </p:nvSpPr>
        <p:spPr>
          <a:xfrm>
            <a:off x="3319430" y="2097282"/>
            <a:ext cx="11811000" cy="5075044"/>
          </a:xfrm>
          <a:prstGeom prst="rect">
            <a:avLst/>
          </a:prstGeom>
          <a:noFill/>
        </p:spPr>
        <p:txBody>
          <a:bodyPr wrap="square" rtlCol="0">
            <a:spAutoFit/>
          </a:bodyPr>
          <a:lstStyle/>
          <a:p>
            <a:pPr>
              <a:lnSpc>
                <a:spcPct val="150000"/>
              </a:lnSpc>
            </a:pPr>
            <a:r>
              <a:rPr lang="en-GB" dirty="0">
                <a:latin typeface="Consolas" panose="020B0609020204030204" pitchFamily="49" charset="0"/>
              </a:rPr>
              <a:t>3-step retrieval flow:</a:t>
            </a:r>
          </a:p>
          <a:p>
            <a:pPr>
              <a:lnSpc>
                <a:spcPct val="150000"/>
              </a:lnSpc>
            </a:pPr>
            <a:r>
              <a:rPr lang="en-GB" dirty="0">
                <a:latin typeface="Consolas" panose="020B0609020204030204" pitchFamily="49" charset="0"/>
              </a:rPr>
              <a:t>Step 1 — </a:t>
            </a:r>
            <a:r>
              <a:rPr lang="en-GB" dirty="0" err="1">
                <a:latin typeface="Consolas" panose="020B0609020204030204" pitchFamily="49" charset="0"/>
              </a:rPr>
              <a:t>ChEMBL</a:t>
            </a:r>
            <a:r>
              <a:rPr lang="en-GB" dirty="0">
                <a:latin typeface="Consolas" panose="020B0609020204030204" pitchFamily="49" charset="0"/>
              </a:rPr>
              <a:t> Lookup per drug- Exact name match first → synonym fallback </a:t>
            </a:r>
          </a:p>
          <a:p>
            <a:pPr marL="342900" indent="-342900">
              <a:lnSpc>
                <a:spcPct val="150000"/>
              </a:lnSpc>
              <a:buFont typeface="Arial" panose="020B0604020202020204" pitchFamily="34" charset="0"/>
              <a:buChar char="•"/>
            </a:pPr>
            <a:r>
              <a:rPr lang="en-GB" dirty="0">
                <a:latin typeface="Consolas" panose="020B0609020204030204" pitchFamily="49" charset="0"/>
              </a:rPr>
              <a:t>Returns: </a:t>
            </a:r>
            <a:r>
              <a:rPr lang="en-GB" dirty="0" err="1">
                <a:latin typeface="Consolas" panose="020B0609020204030204" pitchFamily="49" charset="0"/>
              </a:rPr>
              <a:t>ChEMBL</a:t>
            </a:r>
            <a:r>
              <a:rPr lang="en-GB" dirty="0">
                <a:latin typeface="Consolas" panose="020B0609020204030204" pitchFamily="49" charset="0"/>
              </a:rPr>
              <a:t> ID, mechanism of action, approval status </a:t>
            </a:r>
          </a:p>
          <a:p>
            <a:pPr marL="342900" indent="-342900">
              <a:lnSpc>
                <a:spcPct val="150000"/>
              </a:lnSpc>
              <a:buFont typeface="Arial" panose="020B0604020202020204" pitchFamily="34" charset="0"/>
              <a:buChar char="•"/>
            </a:pPr>
            <a:r>
              <a:rPr lang="en-GB" dirty="0">
                <a:latin typeface="Consolas" panose="020B0609020204030204" pitchFamily="49" charset="0"/>
              </a:rPr>
              <a:t>Rate: ~0.8s per drug</a:t>
            </a:r>
          </a:p>
          <a:p>
            <a:pPr>
              <a:lnSpc>
                <a:spcPct val="150000"/>
              </a:lnSpc>
            </a:pPr>
            <a:r>
              <a:rPr lang="en-GB" dirty="0">
                <a:latin typeface="Consolas" panose="020B0609020204030204" pitchFamily="49" charset="0"/>
              </a:rPr>
              <a:t>Step 2 — Batch Optimization</a:t>
            </a:r>
          </a:p>
          <a:p>
            <a:pPr>
              <a:lnSpc>
                <a:spcPct val="150000"/>
              </a:lnSpc>
            </a:pPr>
            <a:endParaRPr lang="en-GB" dirty="0">
              <a:latin typeface="Consolas" panose="020B0609020204030204" pitchFamily="49" charset="0"/>
            </a:endParaRPr>
          </a:p>
          <a:p>
            <a:pPr>
              <a:lnSpc>
                <a:spcPct val="150000"/>
              </a:lnSpc>
            </a:pPr>
            <a:endParaRPr lang="en-GB" dirty="0">
              <a:latin typeface="Consolas" panose="020B0609020204030204" pitchFamily="49" charset="0"/>
            </a:endParaRPr>
          </a:p>
          <a:p>
            <a:pPr>
              <a:lnSpc>
                <a:spcPct val="150000"/>
              </a:lnSpc>
            </a:pPr>
            <a:endParaRPr lang="en-GB" dirty="0">
              <a:latin typeface="Consolas" panose="020B0609020204030204" pitchFamily="49" charset="0"/>
            </a:endParaRPr>
          </a:p>
          <a:p>
            <a:pPr>
              <a:lnSpc>
                <a:spcPct val="150000"/>
              </a:lnSpc>
            </a:pPr>
            <a:endParaRPr lang="en-GB" dirty="0">
              <a:latin typeface="Consolas" panose="020B0609020204030204" pitchFamily="49" charset="0"/>
            </a:endParaRPr>
          </a:p>
          <a:p>
            <a:pPr>
              <a:lnSpc>
                <a:spcPct val="150000"/>
              </a:lnSpc>
            </a:pPr>
            <a:r>
              <a:rPr lang="en-GB" dirty="0">
                <a:latin typeface="Consolas" panose="020B0609020204030204" pitchFamily="49" charset="0"/>
              </a:rPr>
              <a:t>Step 3 — Neo4j Storage with Metadata</a:t>
            </a:r>
          </a:p>
          <a:p>
            <a:pPr>
              <a:lnSpc>
                <a:spcPct val="150000"/>
              </a:lnSpc>
            </a:pPr>
            <a:r>
              <a:rPr lang="en-GB" dirty="0">
                <a:latin typeface="Consolas" panose="020B0609020204030204" pitchFamily="49" charset="0"/>
              </a:rPr>
              <a:t>Every interaction stored with: </a:t>
            </a:r>
          </a:p>
          <a:p>
            <a:pPr>
              <a:lnSpc>
                <a:spcPct val="150000"/>
              </a:lnSpc>
            </a:pPr>
            <a:endParaRPr lang="en-US" sz="2000" dirty="0">
              <a:latin typeface="Consolas" panose="020B0609020204030204" pitchFamily="49" charset="0"/>
            </a:endParaRPr>
          </a:p>
        </p:txBody>
      </p:sp>
      <p:sp>
        <p:nvSpPr>
          <p:cNvPr id="13" name="TextBox 12">
            <a:extLst>
              <a:ext uri="{FF2B5EF4-FFF2-40B4-BE49-F238E27FC236}">
                <a16:creationId xmlns:a16="http://schemas.microsoft.com/office/drawing/2014/main" id="{695168FB-132E-DFE8-7EAC-102297EE629F}"/>
              </a:ext>
            </a:extLst>
          </p:cNvPr>
          <p:cNvSpPr txBox="1"/>
          <p:nvPr/>
        </p:nvSpPr>
        <p:spPr>
          <a:xfrm>
            <a:off x="3319430" y="1896528"/>
            <a:ext cx="5486400" cy="461665"/>
          </a:xfrm>
          <a:prstGeom prst="rect">
            <a:avLst/>
          </a:prstGeom>
          <a:noFill/>
        </p:spPr>
        <p:txBody>
          <a:bodyPr wrap="square" rtlCol="0">
            <a:spAutoFit/>
          </a:bodyPr>
          <a:lstStyle/>
          <a:p>
            <a:r>
              <a:rPr lang="en-US" sz="2400" b="1" dirty="0">
                <a:latin typeface="Consolas" panose="020B0609020204030204" pitchFamily="49" charset="0"/>
              </a:rPr>
              <a:t>R</a:t>
            </a:r>
            <a:r>
              <a:rPr lang="en-GB" sz="2400" b="1" dirty="0" err="1">
                <a:latin typeface="Consolas" panose="020B0609020204030204" pitchFamily="49" charset="0"/>
              </a:rPr>
              <a:t>esponse</a:t>
            </a:r>
            <a:r>
              <a:rPr lang="en-GB" sz="2400" b="1" dirty="0">
                <a:latin typeface="Consolas" panose="020B0609020204030204" pitchFamily="49" charset="0"/>
              </a:rPr>
              <a:t> Retrieval Mechanism</a:t>
            </a:r>
          </a:p>
        </p:txBody>
      </p:sp>
      <p:graphicFrame>
        <p:nvGraphicFramePr>
          <p:cNvPr id="4" name="Table 3">
            <a:extLst>
              <a:ext uri="{FF2B5EF4-FFF2-40B4-BE49-F238E27FC236}">
                <a16:creationId xmlns:a16="http://schemas.microsoft.com/office/drawing/2014/main" id="{116638A6-8F4B-A4B7-1586-806FEF394C4D}"/>
              </a:ext>
            </a:extLst>
          </p:cNvPr>
          <p:cNvGraphicFramePr>
            <a:graphicFrameLocks noGrp="1"/>
          </p:cNvGraphicFramePr>
          <p:nvPr>
            <p:extLst>
              <p:ext uri="{D42A27DB-BD31-4B8C-83A1-F6EECF244321}">
                <p14:modId xmlns:p14="http://schemas.microsoft.com/office/powerpoint/2010/main" val="2505106457"/>
              </p:ext>
            </p:extLst>
          </p:nvPr>
        </p:nvGraphicFramePr>
        <p:xfrm>
          <a:off x="3349064" y="4204363"/>
          <a:ext cx="12192000" cy="1584960"/>
        </p:xfrm>
        <a:graphic>
          <a:graphicData uri="http://schemas.openxmlformats.org/drawingml/2006/table">
            <a:tbl>
              <a:tblPr firstRow="1" bandRow="1">
                <a:tableStyleId>{2D5ABB26-0587-4C30-8999-92F81FD0307C}</a:tableStyleId>
              </a:tblPr>
              <a:tblGrid>
                <a:gridCol w="6096000">
                  <a:extLst>
                    <a:ext uri="{9D8B030D-6E8A-4147-A177-3AD203B41FA5}">
                      <a16:colId xmlns:a16="http://schemas.microsoft.com/office/drawing/2014/main" val="578567530"/>
                    </a:ext>
                  </a:extLst>
                </a:gridCol>
                <a:gridCol w="6096000">
                  <a:extLst>
                    <a:ext uri="{9D8B030D-6E8A-4147-A177-3AD203B41FA5}">
                      <a16:colId xmlns:a16="http://schemas.microsoft.com/office/drawing/2014/main" val="3537410301"/>
                    </a:ext>
                  </a:extLst>
                </a:gridCol>
              </a:tblGrid>
              <a:tr h="370840">
                <a:tc>
                  <a:txBody>
                    <a:bodyPr/>
                    <a:lstStyle/>
                    <a:p>
                      <a:pPr algn="ctr"/>
                      <a:r>
                        <a:rPr lang="en-US" sz="2000" dirty="0">
                          <a:latin typeface="Consolas" panose="020B0609020204030204" pitchFamily="49" charset="0"/>
                        </a:rPr>
                        <a:t>Without Batching</a:t>
                      </a:r>
                      <a:endParaRPr lang="en-GB" sz="2000"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Consolas" panose="020B0609020204030204" pitchFamily="49" charset="0"/>
                        </a:rPr>
                        <a:t>With Batching</a:t>
                      </a:r>
                      <a:endParaRPr lang="en-GB" sz="2000"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2436759"/>
                  </a:ext>
                </a:extLst>
              </a:tr>
              <a:tr h="370840">
                <a:tc>
                  <a:txBody>
                    <a:bodyPr/>
                    <a:lstStyle/>
                    <a:p>
                      <a:pPr algn="ctr"/>
                      <a:r>
                        <a:rPr lang="en-US" sz="2000" dirty="0">
                          <a:latin typeface="Consolas" panose="020B0609020204030204" pitchFamily="49" charset="0"/>
                        </a:rPr>
                        <a:t>44 API calls (22 x 2)</a:t>
                      </a:r>
                      <a:endParaRPr lang="en-GB" sz="2000"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Consolas" panose="020B0609020204030204" pitchFamily="49" charset="0"/>
                        </a:rPr>
                        <a:t>30 Unique drug calls</a:t>
                      </a:r>
                      <a:endParaRPr lang="en-GB" sz="2000"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5895795"/>
                  </a:ext>
                </a:extLst>
              </a:tr>
              <a:tr h="370840">
                <a:tc>
                  <a:txBody>
                    <a:bodyPr/>
                    <a:lstStyle/>
                    <a:p>
                      <a:pPr algn="ctr"/>
                      <a:r>
                        <a:rPr lang="en-US" sz="2000" dirty="0">
                          <a:latin typeface="Consolas" panose="020B0609020204030204" pitchFamily="49" charset="0"/>
                        </a:rPr>
                        <a:t>~35 seconds</a:t>
                      </a:r>
                      <a:endParaRPr lang="en-GB" sz="2000"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Consolas" panose="020B0609020204030204" pitchFamily="49" charset="0"/>
                        </a:rPr>
                        <a:t>~24 seconds</a:t>
                      </a:r>
                      <a:endParaRPr lang="en-GB" sz="2000"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3411649"/>
                  </a:ext>
                </a:extLst>
              </a:tr>
              <a:tr h="370840">
                <a:tc>
                  <a:txBody>
                    <a:bodyPr/>
                    <a:lstStyle/>
                    <a:p>
                      <a:pPr algn="ctr"/>
                      <a:r>
                        <a:rPr lang="en-US" sz="2000" dirty="0">
                          <a:latin typeface="Consolas" panose="020B0609020204030204" pitchFamily="49" charset="0"/>
                        </a:rPr>
                        <a:t>Duplicate lookups</a:t>
                      </a:r>
                      <a:endParaRPr lang="en-GB" sz="2000"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a:latin typeface="Consolas" panose="020B0609020204030204" pitchFamily="49" charset="0"/>
                        </a:rPr>
                        <a:t>Deduplicated by lowercase key</a:t>
                      </a:r>
                      <a:endParaRPr lang="en-GB" sz="2000"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724792"/>
                  </a:ext>
                </a:extLst>
              </a:tr>
            </a:tbl>
          </a:graphicData>
        </a:graphic>
      </p:graphicFrame>
      <p:graphicFrame>
        <p:nvGraphicFramePr>
          <p:cNvPr id="10" name="Table 9">
            <a:extLst>
              <a:ext uri="{FF2B5EF4-FFF2-40B4-BE49-F238E27FC236}">
                <a16:creationId xmlns:a16="http://schemas.microsoft.com/office/drawing/2014/main" id="{55176592-1020-2AFF-1A22-8B22CB3B121A}"/>
              </a:ext>
            </a:extLst>
          </p:cNvPr>
          <p:cNvGraphicFramePr>
            <a:graphicFrameLocks noGrp="1"/>
          </p:cNvGraphicFramePr>
          <p:nvPr>
            <p:extLst>
              <p:ext uri="{D42A27DB-BD31-4B8C-83A1-F6EECF244321}">
                <p14:modId xmlns:p14="http://schemas.microsoft.com/office/powerpoint/2010/main" val="802895470"/>
              </p:ext>
            </p:extLst>
          </p:nvPr>
        </p:nvGraphicFramePr>
        <p:xfrm>
          <a:off x="3349064" y="6646610"/>
          <a:ext cx="12192000" cy="2595880"/>
        </p:xfrm>
        <a:graphic>
          <a:graphicData uri="http://schemas.openxmlformats.org/drawingml/2006/table">
            <a:tbl>
              <a:tblPr firstRow="1" bandRow="1">
                <a:tableStyleId>{2D5ABB26-0587-4C30-8999-92F81FD0307C}</a:tableStyleId>
              </a:tblPr>
              <a:tblGrid>
                <a:gridCol w="6096000">
                  <a:extLst>
                    <a:ext uri="{9D8B030D-6E8A-4147-A177-3AD203B41FA5}">
                      <a16:colId xmlns:a16="http://schemas.microsoft.com/office/drawing/2014/main" val="3717706288"/>
                    </a:ext>
                  </a:extLst>
                </a:gridCol>
                <a:gridCol w="6096000">
                  <a:extLst>
                    <a:ext uri="{9D8B030D-6E8A-4147-A177-3AD203B41FA5}">
                      <a16:colId xmlns:a16="http://schemas.microsoft.com/office/drawing/2014/main" val="3754714632"/>
                    </a:ext>
                  </a:extLst>
                </a:gridCol>
              </a:tblGrid>
              <a:tr h="370840">
                <a:tc>
                  <a:txBody>
                    <a:bodyPr/>
                    <a:lstStyle/>
                    <a:p>
                      <a:r>
                        <a:rPr lang="en-GB" dirty="0" err="1">
                          <a:latin typeface="Consolas" panose="020B0609020204030204" pitchFamily="49" charset="0"/>
                        </a:rPr>
                        <a:t>drug_a</a:t>
                      </a:r>
                      <a:r>
                        <a:rPr lang="en-GB" sz="1800" kern="1200" dirty="0">
                          <a:solidFill>
                            <a:schemeClr val="tx1"/>
                          </a:solidFill>
                          <a:effectLst/>
                          <a:latin typeface="Consolas" panose="020B0609020204030204" pitchFamily="49" charset="0"/>
                          <a:ea typeface="+mn-ea"/>
                          <a:cs typeface="+mn-cs"/>
                        </a:rPr>
                        <a:t>,</a:t>
                      </a:r>
                      <a:r>
                        <a:rPr lang="en-GB" dirty="0">
                          <a:latin typeface="Consolas" panose="020B0609020204030204" pitchFamily="49" charset="0"/>
                        </a:rPr>
                        <a:t> </a:t>
                      </a:r>
                      <a:r>
                        <a:rPr lang="en-GB" dirty="0" err="1">
                          <a:latin typeface="Consolas" panose="020B0609020204030204" pitchFamily="49" charset="0"/>
                        </a:rPr>
                        <a:t>drug_b</a:t>
                      </a:r>
                      <a:r>
                        <a:rPr lang="en-GB" dirty="0">
                          <a:latin typeface="Consolas" panose="020B0609020204030204" pitchFamily="49"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dirty="0">
                          <a:latin typeface="Consolas" panose="020B0609020204030204" pitchFamily="49" charset="0"/>
                        </a:rPr>
                        <a:t>who interacts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3463197"/>
                  </a:ext>
                </a:extLst>
              </a:tr>
              <a:tr h="370840">
                <a:tc>
                  <a:txBody>
                    <a:bodyPr/>
                    <a:lstStyle/>
                    <a:p>
                      <a:r>
                        <a:rPr lang="en-GB" dirty="0" err="1">
                          <a:latin typeface="Consolas" panose="020B0609020204030204" pitchFamily="49" charset="0"/>
                        </a:rPr>
                        <a:t>interaction_type</a:t>
                      </a:r>
                      <a:r>
                        <a:rPr lang="en-GB" dirty="0">
                          <a:latin typeface="Consolas" panose="020B0609020204030204" pitchFamily="49"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Consolas" panose="020B0609020204030204" pitchFamily="49" charset="0"/>
                        </a:rPr>
                        <a:t>How they interact</a:t>
                      </a:r>
                      <a:endParaRPr lang="en-GB"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3247858"/>
                  </a:ext>
                </a:extLst>
              </a:tr>
              <a:tr h="370840">
                <a:tc>
                  <a:txBody>
                    <a:bodyPr/>
                    <a:lstStyle/>
                    <a:p>
                      <a:r>
                        <a:rPr lang="en-GB" dirty="0" err="1">
                          <a:latin typeface="Consolas" panose="020B0609020204030204" pitchFamily="49" charset="0"/>
                        </a:rPr>
                        <a:t>evidence_text</a:t>
                      </a:r>
                      <a:r>
                        <a:rPr lang="en-GB" dirty="0">
                          <a:latin typeface="Consolas" panose="020B0609020204030204" pitchFamily="49"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Consolas" panose="020B0609020204030204" pitchFamily="49" charset="0"/>
                        </a:rPr>
                        <a:t>Proof from paper</a:t>
                      </a:r>
                      <a:endParaRPr lang="en-GB"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4311208"/>
                  </a:ext>
                </a:extLst>
              </a:tr>
              <a:tr h="370840">
                <a:tc>
                  <a:txBody>
                    <a:bodyPr/>
                    <a:lstStyle/>
                    <a:p>
                      <a:r>
                        <a:rPr lang="en-GB" dirty="0" err="1">
                          <a:latin typeface="Consolas" panose="020B0609020204030204" pitchFamily="49" charset="0"/>
                        </a:rPr>
                        <a:t>source_doi</a:t>
                      </a:r>
                      <a:r>
                        <a:rPr lang="en-GB" dirty="0">
                          <a:latin typeface="Consolas" panose="020B0609020204030204" pitchFamily="49"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Consolas" panose="020B0609020204030204" pitchFamily="49" charset="0"/>
                        </a:rPr>
                        <a:t>Traceable to original paper</a:t>
                      </a:r>
                      <a:endParaRPr lang="en-GB"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099351"/>
                  </a:ext>
                </a:extLst>
              </a:tr>
              <a:tr h="370840">
                <a:tc>
                  <a:txBody>
                    <a:bodyPr/>
                    <a:lstStyle/>
                    <a:p>
                      <a:r>
                        <a:rPr lang="en-GB" dirty="0" err="1">
                          <a:latin typeface="Consolas" panose="020B0609020204030204" pitchFamily="49" charset="0"/>
                        </a:rPr>
                        <a:t>chembl_validated</a:t>
                      </a:r>
                      <a:r>
                        <a:rPr lang="en-GB" dirty="0">
                          <a:latin typeface="Consolas" panose="020B0609020204030204" pitchFamily="49"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Consolas" panose="020B0609020204030204" pitchFamily="49" charset="0"/>
                        </a:rPr>
                        <a:t>True/false</a:t>
                      </a:r>
                      <a:endParaRPr lang="en-GB"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5654082"/>
                  </a:ext>
                </a:extLst>
              </a:tr>
              <a:tr h="370840">
                <a:tc>
                  <a:txBody>
                    <a:bodyPr/>
                    <a:lstStyle/>
                    <a:p>
                      <a:r>
                        <a:rPr lang="en-GB" dirty="0" err="1">
                          <a:latin typeface="Consolas" panose="020B0609020204030204" pitchFamily="49" charset="0"/>
                        </a:rPr>
                        <a:t>conflict_detected</a:t>
                      </a:r>
                      <a:r>
                        <a:rPr lang="en-GB" dirty="0">
                          <a:latin typeface="Consolas" panose="020B0609020204030204" pitchFamily="49"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rPr>
                        <a:t>True/false</a:t>
                      </a:r>
                      <a:endParaRPr lang="en-GB"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6604911"/>
                  </a:ext>
                </a:extLst>
              </a:tr>
              <a:tr h="370840">
                <a:tc>
                  <a:txBody>
                    <a:bodyPr/>
                    <a:lstStyle/>
                    <a:p>
                      <a:r>
                        <a:rPr lang="en-GB" dirty="0" err="1">
                          <a:latin typeface="Consolas" panose="020B0609020204030204" pitchFamily="49" charset="0"/>
                        </a:rPr>
                        <a:t>potential_discovery</a:t>
                      </a:r>
                      <a:r>
                        <a:rPr lang="en-GB" dirty="0">
                          <a:latin typeface="Consolas" panose="020B0609020204030204" pitchFamily="49"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rPr>
                        <a:t>True/false</a:t>
                      </a:r>
                      <a:endParaRPr lang="en-GB"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0964966"/>
                  </a:ext>
                </a:extLst>
              </a:tr>
            </a:tbl>
          </a:graphicData>
        </a:graphic>
      </p:graphicFrame>
    </p:spTree>
    <p:extLst>
      <p:ext uri="{BB962C8B-B14F-4D97-AF65-F5344CB8AC3E}">
        <p14:creationId xmlns:p14="http://schemas.microsoft.com/office/powerpoint/2010/main" val="2483885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A98E8363-9B8F-D66F-5ADD-EC704657D15B}"/>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00CCD8BA-57D5-8DD8-C3D5-D837AA32358D}"/>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99187372-F92B-28A0-E74E-91F8D7F45C97}"/>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ED438F45-3EAA-4038-158F-5BA1E9F348BF}"/>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3">
              <a:alphaModFix amt="40000"/>
              <a:extLst>
                <a:ext uri="{96DAC541-7B7A-43D3-8B79-37D633B846F1}">
                  <asvg:svgBlip xmlns:asvg="http://schemas.microsoft.com/office/drawing/2016/SVG/main" r:embed="rId4"/>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51E3611A-F9D5-1D33-2BB9-2F97500BDAC7}"/>
              </a:ext>
            </a:extLst>
          </p:cNvPr>
          <p:cNvGrpSpPr/>
          <p:nvPr/>
        </p:nvGrpSpPr>
        <p:grpSpPr>
          <a:xfrm>
            <a:off x="1219200" y="955431"/>
            <a:ext cx="16284006" cy="8376138"/>
            <a:chOff x="0" y="-47625"/>
            <a:chExt cx="5292307" cy="2722247"/>
          </a:xfrm>
        </p:grpSpPr>
        <p:sp>
          <p:nvSpPr>
            <p:cNvPr id="6" name="Freeform 6">
              <a:extLst>
                <a:ext uri="{FF2B5EF4-FFF2-40B4-BE49-F238E27FC236}">
                  <a16:creationId xmlns:a16="http://schemas.microsoft.com/office/drawing/2014/main" id="{7C8FF3BD-0FEB-65EA-55DC-0527800BD8B4}"/>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BC1FE260-884F-0C4D-1084-7EBA87211386}"/>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D0C4A715-8EC7-060F-268C-6C53F19ADFD7}"/>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EXPLORATORY DATA ANALYSIS</a:t>
            </a:r>
          </a:p>
        </p:txBody>
      </p:sp>
      <p:pic>
        <p:nvPicPr>
          <p:cNvPr id="2" name="Picture 1">
            <a:extLst>
              <a:ext uri="{FF2B5EF4-FFF2-40B4-BE49-F238E27FC236}">
                <a16:creationId xmlns:a16="http://schemas.microsoft.com/office/drawing/2014/main" id="{063BC2D1-B543-A703-CD45-772330619CA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292396" y="1422356"/>
            <a:ext cx="1553526" cy="734389"/>
          </a:xfrm>
          <a:prstGeom prst="rect">
            <a:avLst/>
          </a:prstGeom>
        </p:spPr>
      </p:pic>
      <p:pic>
        <p:nvPicPr>
          <p:cNvPr id="8" name="Picture 7">
            <a:extLst>
              <a:ext uri="{FF2B5EF4-FFF2-40B4-BE49-F238E27FC236}">
                <a16:creationId xmlns:a16="http://schemas.microsoft.com/office/drawing/2014/main" id="{12B0D7E6-7A05-158D-B5A8-95E1A3970B8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493130" y="7238856"/>
            <a:ext cx="5477532" cy="4762500"/>
          </a:xfrm>
          <a:prstGeom prst="rect">
            <a:avLst/>
          </a:prstGeom>
        </p:spPr>
      </p:pic>
      <p:pic>
        <p:nvPicPr>
          <p:cNvPr id="9" name="Picture 8">
            <a:extLst>
              <a:ext uri="{FF2B5EF4-FFF2-40B4-BE49-F238E27FC236}">
                <a16:creationId xmlns:a16="http://schemas.microsoft.com/office/drawing/2014/main" id="{420A2A3F-88AE-4A40-1382-E10494090C1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50369" y="7280910"/>
            <a:ext cx="5477532" cy="4762500"/>
          </a:xfrm>
          <a:prstGeom prst="rect">
            <a:avLst/>
          </a:prstGeom>
        </p:spPr>
      </p:pic>
      <p:sp>
        <p:nvSpPr>
          <p:cNvPr id="3" name="TextBox 2">
            <a:extLst>
              <a:ext uri="{FF2B5EF4-FFF2-40B4-BE49-F238E27FC236}">
                <a16:creationId xmlns:a16="http://schemas.microsoft.com/office/drawing/2014/main" id="{FB1BB2FA-CF0E-331F-6D3C-3DCA853146F3}"/>
              </a:ext>
            </a:extLst>
          </p:cNvPr>
          <p:cNvSpPr txBox="1"/>
          <p:nvPr/>
        </p:nvSpPr>
        <p:spPr>
          <a:xfrm>
            <a:off x="3505200" y="3096778"/>
            <a:ext cx="11811000" cy="4197880"/>
          </a:xfrm>
          <a:prstGeom prst="rect">
            <a:avLst/>
          </a:prstGeom>
          <a:noFill/>
        </p:spPr>
        <p:txBody>
          <a:bodyPr wrap="square" rtlCol="0">
            <a:spAutoFit/>
          </a:bodyPr>
          <a:lstStyle/>
          <a:p>
            <a:pPr>
              <a:lnSpc>
                <a:spcPct val="150000"/>
              </a:lnSpc>
            </a:pPr>
            <a:r>
              <a:rPr lang="en-US" sz="2000" dirty="0">
                <a:latin typeface="Consolas" panose="020B0609020204030204" pitchFamily="49" charset="0"/>
              </a:rPr>
              <a:t>How Papers Were Found — PubMed Query</a:t>
            </a:r>
          </a:p>
          <a:p>
            <a:pPr>
              <a:lnSpc>
                <a:spcPct val="150000"/>
              </a:lnSpc>
            </a:pPr>
            <a:r>
              <a:rPr lang="en-US" sz="2000" dirty="0">
                <a:latin typeface="Consolas" panose="020B0609020204030204" pitchFamily="49" charset="0"/>
              </a:rPr>
              <a:t>Exact Query Used:</a:t>
            </a:r>
          </a:p>
          <a:p>
            <a:pPr>
              <a:lnSpc>
                <a:spcPct val="150000"/>
              </a:lnSpc>
            </a:pPr>
            <a:r>
              <a:rPr lang="en-US" sz="2000" dirty="0">
                <a:latin typeface="Consolas" panose="020B0609020204030204" pitchFamily="49" charset="0"/>
              </a:rPr>
              <a:t>drug interaction[</a:t>
            </a:r>
            <a:r>
              <a:rPr lang="en-US" sz="2000" dirty="0" err="1">
                <a:latin typeface="Consolas" panose="020B0609020204030204" pitchFamily="49" charset="0"/>
              </a:rPr>
              <a:t>MeSH</a:t>
            </a:r>
            <a:r>
              <a:rPr lang="en-US" sz="2000" dirty="0">
                <a:latin typeface="Consolas" panose="020B0609020204030204" pitchFamily="49" charset="0"/>
              </a:rPr>
              <a:t> Terms] AND pharmacology[</a:t>
            </a:r>
            <a:r>
              <a:rPr lang="en-US" sz="2000" dirty="0" err="1">
                <a:latin typeface="Consolas" panose="020B0609020204030204" pitchFamily="49" charset="0"/>
              </a:rPr>
              <a:t>MeSH</a:t>
            </a:r>
            <a:r>
              <a:rPr lang="en-US" sz="2000" dirty="0">
                <a:latin typeface="Consolas" panose="020B0609020204030204" pitchFamily="49" charset="0"/>
              </a:rPr>
              <a:t> Terms]</a:t>
            </a:r>
          </a:p>
          <a:p>
            <a:pPr>
              <a:lnSpc>
                <a:spcPct val="150000"/>
              </a:lnSpc>
            </a:pPr>
            <a:r>
              <a:rPr lang="en-US" sz="2000" dirty="0">
                <a:latin typeface="Consolas" panose="020B0609020204030204" pitchFamily="49" charset="0"/>
              </a:rPr>
              <a:t>Date range: 2025/01/01 → 2026/03/10 </a:t>
            </a:r>
          </a:p>
          <a:p>
            <a:pPr>
              <a:lnSpc>
                <a:spcPct val="150000"/>
              </a:lnSpc>
            </a:pPr>
            <a:r>
              <a:rPr lang="en-US" sz="2000" dirty="0">
                <a:latin typeface="Consolas" panose="020B0609020204030204" pitchFamily="49" charset="0"/>
              </a:rPr>
              <a:t>Max results: 50 Returned: 43 papers</a:t>
            </a:r>
          </a:p>
          <a:p>
            <a:pPr>
              <a:lnSpc>
                <a:spcPct val="150000"/>
              </a:lnSpc>
            </a:pPr>
            <a:r>
              <a:rPr lang="en-US" sz="2000" dirty="0">
                <a:latin typeface="Consolas" panose="020B0609020204030204" pitchFamily="49" charset="0"/>
              </a:rPr>
              <a:t>Why </a:t>
            </a:r>
            <a:r>
              <a:rPr lang="en-US" sz="2000" dirty="0" err="1">
                <a:latin typeface="Consolas" panose="020B0609020204030204" pitchFamily="49" charset="0"/>
              </a:rPr>
              <a:t>MeSH</a:t>
            </a:r>
            <a:r>
              <a:rPr lang="en-US" sz="2000" dirty="0">
                <a:latin typeface="Consolas" panose="020B0609020204030204" pitchFamily="49" charset="0"/>
              </a:rPr>
              <a:t> terms (not keywords):- </a:t>
            </a:r>
            <a:r>
              <a:rPr lang="en-US" sz="2000" dirty="0" err="1">
                <a:latin typeface="Consolas" panose="020B0609020204030204" pitchFamily="49" charset="0"/>
              </a:rPr>
              <a:t>MeSH</a:t>
            </a:r>
            <a:r>
              <a:rPr lang="en-US" sz="2000" dirty="0">
                <a:latin typeface="Consolas" panose="020B0609020204030204" pitchFamily="49" charset="0"/>
              </a:rPr>
              <a:t> = Medical Subject Headings </a:t>
            </a:r>
          </a:p>
          <a:p>
            <a:pPr marL="342900" indent="-342900">
              <a:lnSpc>
                <a:spcPct val="150000"/>
              </a:lnSpc>
              <a:buFont typeface="Arial" panose="020B0604020202020204" pitchFamily="34" charset="0"/>
              <a:buChar char="•"/>
            </a:pPr>
            <a:r>
              <a:rPr lang="en-US" sz="2000" dirty="0">
                <a:latin typeface="Consolas" panose="020B0609020204030204" pitchFamily="49" charset="0"/>
              </a:rPr>
              <a:t>Controlled vocabulary by NLM</a:t>
            </a:r>
          </a:p>
          <a:p>
            <a:pPr marL="342900" indent="-342900">
              <a:lnSpc>
                <a:spcPct val="150000"/>
              </a:lnSpc>
              <a:buFont typeface="Arial" panose="020B0604020202020204" pitchFamily="34" charset="0"/>
              <a:buChar char="•"/>
            </a:pPr>
            <a:r>
              <a:rPr lang="en-US" sz="2000" dirty="0">
                <a:latin typeface="Consolas" panose="020B0609020204030204" pitchFamily="49" charset="0"/>
              </a:rPr>
              <a:t>More precise than free-text search</a:t>
            </a:r>
          </a:p>
          <a:p>
            <a:pPr marL="342900" indent="-342900">
              <a:lnSpc>
                <a:spcPct val="150000"/>
              </a:lnSpc>
              <a:buFont typeface="Arial" panose="020B0604020202020204" pitchFamily="34" charset="0"/>
              <a:buChar char="•"/>
            </a:pPr>
            <a:r>
              <a:rPr lang="en-US" sz="2000" dirty="0">
                <a:latin typeface="Consolas" panose="020B0609020204030204" pitchFamily="49" charset="0"/>
              </a:rPr>
              <a:t>Papers are human-tagged so less noise}</a:t>
            </a:r>
          </a:p>
        </p:txBody>
      </p:sp>
      <p:sp>
        <p:nvSpPr>
          <p:cNvPr id="13" name="TextBox 12">
            <a:extLst>
              <a:ext uri="{FF2B5EF4-FFF2-40B4-BE49-F238E27FC236}">
                <a16:creationId xmlns:a16="http://schemas.microsoft.com/office/drawing/2014/main" id="{1567171C-7469-1700-386E-CB0FE3DF52A3}"/>
              </a:ext>
            </a:extLst>
          </p:cNvPr>
          <p:cNvSpPr txBox="1"/>
          <p:nvPr/>
        </p:nvSpPr>
        <p:spPr>
          <a:xfrm>
            <a:off x="3319430" y="2097282"/>
            <a:ext cx="5486400" cy="461665"/>
          </a:xfrm>
          <a:prstGeom prst="rect">
            <a:avLst/>
          </a:prstGeom>
          <a:noFill/>
        </p:spPr>
        <p:txBody>
          <a:bodyPr wrap="square" rtlCol="0">
            <a:spAutoFit/>
          </a:bodyPr>
          <a:lstStyle/>
          <a:p>
            <a:r>
              <a:rPr lang="en-GB" sz="2400" b="1" dirty="0">
                <a:latin typeface="Consolas" panose="020B0609020204030204" pitchFamily="49" charset="0"/>
              </a:rPr>
              <a:t>Query Search Criteria</a:t>
            </a:r>
          </a:p>
        </p:txBody>
      </p:sp>
    </p:spTree>
    <p:extLst>
      <p:ext uri="{BB962C8B-B14F-4D97-AF65-F5344CB8AC3E}">
        <p14:creationId xmlns:p14="http://schemas.microsoft.com/office/powerpoint/2010/main" val="911119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p:cNvGrpSpPr/>
        <p:nvPr/>
      </p:nvGrpSpPr>
      <p:grpSpPr>
        <a:xfrm>
          <a:off x="0" y="0"/>
          <a:ext cx="0" cy="0"/>
          <a:chOff x="0" y="0"/>
          <a:chExt cx="0" cy="0"/>
        </a:xfrm>
      </p:grpSpPr>
      <p:sp>
        <p:nvSpPr>
          <p:cNvPr id="1766" name="Freeform 4">
            <a:extLst>
              <a:ext uri="{FF2B5EF4-FFF2-40B4-BE49-F238E27FC236}">
                <a16:creationId xmlns:a16="http://schemas.microsoft.com/office/drawing/2014/main" id="{F416B960-4326-8BF0-7B87-9943892F934B}"/>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BC165231-76A4-45CA-F3E9-60EB80DBD535}"/>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2B7E6466-C459-571C-E9AC-94A00209EF08}"/>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grpSp>
        <p:nvGrpSpPr>
          <p:cNvPr id="5" name="Group 5"/>
          <p:cNvGrpSpPr/>
          <p:nvPr/>
        </p:nvGrpSpPr>
        <p:grpSpPr>
          <a:xfrm>
            <a:off x="1219200" y="955431"/>
            <a:ext cx="16284006" cy="8376138"/>
            <a:chOff x="0" y="-47625"/>
            <a:chExt cx="5292307" cy="2722247"/>
          </a:xfrm>
        </p:grpSpPr>
        <p:sp>
          <p:nvSpPr>
            <p:cNvPr id="6" name="Freeform 6"/>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D10BE36C-9A1A-8364-3631-398F3F93D8D4}"/>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PROPOSED SOLUTION</a:t>
            </a:r>
          </a:p>
        </p:txBody>
      </p:sp>
      <p:sp>
        <p:nvSpPr>
          <p:cNvPr id="12" name="TextBox 11">
            <a:extLst>
              <a:ext uri="{FF2B5EF4-FFF2-40B4-BE49-F238E27FC236}">
                <a16:creationId xmlns:a16="http://schemas.microsoft.com/office/drawing/2014/main" id="{8ECDEA3B-FC80-2067-4CEA-FF3963A9B369}"/>
              </a:ext>
            </a:extLst>
          </p:cNvPr>
          <p:cNvSpPr txBox="1"/>
          <p:nvPr/>
        </p:nvSpPr>
        <p:spPr>
          <a:xfrm>
            <a:off x="2924536" y="2247900"/>
            <a:ext cx="11960048" cy="830997"/>
          </a:xfrm>
          <a:prstGeom prst="rect">
            <a:avLst/>
          </a:prstGeom>
          <a:noFill/>
        </p:spPr>
        <p:txBody>
          <a:bodyPr wrap="square">
            <a:spAutoFit/>
          </a:bodyPr>
          <a:lstStyle/>
          <a:p>
            <a:pPr algn="just"/>
            <a:r>
              <a:rPr lang="en-US" sz="2400" b="1" dirty="0">
                <a:latin typeface="Consolas" panose="020B0609020204030204" pitchFamily="49" charset="0"/>
              </a:rPr>
              <a:t>Tech Stack</a:t>
            </a:r>
          </a:p>
          <a:p>
            <a:pPr algn="just"/>
            <a:endParaRPr lang="en-GB" sz="2400" b="1" dirty="0">
              <a:latin typeface="Consolas" panose="020B0609020204030204" pitchFamily="49" charset="0"/>
            </a:endParaRPr>
          </a:p>
        </p:txBody>
      </p:sp>
      <p:pic>
        <p:nvPicPr>
          <p:cNvPr id="13" name="Picture 12">
            <a:extLst>
              <a:ext uri="{FF2B5EF4-FFF2-40B4-BE49-F238E27FC236}">
                <a16:creationId xmlns:a16="http://schemas.microsoft.com/office/drawing/2014/main" id="{6EC4641D-9F60-DE8E-240F-7112A375BB2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360459" y="1504865"/>
            <a:ext cx="1553526" cy="734389"/>
          </a:xfrm>
          <a:prstGeom prst="rect">
            <a:avLst/>
          </a:prstGeom>
        </p:spPr>
      </p:pic>
      <p:pic>
        <p:nvPicPr>
          <p:cNvPr id="4" name="Picture 3">
            <a:extLst>
              <a:ext uri="{FF2B5EF4-FFF2-40B4-BE49-F238E27FC236}">
                <a16:creationId xmlns:a16="http://schemas.microsoft.com/office/drawing/2014/main" id="{71FB852E-030A-B989-B931-B42F9C19CD09}"/>
              </a:ext>
            </a:extLst>
          </p:cNvPr>
          <p:cNvPicPr>
            <a:picLocks noChangeAspect="1"/>
          </p:cNvPicPr>
          <p:nvPr/>
        </p:nvPicPr>
        <p:blipFill>
          <a:blip r:embed="rId5">
            <a:alphaModFix amt="60000"/>
            <a:extLst>
              <a:ext uri="{28A0092B-C50C-407E-A947-70E740481C1C}">
                <a14:useLocalDpi xmlns:a14="http://schemas.microsoft.com/office/drawing/2010/main" val="0"/>
              </a:ext>
            </a:extLst>
          </a:blip>
          <a:stretch>
            <a:fillRect/>
          </a:stretch>
        </p:blipFill>
        <p:spPr>
          <a:xfrm>
            <a:off x="13996626" y="6362700"/>
            <a:ext cx="4762500" cy="4762500"/>
          </a:xfrm>
          <a:prstGeom prst="rect">
            <a:avLst/>
          </a:prstGeom>
        </p:spPr>
      </p:pic>
      <p:graphicFrame>
        <p:nvGraphicFramePr>
          <p:cNvPr id="2" name="Table 1">
            <a:extLst>
              <a:ext uri="{FF2B5EF4-FFF2-40B4-BE49-F238E27FC236}">
                <a16:creationId xmlns:a16="http://schemas.microsoft.com/office/drawing/2014/main" id="{1BBB610F-59E0-B330-EAE7-8EB53132BD54}"/>
              </a:ext>
            </a:extLst>
          </p:cNvPr>
          <p:cNvGraphicFramePr>
            <a:graphicFrameLocks noGrp="1"/>
          </p:cNvGraphicFramePr>
          <p:nvPr>
            <p:extLst>
              <p:ext uri="{D42A27DB-BD31-4B8C-83A1-F6EECF244321}">
                <p14:modId xmlns:p14="http://schemas.microsoft.com/office/powerpoint/2010/main" val="4071426551"/>
              </p:ext>
            </p:extLst>
          </p:nvPr>
        </p:nvGraphicFramePr>
        <p:xfrm>
          <a:off x="4283687" y="3273800"/>
          <a:ext cx="9607795" cy="4038599"/>
        </p:xfrm>
        <a:graphic>
          <a:graphicData uri="http://schemas.openxmlformats.org/drawingml/2006/table">
            <a:tbl>
              <a:tblPr/>
              <a:tblGrid>
                <a:gridCol w="2743200">
                  <a:extLst>
                    <a:ext uri="{9D8B030D-6E8A-4147-A177-3AD203B41FA5}">
                      <a16:colId xmlns:a16="http://schemas.microsoft.com/office/drawing/2014/main" val="3607025870"/>
                    </a:ext>
                  </a:extLst>
                </a:gridCol>
                <a:gridCol w="2743200">
                  <a:extLst>
                    <a:ext uri="{9D8B030D-6E8A-4147-A177-3AD203B41FA5}">
                      <a16:colId xmlns:a16="http://schemas.microsoft.com/office/drawing/2014/main" val="3757066145"/>
                    </a:ext>
                  </a:extLst>
                </a:gridCol>
                <a:gridCol w="4121395">
                  <a:extLst>
                    <a:ext uri="{9D8B030D-6E8A-4147-A177-3AD203B41FA5}">
                      <a16:colId xmlns:a16="http://schemas.microsoft.com/office/drawing/2014/main" val="69185256"/>
                    </a:ext>
                  </a:extLst>
                </a:gridCol>
              </a:tblGrid>
              <a:tr h="472989">
                <a:tc>
                  <a:txBody>
                    <a:bodyPr/>
                    <a:lstStyle/>
                    <a:p>
                      <a:pPr>
                        <a:buNone/>
                      </a:pPr>
                      <a:r>
                        <a:rPr lang="en-GB" sz="2000">
                          <a:latin typeface="Consolas" panose="020B0609020204030204" pitchFamily="49" charset="0"/>
                        </a:rPr>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6449513"/>
                  </a:ext>
                </a:extLst>
              </a:tr>
              <a:tr h="836827">
                <a:tc>
                  <a:txBody>
                    <a:bodyPr/>
                    <a:lstStyle/>
                    <a:p>
                      <a:pPr>
                        <a:buNone/>
                      </a:pPr>
                      <a:r>
                        <a:rPr lang="en-GB" sz="2000">
                          <a:latin typeface="Consolas" panose="020B0609020204030204" pitchFamily="49" charset="0"/>
                        </a:rPr>
                        <a:t>LLM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Google Gemini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DDI extraction from abstracts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1636729"/>
                  </a:ext>
                </a:extLst>
              </a:tr>
              <a:tr h="472989">
                <a:tc>
                  <a:txBody>
                    <a:bodyPr/>
                    <a:lstStyle/>
                    <a:p>
                      <a:pPr>
                        <a:buNone/>
                      </a:pPr>
                      <a:r>
                        <a:rPr lang="en-GB" sz="2000">
                          <a:latin typeface="Consolas" panose="020B0609020204030204" pitchFamily="49" charset="0"/>
                        </a:rPr>
                        <a:t>Orchestration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LangGraph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Conditional agentic workflow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8092681"/>
                  </a:ext>
                </a:extLst>
              </a:tr>
              <a:tr h="472989">
                <a:tc>
                  <a:txBody>
                    <a:bodyPr/>
                    <a:lstStyle/>
                    <a:p>
                      <a:pPr>
                        <a:buNone/>
                      </a:pPr>
                      <a:r>
                        <a:rPr lang="en-GB" sz="2000">
                          <a:latin typeface="Consolas" panose="020B0609020204030204" pitchFamily="49" charset="0"/>
                        </a:rPr>
                        <a:t>Validation 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ChEMBL REST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dirty="0">
                          <a:latin typeface="Consolas" panose="020B0609020204030204" pitchFamily="49" charset="0"/>
                        </a:rPr>
                        <a:t>Drug verification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8683031"/>
                  </a:ext>
                </a:extLst>
              </a:tr>
              <a:tr h="472989">
                <a:tc>
                  <a:txBody>
                    <a:bodyPr/>
                    <a:lstStyle/>
                    <a:p>
                      <a:pPr>
                        <a:buNone/>
                      </a:pPr>
                      <a:r>
                        <a:rPr lang="en-GB" sz="2000">
                          <a:latin typeface="Consolas" panose="020B0609020204030204" pitchFamily="49" charset="0"/>
                        </a:rPr>
                        <a:t>Graph 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Neo4j</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Knowledge storage &amp; querying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158656"/>
                  </a:ext>
                </a:extLst>
              </a:tr>
              <a:tr h="836827">
                <a:tc>
                  <a:txBody>
                    <a:bodyPr/>
                    <a:lstStyle/>
                    <a:p>
                      <a:pPr>
                        <a:buNone/>
                      </a:pPr>
                      <a:r>
                        <a:rPr lang="en-GB" sz="2000">
                          <a:latin typeface="Consolas" panose="020B0609020204030204" pitchFamily="49" charset="0"/>
                        </a:rPr>
                        <a:t>Framework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LangChain + Pydantic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Abstractions &amp; data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8889422"/>
                  </a:ext>
                </a:extLst>
              </a:tr>
              <a:tr h="472989">
                <a:tc>
                  <a:txBody>
                    <a:bodyPr/>
                    <a:lstStyle/>
                    <a:p>
                      <a:pPr>
                        <a:buNone/>
                      </a:pPr>
                      <a:r>
                        <a:rPr lang="en-GB" sz="2000">
                          <a:latin typeface="Consolas" panose="020B0609020204030204" pitchFamily="49" charset="0"/>
                        </a:rPr>
                        <a:t>Input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a:latin typeface="Consolas" panose="020B0609020204030204" pitchFamily="49" charset="0"/>
                        </a:rPr>
                        <a:t>PubMed NCBI API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2000" dirty="0">
                          <a:latin typeface="Consolas" panose="020B0609020204030204" pitchFamily="49" charset="0"/>
                        </a:rPr>
                        <a:t>Biomedical literature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2141052"/>
                  </a:ext>
                </a:extLst>
              </a:tr>
            </a:tbl>
          </a:graphicData>
        </a:graphic>
      </p:graphicFrame>
    </p:spTree>
    <p:extLst>
      <p:ext uri="{BB962C8B-B14F-4D97-AF65-F5344CB8AC3E}">
        <p14:creationId xmlns:p14="http://schemas.microsoft.com/office/powerpoint/2010/main" val="1352683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1CE75266-F7F9-33E6-E97C-6B59FADC5142}"/>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B13014EC-EA67-F420-AD1C-9A6BEB2706F5}"/>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EAC1794C-45A0-5548-ECFB-EA2FEF72EDB1}"/>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FB4D1579-DB49-7B07-6648-A53BCDE704B4}"/>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9F3E036E-E96F-3850-1D1C-29A2D1F91A5F}"/>
              </a:ext>
            </a:extLst>
          </p:cNvPr>
          <p:cNvGrpSpPr/>
          <p:nvPr/>
        </p:nvGrpSpPr>
        <p:grpSpPr>
          <a:xfrm>
            <a:off x="1219200" y="955431"/>
            <a:ext cx="16284006" cy="8376138"/>
            <a:chOff x="0" y="-47625"/>
            <a:chExt cx="5292307" cy="2722247"/>
          </a:xfrm>
        </p:grpSpPr>
        <p:sp>
          <p:nvSpPr>
            <p:cNvPr id="6" name="Freeform 6">
              <a:extLst>
                <a:ext uri="{FF2B5EF4-FFF2-40B4-BE49-F238E27FC236}">
                  <a16:creationId xmlns:a16="http://schemas.microsoft.com/office/drawing/2014/main" id="{F5E21CEA-1B29-7F57-119E-A99B607F8281}"/>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1D9CC89B-F0A5-A655-BA22-471A57909232}"/>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6AFD5B09-48A2-B625-429B-BEDD045AB2E4}"/>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PROPOSED SOLUTION</a:t>
            </a:r>
          </a:p>
        </p:txBody>
      </p:sp>
      <p:sp>
        <p:nvSpPr>
          <p:cNvPr id="12" name="TextBox 11">
            <a:extLst>
              <a:ext uri="{FF2B5EF4-FFF2-40B4-BE49-F238E27FC236}">
                <a16:creationId xmlns:a16="http://schemas.microsoft.com/office/drawing/2014/main" id="{A3ED2546-B07A-BFDE-5AE4-FE82BD9CA4BB}"/>
              </a:ext>
            </a:extLst>
          </p:cNvPr>
          <p:cNvSpPr txBox="1"/>
          <p:nvPr/>
        </p:nvSpPr>
        <p:spPr>
          <a:xfrm>
            <a:off x="3121996" y="1956929"/>
            <a:ext cx="3247664" cy="4647426"/>
          </a:xfrm>
          <a:prstGeom prst="rect">
            <a:avLst/>
          </a:prstGeom>
          <a:noFill/>
        </p:spPr>
        <p:txBody>
          <a:bodyPr wrap="square">
            <a:spAutoFit/>
          </a:bodyPr>
          <a:lstStyle/>
          <a:p>
            <a:pPr algn="just"/>
            <a:r>
              <a:rPr lang="en-US" sz="2400" b="1" dirty="0" err="1">
                <a:latin typeface="Consolas" panose="020B0609020204030204" pitchFamily="49" charset="0"/>
              </a:rPr>
              <a:t>LangGraph</a:t>
            </a:r>
            <a:r>
              <a:rPr lang="en-US" sz="2400" b="1" dirty="0">
                <a:latin typeface="Consolas" panose="020B0609020204030204" pitchFamily="49" charset="0"/>
              </a:rPr>
              <a:t> </a:t>
            </a:r>
            <a:r>
              <a:rPr lang="en-US" sz="2400" b="1" dirty="0" err="1">
                <a:latin typeface="Consolas" panose="020B0609020204030204" pitchFamily="49" charset="0"/>
              </a:rPr>
              <a:t>Worflow</a:t>
            </a:r>
            <a:endParaRPr lang="en-US" sz="2400" b="1" dirty="0">
              <a:latin typeface="Consolas" panose="020B0609020204030204" pitchFamily="49" charset="0"/>
            </a:endParaRPr>
          </a:p>
          <a:p>
            <a:pPr algn="just"/>
            <a:endParaRPr lang="en-US" sz="2400" b="1"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pPr algn="just"/>
            <a:endParaRPr lang="en-US" sz="2400" b="1" dirty="0">
              <a:latin typeface="Consolas" panose="020B0609020204030204" pitchFamily="49" charset="0"/>
            </a:endParaRPr>
          </a:p>
          <a:p>
            <a:pPr algn="just"/>
            <a:endParaRPr lang="en-GB" sz="2400" b="1" dirty="0">
              <a:latin typeface="Consolas" panose="020B0609020204030204" pitchFamily="49" charset="0"/>
            </a:endParaRPr>
          </a:p>
        </p:txBody>
      </p:sp>
      <p:pic>
        <p:nvPicPr>
          <p:cNvPr id="13" name="Picture 12">
            <a:extLst>
              <a:ext uri="{FF2B5EF4-FFF2-40B4-BE49-F238E27FC236}">
                <a16:creationId xmlns:a16="http://schemas.microsoft.com/office/drawing/2014/main" id="{7B954523-0897-667D-AF9C-C98E1F0DDF6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360459" y="1504865"/>
            <a:ext cx="1553526" cy="734389"/>
          </a:xfrm>
          <a:prstGeom prst="rect">
            <a:avLst/>
          </a:prstGeom>
        </p:spPr>
      </p:pic>
      <p:pic>
        <p:nvPicPr>
          <p:cNvPr id="4" name="Picture 3">
            <a:extLst>
              <a:ext uri="{FF2B5EF4-FFF2-40B4-BE49-F238E27FC236}">
                <a16:creationId xmlns:a16="http://schemas.microsoft.com/office/drawing/2014/main" id="{A6FE052A-6FB1-CB18-B152-898B5678345D}"/>
              </a:ext>
            </a:extLst>
          </p:cNvPr>
          <p:cNvPicPr>
            <a:picLocks noChangeAspect="1"/>
          </p:cNvPicPr>
          <p:nvPr/>
        </p:nvPicPr>
        <p:blipFill>
          <a:blip r:embed="rId5">
            <a:alphaModFix amt="60000"/>
            <a:extLst>
              <a:ext uri="{28A0092B-C50C-407E-A947-70E740481C1C}">
                <a14:useLocalDpi xmlns:a14="http://schemas.microsoft.com/office/drawing/2010/main" val="0"/>
              </a:ext>
            </a:extLst>
          </a:blip>
          <a:stretch>
            <a:fillRect/>
          </a:stretch>
        </p:blipFill>
        <p:spPr>
          <a:xfrm>
            <a:off x="13996626" y="6362700"/>
            <a:ext cx="4762500" cy="4762500"/>
          </a:xfrm>
          <a:prstGeom prst="rect">
            <a:avLst/>
          </a:prstGeom>
        </p:spPr>
      </p:pic>
      <p:pic>
        <p:nvPicPr>
          <p:cNvPr id="8" name="Picture 7">
            <a:extLst>
              <a:ext uri="{FF2B5EF4-FFF2-40B4-BE49-F238E27FC236}">
                <a16:creationId xmlns:a16="http://schemas.microsoft.com/office/drawing/2014/main" id="{247950A3-84C3-ABBF-AE85-2439F890D6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57286" y="2317506"/>
            <a:ext cx="2476500" cy="6867525"/>
          </a:xfrm>
          <a:prstGeom prst="rect">
            <a:avLst/>
          </a:prstGeom>
        </p:spPr>
      </p:pic>
      <p:sp>
        <p:nvSpPr>
          <p:cNvPr id="9" name="TextBox 8">
            <a:extLst>
              <a:ext uri="{FF2B5EF4-FFF2-40B4-BE49-F238E27FC236}">
                <a16:creationId xmlns:a16="http://schemas.microsoft.com/office/drawing/2014/main" id="{74D9AC30-3BAA-C7A3-5F15-C4122940FF0F}"/>
              </a:ext>
            </a:extLst>
          </p:cNvPr>
          <p:cNvSpPr txBox="1"/>
          <p:nvPr/>
        </p:nvSpPr>
        <p:spPr>
          <a:xfrm>
            <a:off x="7171853" y="4404707"/>
            <a:ext cx="8534400" cy="1477328"/>
          </a:xfrm>
          <a:prstGeom prst="rect">
            <a:avLst/>
          </a:prstGeom>
          <a:noFill/>
        </p:spPr>
        <p:txBody>
          <a:bodyPr wrap="square" rtlCol="0">
            <a:spAutoFit/>
          </a:bodyPr>
          <a:lstStyle/>
          <a:p>
            <a:r>
              <a:rPr lang="en-GB" b="1" dirty="0">
                <a:latin typeface="Consolas" panose="020B0609020204030204" pitchFamily="49" charset="0"/>
              </a:rPr>
              <a:t>Context Management:</a:t>
            </a:r>
            <a:endParaRPr lang="en-GB" dirty="0">
              <a:latin typeface="Consolas" panose="020B0609020204030204" pitchFamily="49" charset="0"/>
            </a:endParaRPr>
          </a:p>
          <a:p>
            <a:pPr marL="342900" indent="-342900">
              <a:buFont typeface="Arial" panose="020B0604020202020204" pitchFamily="34" charset="0"/>
              <a:buChar char="•"/>
            </a:pPr>
            <a:r>
              <a:rPr lang="en-GB" dirty="0">
                <a:latin typeface="Consolas" panose="020B0609020204030204" pitchFamily="49" charset="0"/>
              </a:rPr>
              <a:t>No long-term memory — each paper processed independently</a:t>
            </a:r>
          </a:p>
          <a:p>
            <a:pPr marL="342900" indent="-342900">
              <a:buFont typeface="Arial" panose="020B0604020202020204" pitchFamily="34" charset="0"/>
              <a:buChar char="•"/>
            </a:pPr>
            <a:r>
              <a:rPr lang="en-GB" dirty="0">
                <a:latin typeface="Consolas" panose="020B0609020204030204" pitchFamily="49" charset="0"/>
              </a:rPr>
              <a:t>Drug validation results cached within each batch</a:t>
            </a:r>
          </a:p>
          <a:p>
            <a:pPr marL="342900" indent="-342900">
              <a:buFont typeface="Arial" panose="020B0604020202020204" pitchFamily="34" charset="0"/>
              <a:buChar char="•"/>
            </a:pPr>
            <a:r>
              <a:rPr lang="en-GB" dirty="0">
                <a:latin typeface="Consolas" panose="020B0609020204030204" pitchFamily="49" charset="0"/>
              </a:rPr>
              <a:t>All results persisted in Neo4j graph</a:t>
            </a:r>
          </a:p>
          <a:p>
            <a:endParaRPr lang="en-GB" dirty="0"/>
          </a:p>
        </p:txBody>
      </p:sp>
    </p:spTree>
    <p:extLst>
      <p:ext uri="{BB962C8B-B14F-4D97-AF65-F5344CB8AC3E}">
        <p14:creationId xmlns:p14="http://schemas.microsoft.com/office/powerpoint/2010/main" val="3254593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3EBECD72-FBBC-C8C5-3CDE-2ED4EF0D6559}"/>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B5AEA1FF-B3A8-0E37-4595-E841DC375220}"/>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56F1D196-3C1C-457B-74BA-9E361902C3B9}"/>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B4500A63-75A3-2432-28BD-104974F2924C}"/>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FA60ABA1-D44F-E323-6B96-90FD4A41C5D0}"/>
              </a:ext>
            </a:extLst>
          </p:cNvPr>
          <p:cNvGrpSpPr/>
          <p:nvPr/>
        </p:nvGrpSpPr>
        <p:grpSpPr>
          <a:xfrm>
            <a:off x="1219200" y="955431"/>
            <a:ext cx="16284006" cy="8376138"/>
            <a:chOff x="0" y="-47625"/>
            <a:chExt cx="5292307" cy="2722247"/>
          </a:xfrm>
        </p:grpSpPr>
        <p:sp>
          <p:nvSpPr>
            <p:cNvPr id="6" name="Freeform 6">
              <a:extLst>
                <a:ext uri="{FF2B5EF4-FFF2-40B4-BE49-F238E27FC236}">
                  <a16:creationId xmlns:a16="http://schemas.microsoft.com/office/drawing/2014/main" id="{BDC3BD0D-62B0-AC3B-1032-F2199BDA0DC2}"/>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a:extLst>
                <a:ext uri="{FF2B5EF4-FFF2-40B4-BE49-F238E27FC236}">
                  <a16:creationId xmlns:a16="http://schemas.microsoft.com/office/drawing/2014/main" id="{8BB86AAF-246A-B4FF-9F57-1A649063E20A}"/>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6C267AF8-4B5D-F635-0CA2-7341AFCCB0F7}"/>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PROPOSED SOLUTION</a:t>
            </a:r>
          </a:p>
        </p:txBody>
      </p:sp>
      <p:sp>
        <p:nvSpPr>
          <p:cNvPr id="12" name="TextBox 11">
            <a:extLst>
              <a:ext uri="{FF2B5EF4-FFF2-40B4-BE49-F238E27FC236}">
                <a16:creationId xmlns:a16="http://schemas.microsoft.com/office/drawing/2014/main" id="{4BDAC6D7-D4B3-5FD1-384A-2861D1D0E3FE}"/>
              </a:ext>
            </a:extLst>
          </p:cNvPr>
          <p:cNvSpPr txBox="1"/>
          <p:nvPr/>
        </p:nvSpPr>
        <p:spPr>
          <a:xfrm>
            <a:off x="4343400" y="2746852"/>
            <a:ext cx="8991599" cy="7109639"/>
          </a:xfrm>
          <a:prstGeom prst="rect">
            <a:avLst/>
          </a:prstGeom>
          <a:noFill/>
        </p:spPr>
        <p:txBody>
          <a:bodyPr wrap="square">
            <a:spAutoFit/>
          </a:bodyPr>
          <a:lstStyle/>
          <a:p>
            <a:pPr algn="just"/>
            <a:endParaRPr lang="en-US" sz="2400" b="1" dirty="0">
              <a:latin typeface="Consolas" panose="020B0609020204030204" pitchFamily="49" charset="0"/>
            </a:endParaRPr>
          </a:p>
          <a:p>
            <a:r>
              <a:rPr lang="en-GB" sz="2000" b="1" dirty="0">
                <a:latin typeface="Consolas" panose="020B0609020204030204" pitchFamily="49" charset="0"/>
              </a:rPr>
              <a:t>Current Limitation:</a:t>
            </a:r>
            <a:endParaRPr lang="en-GB" sz="2000" dirty="0">
              <a:latin typeface="Consolas" panose="020B0609020204030204" pitchFamily="49" charset="0"/>
            </a:endParaRPr>
          </a:p>
          <a:p>
            <a:r>
              <a:rPr lang="en-GB" sz="2000" dirty="0">
                <a:latin typeface="Consolas" panose="020B0609020204030204" pitchFamily="49" charset="0"/>
              </a:rPr>
              <a:t>24/43 papers pending due to Gemini API token limits</a:t>
            </a:r>
          </a:p>
          <a:p>
            <a:r>
              <a:rPr lang="en-GB" sz="2000" dirty="0">
                <a:latin typeface="Consolas" panose="020B0609020204030204" pitchFamily="49" charset="0"/>
              </a:rPr>
              <a:t>Will be resolved for final submission</a:t>
            </a:r>
          </a:p>
          <a:p>
            <a:r>
              <a:rPr lang="en-GB" sz="2000" b="1" dirty="0">
                <a:latin typeface="Consolas" panose="020B0609020204030204" pitchFamily="49" charset="0"/>
              </a:rPr>
              <a:t>Next Steps:</a:t>
            </a:r>
            <a:endParaRPr lang="en-GB" sz="2000" dirty="0">
              <a:latin typeface="Consolas" panose="020B0609020204030204" pitchFamily="49" charset="0"/>
            </a:endParaRPr>
          </a:p>
          <a:p>
            <a:r>
              <a:rPr lang="en-GB" sz="2000" dirty="0">
                <a:latin typeface="Consolas" panose="020B0609020204030204" pitchFamily="49" charset="0"/>
              </a:rPr>
              <a:t>Process remaining 24 papers</a:t>
            </a:r>
          </a:p>
          <a:p>
            <a:r>
              <a:rPr lang="en-GB" sz="2000" dirty="0">
                <a:latin typeface="Consolas" panose="020B0609020204030204" pitchFamily="49" charset="0"/>
              </a:rPr>
              <a:t>Add web UI for natural language queries</a:t>
            </a:r>
          </a:p>
          <a:p>
            <a:r>
              <a:rPr lang="en-GB" sz="2000" dirty="0">
                <a:latin typeface="Consolas" panose="020B0609020204030204" pitchFamily="49" charset="0"/>
              </a:rPr>
              <a:t>Add vector embeddings for semantic search</a:t>
            </a:r>
          </a:p>
          <a:p>
            <a:r>
              <a:rPr lang="en-GB" sz="2000" dirty="0">
                <a:latin typeface="Consolas" panose="020B0609020204030204" pitchFamily="49" charset="0"/>
              </a:rPr>
              <a:t>Use Local LLM for Validation </a:t>
            </a:r>
          </a:p>
          <a:p>
            <a:pPr algn="just"/>
            <a:endParaRPr lang="en-US" sz="2400" b="1"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endParaRPr lang="en-GB" sz="2000" dirty="0">
              <a:latin typeface="Consolas" panose="020B0609020204030204" pitchFamily="49" charset="0"/>
            </a:endParaRPr>
          </a:p>
          <a:p>
            <a:pPr algn="just"/>
            <a:endParaRPr lang="en-US" sz="2400" b="1" dirty="0">
              <a:latin typeface="Consolas" panose="020B0609020204030204" pitchFamily="49" charset="0"/>
            </a:endParaRPr>
          </a:p>
          <a:p>
            <a:pPr algn="just"/>
            <a:endParaRPr lang="en-GB" sz="2400" b="1" dirty="0">
              <a:latin typeface="Consolas" panose="020B0609020204030204" pitchFamily="49" charset="0"/>
            </a:endParaRPr>
          </a:p>
        </p:txBody>
      </p:sp>
      <p:pic>
        <p:nvPicPr>
          <p:cNvPr id="13" name="Picture 12">
            <a:extLst>
              <a:ext uri="{FF2B5EF4-FFF2-40B4-BE49-F238E27FC236}">
                <a16:creationId xmlns:a16="http://schemas.microsoft.com/office/drawing/2014/main" id="{A7D98C8E-3581-D2DD-A70A-8F9986C86C8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360459" y="1504865"/>
            <a:ext cx="1553526" cy="734389"/>
          </a:xfrm>
          <a:prstGeom prst="rect">
            <a:avLst/>
          </a:prstGeom>
        </p:spPr>
      </p:pic>
      <p:pic>
        <p:nvPicPr>
          <p:cNvPr id="4" name="Picture 3">
            <a:extLst>
              <a:ext uri="{FF2B5EF4-FFF2-40B4-BE49-F238E27FC236}">
                <a16:creationId xmlns:a16="http://schemas.microsoft.com/office/drawing/2014/main" id="{B2B65420-941E-2376-B5AD-D2AA2846B4AE}"/>
              </a:ext>
            </a:extLst>
          </p:cNvPr>
          <p:cNvPicPr>
            <a:picLocks noChangeAspect="1"/>
          </p:cNvPicPr>
          <p:nvPr/>
        </p:nvPicPr>
        <p:blipFill>
          <a:blip r:embed="rId5">
            <a:alphaModFix amt="60000"/>
            <a:extLst>
              <a:ext uri="{28A0092B-C50C-407E-A947-70E740481C1C}">
                <a14:useLocalDpi xmlns:a14="http://schemas.microsoft.com/office/drawing/2010/main" val="0"/>
              </a:ext>
            </a:extLst>
          </a:blip>
          <a:stretch>
            <a:fillRect/>
          </a:stretch>
        </p:blipFill>
        <p:spPr>
          <a:xfrm>
            <a:off x="13996626" y="6362700"/>
            <a:ext cx="4762500" cy="4762500"/>
          </a:xfrm>
          <a:prstGeom prst="rect">
            <a:avLst/>
          </a:prstGeom>
        </p:spPr>
      </p:pic>
    </p:spTree>
    <p:extLst>
      <p:ext uri="{BB962C8B-B14F-4D97-AF65-F5344CB8AC3E}">
        <p14:creationId xmlns:p14="http://schemas.microsoft.com/office/powerpoint/2010/main" val="37671135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p:cNvGrpSpPr/>
        <p:nvPr/>
      </p:nvGrpSpPr>
      <p:grpSpPr>
        <a:xfrm>
          <a:off x="0" y="0"/>
          <a:ext cx="0" cy="0"/>
          <a:chOff x="0" y="0"/>
          <a:chExt cx="0" cy="0"/>
        </a:xfrm>
      </p:grpSpPr>
      <p:sp>
        <p:nvSpPr>
          <p:cNvPr id="1766" name="Freeform 4">
            <a:extLst>
              <a:ext uri="{FF2B5EF4-FFF2-40B4-BE49-F238E27FC236}">
                <a16:creationId xmlns:a16="http://schemas.microsoft.com/office/drawing/2014/main" id="{F416B960-4326-8BF0-7B87-9943892F934B}"/>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BC165231-76A4-45CA-F3E9-60EB80DBD535}"/>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2B7E6466-C459-571C-E9AC-94A00209EF08}"/>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grpSp>
        <p:nvGrpSpPr>
          <p:cNvPr id="5" name="Group 5"/>
          <p:cNvGrpSpPr/>
          <p:nvPr/>
        </p:nvGrpSpPr>
        <p:grpSpPr>
          <a:xfrm>
            <a:off x="1096235" y="928177"/>
            <a:ext cx="16284006" cy="8376138"/>
            <a:chOff x="0" y="-47625"/>
            <a:chExt cx="5292307" cy="2722247"/>
          </a:xfrm>
        </p:grpSpPr>
        <p:sp>
          <p:nvSpPr>
            <p:cNvPr id="6" name="Freeform 6"/>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pPr algn="ctr"/>
              <a:endParaRPr lang="en-IN" sz="2400" b="1" dirty="0">
                <a:latin typeface="Consolas" panose="020B0609020204030204" pitchFamily="49" charset="0"/>
              </a:endParaRPr>
            </a:p>
          </p:txBody>
        </p:sp>
        <p:sp>
          <p:nvSpPr>
            <p:cNvPr id="7" name="TextBox 7"/>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pic>
        <p:nvPicPr>
          <p:cNvPr id="5142" name="Image 321">
            <a:extLst>
              <a:ext uri="{FF2B5EF4-FFF2-40B4-BE49-F238E27FC236}">
                <a16:creationId xmlns:a16="http://schemas.microsoft.com/office/drawing/2014/main" id="{2A0454FE-03F9-0068-79A7-7D282EC420D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24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143" name="Image 322">
            <a:extLst>
              <a:ext uri="{FF2B5EF4-FFF2-40B4-BE49-F238E27FC236}">
                <a16:creationId xmlns:a16="http://schemas.microsoft.com/office/drawing/2014/main" id="{3A93EBB3-8397-9C64-AF54-7DC8D5C3707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74625" cy="84138"/>
          </a:xfrm>
          <a:prstGeom prst="rect">
            <a:avLst/>
          </a:prstGeom>
          <a:noFill/>
          <a:extLst>
            <a:ext uri="{909E8E84-426E-40DD-AFC4-6F175D3DCCD1}">
              <a14:hiddenFill xmlns:a14="http://schemas.microsoft.com/office/drawing/2010/main">
                <a:solidFill>
                  <a:srgbClr val="FFFFFF"/>
                </a:solidFill>
              </a14:hiddenFill>
            </a:ext>
          </a:extLst>
        </p:spPr>
      </p:pic>
      <p:pic>
        <p:nvPicPr>
          <p:cNvPr id="5146" name="Image 325">
            <a:extLst>
              <a:ext uri="{FF2B5EF4-FFF2-40B4-BE49-F238E27FC236}">
                <a16:creationId xmlns:a16="http://schemas.microsoft.com/office/drawing/2014/main" id="{EE66A96F-7F8D-D3CA-FA63-12CB7037D852}"/>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22238" cy="84138"/>
          </a:xfrm>
          <a:prstGeom prst="rect">
            <a:avLst/>
          </a:prstGeom>
          <a:noFill/>
          <a:extLst>
            <a:ext uri="{909E8E84-426E-40DD-AFC4-6F175D3DCCD1}">
              <a14:hiddenFill xmlns:a14="http://schemas.microsoft.com/office/drawing/2010/main">
                <a:solidFill>
                  <a:srgbClr val="FFFFFF"/>
                </a:solidFill>
              </a14:hiddenFill>
            </a:ext>
          </a:extLst>
        </p:spPr>
      </p:pic>
      <p:pic>
        <p:nvPicPr>
          <p:cNvPr id="5157" name="Image 336">
            <a:extLst>
              <a:ext uri="{FF2B5EF4-FFF2-40B4-BE49-F238E27FC236}">
                <a16:creationId xmlns:a16="http://schemas.microsoft.com/office/drawing/2014/main" id="{A7606DC0-3A6F-79E5-F4AC-2E7E6AF6AF7D}"/>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2286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168" name="Image 347">
            <a:extLst>
              <a:ext uri="{FF2B5EF4-FFF2-40B4-BE49-F238E27FC236}">
                <a16:creationId xmlns:a16="http://schemas.microsoft.com/office/drawing/2014/main" id="{710EC43E-ADB8-6DBF-7623-453BE33E54D3}"/>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143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181" name="Image 360">
            <a:extLst>
              <a:ext uri="{FF2B5EF4-FFF2-40B4-BE49-F238E27FC236}">
                <a16:creationId xmlns:a16="http://schemas.microsoft.com/office/drawing/2014/main" id="{988E79A5-9DDF-732E-1E36-64DE652B71D5}"/>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2286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192" name="Image 371">
            <a:extLst>
              <a:ext uri="{FF2B5EF4-FFF2-40B4-BE49-F238E27FC236}">
                <a16:creationId xmlns:a16="http://schemas.microsoft.com/office/drawing/2014/main" id="{3288C08D-1743-732C-8BAD-8460F0E7996E}"/>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143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205" name="Image 384">
            <a:extLst>
              <a:ext uri="{FF2B5EF4-FFF2-40B4-BE49-F238E27FC236}">
                <a16:creationId xmlns:a16="http://schemas.microsoft.com/office/drawing/2014/main" id="{0838D7B4-FA0F-F576-35F2-A9B53587CB1D}"/>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2286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216" name="Image 395">
            <a:extLst>
              <a:ext uri="{FF2B5EF4-FFF2-40B4-BE49-F238E27FC236}">
                <a16:creationId xmlns:a16="http://schemas.microsoft.com/office/drawing/2014/main" id="{C106E80E-9ED6-5DA6-25BB-B8ED9C10E797}"/>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1143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229" name="Image 408">
            <a:extLst>
              <a:ext uri="{FF2B5EF4-FFF2-40B4-BE49-F238E27FC236}">
                <a16:creationId xmlns:a16="http://schemas.microsoft.com/office/drawing/2014/main" id="{BE476B9F-F696-66E0-5608-6F14CDABA0AF}"/>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2286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240" name="Image 419">
            <a:extLst>
              <a:ext uri="{FF2B5EF4-FFF2-40B4-BE49-F238E27FC236}">
                <a16:creationId xmlns:a16="http://schemas.microsoft.com/office/drawing/2014/main" id="{7E44322D-D395-96EE-D5D5-417B0F53C907}"/>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22238" cy="84138"/>
          </a:xfrm>
          <a:prstGeom prst="rect">
            <a:avLst/>
          </a:prstGeom>
          <a:noFill/>
          <a:extLst>
            <a:ext uri="{909E8E84-426E-40DD-AFC4-6F175D3DCCD1}">
              <a14:hiddenFill xmlns:a14="http://schemas.microsoft.com/office/drawing/2010/main">
                <a:solidFill>
                  <a:srgbClr val="FFFFFF"/>
                </a:solidFill>
              </a14:hiddenFill>
            </a:ext>
          </a:extLst>
        </p:spPr>
      </p:pic>
      <p:pic>
        <p:nvPicPr>
          <p:cNvPr id="5277" name="Image 456">
            <a:extLst>
              <a:ext uri="{FF2B5EF4-FFF2-40B4-BE49-F238E27FC236}">
                <a16:creationId xmlns:a16="http://schemas.microsoft.com/office/drawing/2014/main" id="{95E1846D-C93A-33FD-AFBB-29FFD4D6271E}"/>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22238" cy="84138"/>
          </a:xfrm>
          <a:prstGeom prst="rect">
            <a:avLst/>
          </a:prstGeom>
          <a:noFill/>
          <a:extLst>
            <a:ext uri="{909E8E84-426E-40DD-AFC4-6F175D3DCCD1}">
              <a14:hiddenFill xmlns:a14="http://schemas.microsoft.com/office/drawing/2010/main">
                <a:solidFill>
                  <a:srgbClr val="FFFFFF"/>
                </a:solidFill>
              </a14:hiddenFill>
            </a:ext>
          </a:extLst>
        </p:spPr>
      </p:pic>
      <p:pic>
        <p:nvPicPr>
          <p:cNvPr id="5299" name="Image 478">
            <a:extLst>
              <a:ext uri="{FF2B5EF4-FFF2-40B4-BE49-F238E27FC236}">
                <a16:creationId xmlns:a16="http://schemas.microsoft.com/office/drawing/2014/main" id="{816BEBA7-7859-2FE0-E5B3-05D44338F55E}"/>
              </a:ext>
            </a:extLst>
          </p:cNvPr>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143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323" name="Image 502">
            <a:extLst>
              <a:ext uri="{FF2B5EF4-FFF2-40B4-BE49-F238E27FC236}">
                <a16:creationId xmlns:a16="http://schemas.microsoft.com/office/drawing/2014/main" id="{EDC94D13-F26B-91AA-116B-1CD0CF39923F}"/>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114300" cy="84138"/>
          </a:xfrm>
          <a:prstGeom prst="rect">
            <a:avLst/>
          </a:prstGeom>
          <a:noFill/>
          <a:extLst>
            <a:ext uri="{909E8E84-426E-40DD-AFC4-6F175D3DCCD1}">
              <a14:hiddenFill xmlns:a14="http://schemas.microsoft.com/office/drawing/2010/main">
                <a:solidFill>
                  <a:srgbClr val="FFFFFF"/>
                </a:solidFill>
              </a14:hiddenFill>
            </a:ext>
          </a:extLst>
        </p:spPr>
      </p:pic>
      <p:grpSp>
        <p:nvGrpSpPr>
          <p:cNvPr id="6146" name="Group 302"/>
          <p:cNvGrpSpPr>
            <a:grpSpLocks/>
          </p:cNvGrpSpPr>
          <p:nvPr/>
        </p:nvGrpSpPr>
        <p:grpSpPr bwMode="auto">
          <a:xfrm>
            <a:off x="0" y="0"/>
            <a:ext cx="441325" cy="85725"/>
            <a:chOff x="0" y="0"/>
            <a:chExt cx="440690" cy="85725"/>
          </a:xfrm>
        </p:grpSpPr>
      </p:grpSp>
      <p:grpSp>
        <p:nvGrpSpPr>
          <p:cNvPr id="6148" name="Group 305"/>
          <p:cNvGrpSpPr>
            <a:grpSpLocks/>
          </p:cNvGrpSpPr>
          <p:nvPr/>
        </p:nvGrpSpPr>
        <p:grpSpPr bwMode="auto">
          <a:xfrm>
            <a:off x="0" y="0"/>
            <a:ext cx="588963" cy="106363"/>
            <a:chOff x="0" y="0"/>
            <a:chExt cx="5886" cy="1066"/>
          </a:xfrm>
        </p:grpSpPr>
      </p:grpSp>
      <p:grpSp>
        <p:nvGrpSpPr>
          <p:cNvPr id="6150" name="Group 307"/>
          <p:cNvGrpSpPr>
            <a:grpSpLocks/>
          </p:cNvGrpSpPr>
          <p:nvPr/>
        </p:nvGrpSpPr>
        <p:grpSpPr bwMode="auto">
          <a:xfrm>
            <a:off x="0" y="0"/>
            <a:ext cx="349250" cy="87313"/>
            <a:chOff x="0" y="0"/>
            <a:chExt cx="349885" cy="87630"/>
          </a:xfrm>
        </p:grpSpPr>
      </p:grpSp>
      <p:grpSp>
        <p:nvGrpSpPr>
          <p:cNvPr id="6152" name="Group 309"/>
          <p:cNvGrpSpPr>
            <a:grpSpLocks/>
          </p:cNvGrpSpPr>
          <p:nvPr/>
        </p:nvGrpSpPr>
        <p:grpSpPr bwMode="auto">
          <a:xfrm>
            <a:off x="0" y="0"/>
            <a:ext cx="317500" cy="87313"/>
            <a:chOff x="0" y="0"/>
            <a:chExt cx="317500" cy="86995"/>
          </a:xfrm>
        </p:grpSpPr>
      </p:grpSp>
      <p:grpSp>
        <p:nvGrpSpPr>
          <p:cNvPr id="6154" name="Group 311"/>
          <p:cNvGrpSpPr>
            <a:grpSpLocks/>
          </p:cNvGrpSpPr>
          <p:nvPr/>
        </p:nvGrpSpPr>
        <p:grpSpPr bwMode="auto">
          <a:xfrm>
            <a:off x="0" y="0"/>
            <a:ext cx="409575" cy="87313"/>
            <a:chOff x="0" y="0"/>
            <a:chExt cx="409575" cy="86995"/>
          </a:xfrm>
        </p:grpSpPr>
      </p:grpSp>
      <p:grpSp>
        <p:nvGrpSpPr>
          <p:cNvPr id="6156" name="Group 313"/>
          <p:cNvGrpSpPr>
            <a:grpSpLocks/>
          </p:cNvGrpSpPr>
          <p:nvPr/>
        </p:nvGrpSpPr>
        <p:grpSpPr bwMode="auto">
          <a:xfrm>
            <a:off x="0" y="0"/>
            <a:ext cx="317500" cy="87313"/>
            <a:chOff x="0" y="0"/>
            <a:chExt cx="317500" cy="86995"/>
          </a:xfrm>
        </p:grpSpPr>
      </p:grpSp>
      <p:grpSp>
        <p:nvGrpSpPr>
          <p:cNvPr id="6158" name="Group 315"/>
          <p:cNvGrpSpPr>
            <a:grpSpLocks/>
          </p:cNvGrpSpPr>
          <p:nvPr/>
        </p:nvGrpSpPr>
        <p:grpSpPr bwMode="auto">
          <a:xfrm>
            <a:off x="0" y="0"/>
            <a:ext cx="409575" cy="87313"/>
            <a:chOff x="0" y="0"/>
            <a:chExt cx="409575" cy="86995"/>
          </a:xfrm>
        </p:grpSpPr>
      </p:grpSp>
      <p:grpSp>
        <p:nvGrpSpPr>
          <p:cNvPr id="6160" name="Group 317"/>
          <p:cNvGrpSpPr>
            <a:grpSpLocks/>
          </p:cNvGrpSpPr>
          <p:nvPr/>
        </p:nvGrpSpPr>
        <p:grpSpPr bwMode="auto">
          <a:xfrm>
            <a:off x="0" y="0"/>
            <a:ext cx="447675" cy="85725"/>
            <a:chOff x="0" y="0"/>
            <a:chExt cx="447040" cy="85725"/>
          </a:xfrm>
        </p:grpSpPr>
      </p:grpSp>
      <p:grpSp>
        <p:nvGrpSpPr>
          <p:cNvPr id="6162" name="Group 319"/>
          <p:cNvGrpSpPr>
            <a:grpSpLocks/>
          </p:cNvGrpSpPr>
          <p:nvPr/>
        </p:nvGrpSpPr>
        <p:grpSpPr bwMode="auto">
          <a:xfrm>
            <a:off x="0" y="0"/>
            <a:ext cx="709613" cy="111125"/>
            <a:chOff x="0" y="0"/>
            <a:chExt cx="7099" cy="1104"/>
          </a:xfrm>
        </p:grpSpPr>
      </p:grpSp>
      <p:grpSp>
        <p:nvGrpSpPr>
          <p:cNvPr id="6164" name="Group 323"/>
          <p:cNvGrpSpPr>
            <a:grpSpLocks/>
          </p:cNvGrpSpPr>
          <p:nvPr/>
        </p:nvGrpSpPr>
        <p:grpSpPr bwMode="auto">
          <a:xfrm>
            <a:off x="0" y="0"/>
            <a:ext cx="527050" cy="87313"/>
            <a:chOff x="0" y="0"/>
            <a:chExt cx="5264" cy="869"/>
          </a:xfrm>
        </p:grpSpPr>
      </p:grpSp>
      <p:grpSp>
        <p:nvGrpSpPr>
          <p:cNvPr id="6166" name="Group 326"/>
          <p:cNvGrpSpPr>
            <a:grpSpLocks/>
          </p:cNvGrpSpPr>
          <p:nvPr/>
        </p:nvGrpSpPr>
        <p:grpSpPr bwMode="auto">
          <a:xfrm>
            <a:off x="0" y="0"/>
            <a:ext cx="371475" cy="85725"/>
            <a:chOff x="0" y="0"/>
            <a:chExt cx="372110" cy="86360"/>
          </a:xfrm>
        </p:grpSpPr>
      </p:grpSp>
      <p:grpSp>
        <p:nvGrpSpPr>
          <p:cNvPr id="6168" name="Group 328"/>
          <p:cNvGrpSpPr>
            <a:grpSpLocks/>
          </p:cNvGrpSpPr>
          <p:nvPr/>
        </p:nvGrpSpPr>
        <p:grpSpPr bwMode="auto">
          <a:xfrm>
            <a:off x="0" y="0"/>
            <a:ext cx="368300" cy="87313"/>
            <a:chOff x="0" y="0"/>
            <a:chExt cx="368935" cy="86995"/>
          </a:xfrm>
        </p:grpSpPr>
      </p:grpSp>
      <p:grpSp>
        <p:nvGrpSpPr>
          <p:cNvPr id="6170" name="Group 330"/>
          <p:cNvGrpSpPr>
            <a:grpSpLocks/>
          </p:cNvGrpSpPr>
          <p:nvPr/>
        </p:nvGrpSpPr>
        <p:grpSpPr bwMode="auto">
          <a:xfrm>
            <a:off x="0" y="0"/>
            <a:ext cx="371475" cy="85725"/>
            <a:chOff x="0" y="0"/>
            <a:chExt cx="372110" cy="86360"/>
          </a:xfrm>
        </p:grpSpPr>
      </p:grpSp>
      <p:grpSp>
        <p:nvGrpSpPr>
          <p:cNvPr id="6172" name="Group 332"/>
          <p:cNvGrpSpPr>
            <a:grpSpLocks/>
          </p:cNvGrpSpPr>
          <p:nvPr/>
        </p:nvGrpSpPr>
        <p:grpSpPr bwMode="auto">
          <a:xfrm>
            <a:off x="0" y="0"/>
            <a:ext cx="369888" cy="87313"/>
            <a:chOff x="0" y="0"/>
            <a:chExt cx="369570" cy="86995"/>
          </a:xfrm>
        </p:grpSpPr>
      </p:grpSp>
      <p:grpSp>
        <p:nvGrpSpPr>
          <p:cNvPr id="6174" name="Group 334"/>
          <p:cNvGrpSpPr>
            <a:grpSpLocks/>
          </p:cNvGrpSpPr>
          <p:nvPr/>
        </p:nvGrpSpPr>
        <p:grpSpPr bwMode="auto">
          <a:xfrm>
            <a:off x="0" y="0"/>
            <a:ext cx="368300" cy="87313"/>
            <a:chOff x="0" y="0"/>
            <a:chExt cx="368935" cy="86995"/>
          </a:xfrm>
        </p:grpSpPr>
      </p:grpSp>
      <p:grpSp>
        <p:nvGrpSpPr>
          <p:cNvPr id="6176" name="Group 337"/>
          <p:cNvGrpSpPr>
            <a:grpSpLocks/>
          </p:cNvGrpSpPr>
          <p:nvPr/>
        </p:nvGrpSpPr>
        <p:grpSpPr bwMode="auto">
          <a:xfrm>
            <a:off x="0" y="0"/>
            <a:ext cx="368300" cy="85725"/>
            <a:chOff x="0" y="0"/>
            <a:chExt cx="367665" cy="86360"/>
          </a:xfrm>
        </p:grpSpPr>
      </p:grpSp>
      <p:grpSp>
        <p:nvGrpSpPr>
          <p:cNvPr id="6178" name="Group 339"/>
          <p:cNvGrpSpPr>
            <a:grpSpLocks/>
          </p:cNvGrpSpPr>
          <p:nvPr/>
        </p:nvGrpSpPr>
        <p:grpSpPr bwMode="auto">
          <a:xfrm>
            <a:off x="0" y="0"/>
            <a:ext cx="369888" cy="87313"/>
            <a:chOff x="0" y="0"/>
            <a:chExt cx="369570" cy="86995"/>
          </a:xfrm>
        </p:grpSpPr>
      </p:grpSp>
      <p:grpSp>
        <p:nvGrpSpPr>
          <p:cNvPr id="6180" name="Group 341"/>
          <p:cNvGrpSpPr>
            <a:grpSpLocks/>
          </p:cNvGrpSpPr>
          <p:nvPr/>
        </p:nvGrpSpPr>
        <p:grpSpPr bwMode="auto">
          <a:xfrm>
            <a:off x="0" y="0"/>
            <a:ext cx="368300" cy="85725"/>
            <a:chOff x="0" y="0"/>
            <a:chExt cx="368300" cy="86360"/>
          </a:xfrm>
        </p:grpSpPr>
      </p:grpSp>
      <p:grpSp>
        <p:nvGrpSpPr>
          <p:cNvPr id="6182" name="Group 343"/>
          <p:cNvGrpSpPr>
            <a:grpSpLocks/>
          </p:cNvGrpSpPr>
          <p:nvPr/>
        </p:nvGrpSpPr>
        <p:grpSpPr bwMode="auto">
          <a:xfrm>
            <a:off x="0" y="0"/>
            <a:ext cx="369888" cy="87313"/>
            <a:chOff x="0" y="0"/>
            <a:chExt cx="369570" cy="87630"/>
          </a:xfrm>
        </p:grpSpPr>
      </p:grpSp>
      <p:grpSp>
        <p:nvGrpSpPr>
          <p:cNvPr id="6184" name="Group 345"/>
          <p:cNvGrpSpPr>
            <a:grpSpLocks/>
          </p:cNvGrpSpPr>
          <p:nvPr/>
        </p:nvGrpSpPr>
        <p:grpSpPr bwMode="auto">
          <a:xfrm>
            <a:off x="0" y="0"/>
            <a:ext cx="530225" cy="87313"/>
            <a:chOff x="0" y="0"/>
            <a:chExt cx="5308" cy="869"/>
          </a:xfrm>
        </p:grpSpPr>
      </p:grpSp>
      <p:grpSp>
        <p:nvGrpSpPr>
          <p:cNvPr id="6186" name="Group 348"/>
          <p:cNvGrpSpPr>
            <a:grpSpLocks/>
          </p:cNvGrpSpPr>
          <p:nvPr/>
        </p:nvGrpSpPr>
        <p:grpSpPr bwMode="auto">
          <a:xfrm>
            <a:off x="0" y="0"/>
            <a:ext cx="592138" cy="111125"/>
            <a:chOff x="0" y="0"/>
            <a:chExt cx="5924" cy="1111"/>
          </a:xfrm>
        </p:grpSpPr>
      </p:grpSp>
      <p:grpSp>
        <p:nvGrpSpPr>
          <p:cNvPr id="6188" name="Group 350"/>
          <p:cNvGrpSpPr>
            <a:grpSpLocks/>
          </p:cNvGrpSpPr>
          <p:nvPr/>
        </p:nvGrpSpPr>
        <p:grpSpPr bwMode="auto">
          <a:xfrm>
            <a:off x="0" y="0"/>
            <a:ext cx="371475" cy="85725"/>
            <a:chOff x="0" y="0"/>
            <a:chExt cx="372110" cy="85090"/>
          </a:xfrm>
        </p:grpSpPr>
      </p:grpSp>
      <p:grpSp>
        <p:nvGrpSpPr>
          <p:cNvPr id="6190" name="Group 352"/>
          <p:cNvGrpSpPr>
            <a:grpSpLocks/>
          </p:cNvGrpSpPr>
          <p:nvPr/>
        </p:nvGrpSpPr>
        <p:grpSpPr bwMode="auto">
          <a:xfrm>
            <a:off x="0" y="0"/>
            <a:ext cx="369888" cy="87313"/>
            <a:chOff x="0" y="0"/>
            <a:chExt cx="369570" cy="86995"/>
          </a:xfrm>
        </p:grpSpPr>
      </p:grpSp>
      <p:grpSp>
        <p:nvGrpSpPr>
          <p:cNvPr id="6192" name="Group 354"/>
          <p:cNvGrpSpPr>
            <a:grpSpLocks/>
          </p:cNvGrpSpPr>
          <p:nvPr/>
        </p:nvGrpSpPr>
        <p:grpSpPr bwMode="auto">
          <a:xfrm>
            <a:off x="0" y="0"/>
            <a:ext cx="371475" cy="85725"/>
            <a:chOff x="0" y="0"/>
            <a:chExt cx="372110" cy="85090"/>
          </a:xfrm>
        </p:grpSpPr>
      </p:grpSp>
      <p:grpSp>
        <p:nvGrpSpPr>
          <p:cNvPr id="6194" name="Group 356"/>
          <p:cNvGrpSpPr>
            <a:grpSpLocks/>
          </p:cNvGrpSpPr>
          <p:nvPr/>
        </p:nvGrpSpPr>
        <p:grpSpPr bwMode="auto">
          <a:xfrm>
            <a:off x="0" y="0"/>
            <a:ext cx="371475" cy="87313"/>
            <a:chOff x="0" y="0"/>
            <a:chExt cx="370840" cy="86995"/>
          </a:xfrm>
        </p:grpSpPr>
      </p:grpSp>
      <p:grpSp>
        <p:nvGrpSpPr>
          <p:cNvPr id="6196" name="Group 358"/>
          <p:cNvGrpSpPr>
            <a:grpSpLocks/>
          </p:cNvGrpSpPr>
          <p:nvPr/>
        </p:nvGrpSpPr>
        <p:grpSpPr bwMode="auto">
          <a:xfrm>
            <a:off x="0" y="0"/>
            <a:ext cx="371475" cy="87313"/>
            <a:chOff x="0" y="0"/>
            <a:chExt cx="370840" cy="86995"/>
          </a:xfrm>
        </p:grpSpPr>
      </p:grpSp>
      <p:grpSp>
        <p:nvGrpSpPr>
          <p:cNvPr id="6198" name="Group 361"/>
          <p:cNvGrpSpPr>
            <a:grpSpLocks/>
          </p:cNvGrpSpPr>
          <p:nvPr/>
        </p:nvGrpSpPr>
        <p:grpSpPr bwMode="auto">
          <a:xfrm>
            <a:off x="0" y="0"/>
            <a:ext cx="371475" cy="85725"/>
            <a:chOff x="0" y="0"/>
            <a:chExt cx="372110" cy="85725"/>
          </a:xfrm>
        </p:grpSpPr>
      </p:grpSp>
      <p:grpSp>
        <p:nvGrpSpPr>
          <p:cNvPr id="6200" name="Group 363"/>
          <p:cNvGrpSpPr>
            <a:grpSpLocks/>
          </p:cNvGrpSpPr>
          <p:nvPr/>
        </p:nvGrpSpPr>
        <p:grpSpPr bwMode="auto">
          <a:xfrm>
            <a:off x="0" y="0"/>
            <a:ext cx="368300" cy="87313"/>
            <a:chOff x="0" y="0"/>
            <a:chExt cx="368935" cy="86995"/>
          </a:xfrm>
        </p:grpSpPr>
      </p:grpSp>
      <p:grpSp>
        <p:nvGrpSpPr>
          <p:cNvPr id="6202" name="Group 365"/>
          <p:cNvGrpSpPr>
            <a:grpSpLocks/>
          </p:cNvGrpSpPr>
          <p:nvPr/>
        </p:nvGrpSpPr>
        <p:grpSpPr bwMode="auto">
          <a:xfrm>
            <a:off x="0" y="0"/>
            <a:ext cx="371475" cy="85725"/>
            <a:chOff x="0" y="0"/>
            <a:chExt cx="372110" cy="85725"/>
          </a:xfrm>
        </p:grpSpPr>
      </p:grpSp>
      <p:grpSp>
        <p:nvGrpSpPr>
          <p:cNvPr id="6204" name="Group 367"/>
          <p:cNvGrpSpPr>
            <a:grpSpLocks/>
          </p:cNvGrpSpPr>
          <p:nvPr/>
        </p:nvGrpSpPr>
        <p:grpSpPr bwMode="auto">
          <a:xfrm>
            <a:off x="0" y="0"/>
            <a:ext cx="368300" cy="85725"/>
            <a:chOff x="0" y="0"/>
            <a:chExt cx="368935" cy="86360"/>
          </a:xfrm>
        </p:grpSpPr>
      </p:grpSp>
      <p:grpSp>
        <p:nvGrpSpPr>
          <p:cNvPr id="6206" name="Group 369"/>
          <p:cNvGrpSpPr>
            <a:grpSpLocks/>
          </p:cNvGrpSpPr>
          <p:nvPr/>
        </p:nvGrpSpPr>
        <p:grpSpPr bwMode="auto">
          <a:xfrm>
            <a:off x="0" y="0"/>
            <a:ext cx="530225" cy="87313"/>
            <a:chOff x="0" y="0"/>
            <a:chExt cx="5295" cy="869"/>
          </a:xfrm>
        </p:grpSpPr>
      </p:grpSp>
      <p:grpSp>
        <p:nvGrpSpPr>
          <p:cNvPr id="6208" name="Group 372"/>
          <p:cNvGrpSpPr>
            <a:grpSpLocks/>
          </p:cNvGrpSpPr>
          <p:nvPr/>
        </p:nvGrpSpPr>
        <p:grpSpPr bwMode="auto">
          <a:xfrm>
            <a:off x="0" y="0"/>
            <a:ext cx="592138" cy="111125"/>
            <a:chOff x="0" y="0"/>
            <a:chExt cx="5924" cy="1111"/>
          </a:xfrm>
        </p:grpSpPr>
      </p:grpSp>
      <p:grpSp>
        <p:nvGrpSpPr>
          <p:cNvPr id="6210" name="Group 374"/>
          <p:cNvGrpSpPr>
            <a:grpSpLocks/>
          </p:cNvGrpSpPr>
          <p:nvPr/>
        </p:nvGrpSpPr>
        <p:grpSpPr bwMode="auto">
          <a:xfrm>
            <a:off x="0" y="0"/>
            <a:ext cx="368300" cy="87313"/>
            <a:chOff x="0" y="0"/>
            <a:chExt cx="367665" cy="86995"/>
          </a:xfrm>
        </p:grpSpPr>
      </p:grpSp>
      <p:grpSp>
        <p:nvGrpSpPr>
          <p:cNvPr id="6212" name="Group 376"/>
          <p:cNvGrpSpPr>
            <a:grpSpLocks/>
          </p:cNvGrpSpPr>
          <p:nvPr/>
        </p:nvGrpSpPr>
        <p:grpSpPr bwMode="auto">
          <a:xfrm>
            <a:off x="0" y="0"/>
            <a:ext cx="371475" cy="85725"/>
            <a:chOff x="0" y="0"/>
            <a:chExt cx="372110" cy="86360"/>
          </a:xfrm>
        </p:grpSpPr>
      </p:grpSp>
      <p:grpSp>
        <p:nvGrpSpPr>
          <p:cNvPr id="6214" name="Group 378"/>
          <p:cNvGrpSpPr>
            <a:grpSpLocks/>
          </p:cNvGrpSpPr>
          <p:nvPr/>
        </p:nvGrpSpPr>
        <p:grpSpPr bwMode="auto">
          <a:xfrm>
            <a:off x="0" y="0"/>
            <a:ext cx="368300" cy="87313"/>
            <a:chOff x="0" y="0"/>
            <a:chExt cx="368300" cy="86995"/>
          </a:xfrm>
        </p:grpSpPr>
      </p:grpSp>
      <p:grpSp>
        <p:nvGrpSpPr>
          <p:cNvPr id="6216" name="Group 380"/>
          <p:cNvGrpSpPr>
            <a:grpSpLocks/>
          </p:cNvGrpSpPr>
          <p:nvPr/>
        </p:nvGrpSpPr>
        <p:grpSpPr bwMode="auto">
          <a:xfrm>
            <a:off x="0" y="0"/>
            <a:ext cx="368300" cy="87313"/>
            <a:chOff x="0" y="0"/>
            <a:chExt cx="368935" cy="86995"/>
          </a:xfrm>
        </p:grpSpPr>
      </p:grpSp>
      <p:grpSp>
        <p:nvGrpSpPr>
          <p:cNvPr id="6218" name="Group 382"/>
          <p:cNvGrpSpPr>
            <a:grpSpLocks/>
          </p:cNvGrpSpPr>
          <p:nvPr/>
        </p:nvGrpSpPr>
        <p:grpSpPr bwMode="auto">
          <a:xfrm>
            <a:off x="0" y="0"/>
            <a:ext cx="371475" cy="85725"/>
            <a:chOff x="0" y="0"/>
            <a:chExt cx="370840" cy="86360"/>
          </a:xfrm>
        </p:grpSpPr>
      </p:grpSp>
      <p:grpSp>
        <p:nvGrpSpPr>
          <p:cNvPr id="6220" name="Group 385"/>
          <p:cNvGrpSpPr>
            <a:grpSpLocks/>
          </p:cNvGrpSpPr>
          <p:nvPr/>
        </p:nvGrpSpPr>
        <p:grpSpPr bwMode="auto">
          <a:xfrm>
            <a:off x="0" y="0"/>
            <a:ext cx="371475" cy="85725"/>
            <a:chOff x="0" y="0"/>
            <a:chExt cx="370840" cy="85725"/>
          </a:xfrm>
        </p:grpSpPr>
      </p:grpSp>
      <p:grpSp>
        <p:nvGrpSpPr>
          <p:cNvPr id="6222" name="Group 387"/>
          <p:cNvGrpSpPr>
            <a:grpSpLocks/>
          </p:cNvGrpSpPr>
          <p:nvPr/>
        </p:nvGrpSpPr>
        <p:grpSpPr bwMode="auto">
          <a:xfrm>
            <a:off x="0" y="0"/>
            <a:ext cx="371475" cy="85725"/>
            <a:chOff x="0" y="0"/>
            <a:chExt cx="370840" cy="85725"/>
          </a:xfrm>
        </p:grpSpPr>
      </p:grpSp>
      <p:grpSp>
        <p:nvGrpSpPr>
          <p:cNvPr id="6224" name="Group 389"/>
          <p:cNvGrpSpPr>
            <a:grpSpLocks/>
          </p:cNvGrpSpPr>
          <p:nvPr/>
        </p:nvGrpSpPr>
        <p:grpSpPr bwMode="auto">
          <a:xfrm>
            <a:off x="0" y="0"/>
            <a:ext cx="371475" cy="85725"/>
            <a:chOff x="0" y="0"/>
            <a:chExt cx="370840" cy="85725"/>
          </a:xfrm>
        </p:grpSpPr>
      </p:grpSp>
      <p:grpSp>
        <p:nvGrpSpPr>
          <p:cNvPr id="6226" name="Group 391"/>
          <p:cNvGrpSpPr>
            <a:grpSpLocks/>
          </p:cNvGrpSpPr>
          <p:nvPr/>
        </p:nvGrpSpPr>
        <p:grpSpPr bwMode="auto">
          <a:xfrm>
            <a:off x="0" y="0"/>
            <a:ext cx="371475" cy="87313"/>
            <a:chOff x="0" y="0"/>
            <a:chExt cx="370840" cy="87630"/>
          </a:xfrm>
        </p:grpSpPr>
      </p:grpSp>
      <p:grpSp>
        <p:nvGrpSpPr>
          <p:cNvPr id="6228" name="Group 393"/>
          <p:cNvGrpSpPr>
            <a:grpSpLocks/>
          </p:cNvGrpSpPr>
          <p:nvPr/>
        </p:nvGrpSpPr>
        <p:grpSpPr bwMode="auto">
          <a:xfrm>
            <a:off x="0" y="0"/>
            <a:ext cx="530225" cy="87313"/>
            <a:chOff x="0" y="0"/>
            <a:chExt cx="5302" cy="869"/>
          </a:xfrm>
        </p:grpSpPr>
      </p:grpSp>
      <p:grpSp>
        <p:nvGrpSpPr>
          <p:cNvPr id="6230" name="Group 396"/>
          <p:cNvGrpSpPr>
            <a:grpSpLocks/>
          </p:cNvGrpSpPr>
          <p:nvPr/>
        </p:nvGrpSpPr>
        <p:grpSpPr bwMode="auto">
          <a:xfrm>
            <a:off x="0" y="0"/>
            <a:ext cx="592138" cy="111125"/>
            <a:chOff x="0" y="0"/>
            <a:chExt cx="5924" cy="1111"/>
          </a:xfrm>
        </p:grpSpPr>
      </p:grpSp>
      <p:grpSp>
        <p:nvGrpSpPr>
          <p:cNvPr id="6232" name="Group 398"/>
          <p:cNvGrpSpPr>
            <a:grpSpLocks/>
          </p:cNvGrpSpPr>
          <p:nvPr/>
        </p:nvGrpSpPr>
        <p:grpSpPr bwMode="auto">
          <a:xfrm>
            <a:off x="0" y="0"/>
            <a:ext cx="371475" cy="85725"/>
            <a:chOff x="0" y="0"/>
            <a:chExt cx="372110" cy="85725"/>
          </a:xfrm>
        </p:grpSpPr>
      </p:grpSp>
      <p:grpSp>
        <p:nvGrpSpPr>
          <p:cNvPr id="6234" name="Group 400"/>
          <p:cNvGrpSpPr>
            <a:grpSpLocks/>
          </p:cNvGrpSpPr>
          <p:nvPr/>
        </p:nvGrpSpPr>
        <p:grpSpPr bwMode="auto">
          <a:xfrm>
            <a:off x="0" y="0"/>
            <a:ext cx="368300" cy="85725"/>
            <a:chOff x="0" y="0"/>
            <a:chExt cx="368935" cy="86360"/>
          </a:xfrm>
        </p:grpSpPr>
      </p:grpSp>
      <p:grpSp>
        <p:nvGrpSpPr>
          <p:cNvPr id="6236" name="Group 402"/>
          <p:cNvGrpSpPr>
            <a:grpSpLocks/>
          </p:cNvGrpSpPr>
          <p:nvPr/>
        </p:nvGrpSpPr>
        <p:grpSpPr bwMode="auto">
          <a:xfrm>
            <a:off x="0" y="0"/>
            <a:ext cx="371475" cy="85725"/>
            <a:chOff x="0" y="0"/>
            <a:chExt cx="372110" cy="85725"/>
          </a:xfrm>
        </p:grpSpPr>
      </p:grpSp>
      <p:grpSp>
        <p:nvGrpSpPr>
          <p:cNvPr id="6238" name="Group 404"/>
          <p:cNvGrpSpPr>
            <a:grpSpLocks/>
          </p:cNvGrpSpPr>
          <p:nvPr/>
        </p:nvGrpSpPr>
        <p:grpSpPr bwMode="auto">
          <a:xfrm>
            <a:off x="0" y="0"/>
            <a:ext cx="371475" cy="85725"/>
            <a:chOff x="0" y="0"/>
            <a:chExt cx="370840" cy="86360"/>
          </a:xfrm>
        </p:grpSpPr>
      </p:grpSp>
      <p:grpSp>
        <p:nvGrpSpPr>
          <p:cNvPr id="6240" name="Group 406"/>
          <p:cNvGrpSpPr>
            <a:grpSpLocks/>
          </p:cNvGrpSpPr>
          <p:nvPr/>
        </p:nvGrpSpPr>
        <p:grpSpPr bwMode="auto">
          <a:xfrm>
            <a:off x="0" y="0"/>
            <a:ext cx="371475" cy="87313"/>
            <a:chOff x="0" y="0"/>
            <a:chExt cx="370840" cy="86995"/>
          </a:xfrm>
        </p:grpSpPr>
      </p:grpSp>
      <p:grpSp>
        <p:nvGrpSpPr>
          <p:cNvPr id="6242" name="Group 409"/>
          <p:cNvGrpSpPr>
            <a:grpSpLocks/>
          </p:cNvGrpSpPr>
          <p:nvPr/>
        </p:nvGrpSpPr>
        <p:grpSpPr bwMode="auto">
          <a:xfrm>
            <a:off x="0" y="0"/>
            <a:ext cx="369888" cy="87313"/>
            <a:chOff x="0" y="0"/>
            <a:chExt cx="369570" cy="87630"/>
          </a:xfrm>
        </p:grpSpPr>
      </p:grpSp>
      <p:grpSp>
        <p:nvGrpSpPr>
          <p:cNvPr id="6244" name="Group 411"/>
          <p:cNvGrpSpPr>
            <a:grpSpLocks/>
          </p:cNvGrpSpPr>
          <p:nvPr/>
        </p:nvGrpSpPr>
        <p:grpSpPr bwMode="auto">
          <a:xfrm>
            <a:off x="0" y="0"/>
            <a:ext cx="371475" cy="85725"/>
            <a:chOff x="0" y="0"/>
            <a:chExt cx="370840" cy="86360"/>
          </a:xfrm>
        </p:grpSpPr>
      </p:grpSp>
      <p:grpSp>
        <p:nvGrpSpPr>
          <p:cNvPr id="6246" name="Group 413"/>
          <p:cNvGrpSpPr>
            <a:grpSpLocks/>
          </p:cNvGrpSpPr>
          <p:nvPr/>
        </p:nvGrpSpPr>
        <p:grpSpPr bwMode="auto">
          <a:xfrm>
            <a:off x="0" y="0"/>
            <a:ext cx="369888" cy="87313"/>
            <a:chOff x="0" y="0"/>
            <a:chExt cx="369570" cy="87630"/>
          </a:xfrm>
        </p:grpSpPr>
      </p:grpSp>
      <p:grpSp>
        <p:nvGrpSpPr>
          <p:cNvPr id="6248" name="Group 415"/>
          <p:cNvGrpSpPr>
            <a:grpSpLocks/>
          </p:cNvGrpSpPr>
          <p:nvPr/>
        </p:nvGrpSpPr>
        <p:grpSpPr bwMode="auto">
          <a:xfrm>
            <a:off x="0" y="0"/>
            <a:ext cx="371475" cy="85725"/>
            <a:chOff x="0" y="0"/>
            <a:chExt cx="370840" cy="85725"/>
          </a:xfrm>
        </p:grpSpPr>
      </p:grpSp>
      <p:grpSp>
        <p:nvGrpSpPr>
          <p:cNvPr id="6250" name="Group 417"/>
          <p:cNvGrpSpPr>
            <a:grpSpLocks/>
          </p:cNvGrpSpPr>
          <p:nvPr/>
        </p:nvGrpSpPr>
        <p:grpSpPr bwMode="auto">
          <a:xfrm>
            <a:off x="0" y="0"/>
            <a:ext cx="530225" cy="87313"/>
            <a:chOff x="0" y="0"/>
            <a:chExt cx="5295" cy="869"/>
          </a:xfrm>
        </p:grpSpPr>
      </p:grpSp>
      <p:grpSp>
        <p:nvGrpSpPr>
          <p:cNvPr id="6252" name="Group 420"/>
          <p:cNvGrpSpPr>
            <a:grpSpLocks/>
          </p:cNvGrpSpPr>
          <p:nvPr/>
        </p:nvGrpSpPr>
        <p:grpSpPr bwMode="auto">
          <a:xfrm>
            <a:off x="0" y="0"/>
            <a:ext cx="592138" cy="111125"/>
            <a:chOff x="0" y="0"/>
            <a:chExt cx="5924" cy="1111"/>
          </a:xfrm>
        </p:grpSpPr>
      </p:grpSp>
      <p:grpSp>
        <p:nvGrpSpPr>
          <p:cNvPr id="6254" name="Group 422"/>
          <p:cNvGrpSpPr>
            <a:grpSpLocks/>
          </p:cNvGrpSpPr>
          <p:nvPr/>
        </p:nvGrpSpPr>
        <p:grpSpPr bwMode="auto">
          <a:xfrm>
            <a:off x="0" y="0"/>
            <a:ext cx="368300" cy="87313"/>
            <a:chOff x="0" y="0"/>
            <a:chExt cx="368935" cy="86995"/>
          </a:xfrm>
        </p:grpSpPr>
      </p:grpSp>
      <p:grpSp>
        <p:nvGrpSpPr>
          <p:cNvPr id="6256" name="Group 424"/>
          <p:cNvGrpSpPr>
            <a:grpSpLocks/>
          </p:cNvGrpSpPr>
          <p:nvPr/>
        </p:nvGrpSpPr>
        <p:grpSpPr bwMode="auto">
          <a:xfrm>
            <a:off x="0" y="0"/>
            <a:ext cx="371475" cy="85725"/>
            <a:chOff x="0" y="0"/>
            <a:chExt cx="370840" cy="86360"/>
          </a:xfrm>
        </p:grpSpPr>
      </p:grpSp>
      <p:grpSp>
        <p:nvGrpSpPr>
          <p:cNvPr id="6258" name="Group 426"/>
          <p:cNvGrpSpPr>
            <a:grpSpLocks/>
          </p:cNvGrpSpPr>
          <p:nvPr/>
        </p:nvGrpSpPr>
        <p:grpSpPr bwMode="auto">
          <a:xfrm>
            <a:off x="0" y="0"/>
            <a:ext cx="368300" cy="87313"/>
            <a:chOff x="0" y="0"/>
            <a:chExt cx="368935" cy="86995"/>
          </a:xfrm>
        </p:grpSpPr>
      </p:grpSp>
      <p:grpSp>
        <p:nvGrpSpPr>
          <p:cNvPr id="6260" name="Group 428"/>
          <p:cNvGrpSpPr>
            <a:grpSpLocks/>
          </p:cNvGrpSpPr>
          <p:nvPr/>
        </p:nvGrpSpPr>
        <p:grpSpPr bwMode="auto">
          <a:xfrm>
            <a:off x="0" y="0"/>
            <a:ext cx="371475" cy="87313"/>
            <a:chOff x="0" y="0"/>
            <a:chExt cx="370840" cy="86995"/>
          </a:xfrm>
        </p:grpSpPr>
      </p:grpSp>
      <p:grpSp>
        <p:nvGrpSpPr>
          <p:cNvPr id="6262" name="Group 430"/>
          <p:cNvGrpSpPr>
            <a:grpSpLocks/>
          </p:cNvGrpSpPr>
          <p:nvPr/>
        </p:nvGrpSpPr>
        <p:grpSpPr bwMode="auto">
          <a:xfrm>
            <a:off x="0" y="0"/>
            <a:ext cx="366713" cy="85725"/>
            <a:chOff x="0" y="0"/>
            <a:chExt cx="366395" cy="85725"/>
          </a:xfrm>
        </p:grpSpPr>
      </p:grpSp>
      <p:grpSp>
        <p:nvGrpSpPr>
          <p:cNvPr id="6264" name="Group 433"/>
          <p:cNvGrpSpPr>
            <a:grpSpLocks/>
          </p:cNvGrpSpPr>
          <p:nvPr/>
        </p:nvGrpSpPr>
        <p:grpSpPr bwMode="auto">
          <a:xfrm>
            <a:off x="0" y="0"/>
            <a:ext cx="369888" cy="87313"/>
            <a:chOff x="0" y="0"/>
            <a:chExt cx="369570" cy="87630"/>
          </a:xfrm>
        </p:grpSpPr>
      </p:grpSp>
      <p:grpSp>
        <p:nvGrpSpPr>
          <p:cNvPr id="6266" name="Group 435"/>
          <p:cNvGrpSpPr>
            <a:grpSpLocks/>
          </p:cNvGrpSpPr>
          <p:nvPr/>
        </p:nvGrpSpPr>
        <p:grpSpPr bwMode="auto">
          <a:xfrm>
            <a:off x="0" y="0"/>
            <a:ext cx="366713" cy="87313"/>
            <a:chOff x="0" y="0"/>
            <a:chExt cx="366395" cy="87630"/>
          </a:xfrm>
        </p:grpSpPr>
      </p:grpSp>
      <p:grpSp>
        <p:nvGrpSpPr>
          <p:cNvPr id="6268" name="Group 437"/>
          <p:cNvGrpSpPr>
            <a:grpSpLocks/>
          </p:cNvGrpSpPr>
          <p:nvPr/>
        </p:nvGrpSpPr>
        <p:grpSpPr bwMode="auto">
          <a:xfrm>
            <a:off x="0" y="0"/>
            <a:ext cx="369888" cy="87313"/>
            <a:chOff x="0" y="0"/>
            <a:chExt cx="369570" cy="87630"/>
          </a:xfrm>
        </p:grpSpPr>
      </p:grpSp>
      <p:grpSp>
        <p:nvGrpSpPr>
          <p:cNvPr id="6270" name="Group 439"/>
          <p:cNvGrpSpPr>
            <a:grpSpLocks/>
          </p:cNvGrpSpPr>
          <p:nvPr/>
        </p:nvGrpSpPr>
        <p:grpSpPr bwMode="auto">
          <a:xfrm>
            <a:off x="0" y="0"/>
            <a:ext cx="366713" cy="87313"/>
            <a:chOff x="0" y="0"/>
            <a:chExt cx="366395" cy="87630"/>
          </a:xfrm>
        </p:grpSpPr>
      </p:grpSp>
      <p:grpSp>
        <p:nvGrpSpPr>
          <p:cNvPr id="6272" name="Group 444"/>
          <p:cNvGrpSpPr>
            <a:grpSpLocks/>
          </p:cNvGrpSpPr>
          <p:nvPr/>
        </p:nvGrpSpPr>
        <p:grpSpPr bwMode="auto">
          <a:xfrm>
            <a:off x="0" y="0"/>
            <a:ext cx="371475" cy="85725"/>
            <a:chOff x="0" y="0"/>
            <a:chExt cx="372110" cy="86360"/>
          </a:xfrm>
        </p:grpSpPr>
      </p:grpSp>
      <p:grpSp>
        <p:nvGrpSpPr>
          <p:cNvPr id="6274" name="Group 446"/>
          <p:cNvGrpSpPr>
            <a:grpSpLocks/>
          </p:cNvGrpSpPr>
          <p:nvPr/>
        </p:nvGrpSpPr>
        <p:grpSpPr bwMode="auto">
          <a:xfrm>
            <a:off x="0" y="0"/>
            <a:ext cx="369888" cy="87313"/>
            <a:chOff x="0" y="0"/>
            <a:chExt cx="369570" cy="86995"/>
          </a:xfrm>
        </p:grpSpPr>
      </p:grpSp>
      <p:grpSp>
        <p:nvGrpSpPr>
          <p:cNvPr id="6276" name="Group 448"/>
          <p:cNvGrpSpPr>
            <a:grpSpLocks/>
          </p:cNvGrpSpPr>
          <p:nvPr/>
        </p:nvGrpSpPr>
        <p:grpSpPr bwMode="auto">
          <a:xfrm>
            <a:off x="0" y="0"/>
            <a:ext cx="371475" cy="85725"/>
            <a:chOff x="0" y="0"/>
            <a:chExt cx="372110" cy="86360"/>
          </a:xfrm>
        </p:grpSpPr>
      </p:grpSp>
      <p:grpSp>
        <p:nvGrpSpPr>
          <p:cNvPr id="6278" name="Group 450"/>
          <p:cNvGrpSpPr>
            <a:grpSpLocks/>
          </p:cNvGrpSpPr>
          <p:nvPr/>
        </p:nvGrpSpPr>
        <p:grpSpPr bwMode="auto">
          <a:xfrm>
            <a:off x="0" y="0"/>
            <a:ext cx="369888" cy="87313"/>
            <a:chOff x="0" y="0"/>
            <a:chExt cx="369570" cy="86995"/>
          </a:xfrm>
        </p:grpSpPr>
      </p:grpSp>
      <p:grpSp>
        <p:nvGrpSpPr>
          <p:cNvPr id="6280" name="Group 452"/>
          <p:cNvGrpSpPr>
            <a:grpSpLocks/>
          </p:cNvGrpSpPr>
          <p:nvPr/>
        </p:nvGrpSpPr>
        <p:grpSpPr bwMode="auto">
          <a:xfrm>
            <a:off x="0" y="0"/>
            <a:ext cx="369888" cy="87313"/>
            <a:chOff x="0" y="0"/>
            <a:chExt cx="369570" cy="86995"/>
          </a:xfrm>
        </p:grpSpPr>
      </p:grpSp>
      <p:grpSp>
        <p:nvGrpSpPr>
          <p:cNvPr id="6282" name="Group 454"/>
          <p:cNvGrpSpPr>
            <a:grpSpLocks/>
          </p:cNvGrpSpPr>
          <p:nvPr/>
        </p:nvGrpSpPr>
        <p:grpSpPr bwMode="auto">
          <a:xfrm>
            <a:off x="0" y="0"/>
            <a:ext cx="527050" cy="87313"/>
            <a:chOff x="0" y="0"/>
            <a:chExt cx="5264" cy="869"/>
          </a:xfrm>
        </p:grpSpPr>
      </p:grpSp>
      <p:grpSp>
        <p:nvGrpSpPr>
          <p:cNvPr id="6284" name="Group 457"/>
          <p:cNvGrpSpPr>
            <a:grpSpLocks/>
          </p:cNvGrpSpPr>
          <p:nvPr/>
        </p:nvGrpSpPr>
        <p:grpSpPr bwMode="auto">
          <a:xfrm>
            <a:off x="0" y="0"/>
            <a:ext cx="371475" cy="87313"/>
            <a:chOff x="0" y="0"/>
            <a:chExt cx="372110" cy="86995"/>
          </a:xfrm>
        </p:grpSpPr>
      </p:grpSp>
      <p:grpSp>
        <p:nvGrpSpPr>
          <p:cNvPr id="6286" name="Group 459"/>
          <p:cNvGrpSpPr>
            <a:grpSpLocks/>
          </p:cNvGrpSpPr>
          <p:nvPr/>
        </p:nvGrpSpPr>
        <p:grpSpPr bwMode="auto">
          <a:xfrm>
            <a:off x="0" y="0"/>
            <a:ext cx="371475" cy="87313"/>
            <a:chOff x="0" y="0"/>
            <a:chExt cx="372110" cy="86995"/>
          </a:xfrm>
        </p:grpSpPr>
      </p:grpSp>
      <p:grpSp>
        <p:nvGrpSpPr>
          <p:cNvPr id="6288" name="Group 461"/>
          <p:cNvGrpSpPr>
            <a:grpSpLocks/>
          </p:cNvGrpSpPr>
          <p:nvPr/>
        </p:nvGrpSpPr>
        <p:grpSpPr bwMode="auto">
          <a:xfrm>
            <a:off x="0" y="0"/>
            <a:ext cx="371475" cy="87313"/>
            <a:chOff x="0" y="0"/>
            <a:chExt cx="372110" cy="86995"/>
          </a:xfrm>
        </p:grpSpPr>
      </p:grpSp>
      <p:grpSp>
        <p:nvGrpSpPr>
          <p:cNvPr id="6290" name="Group 463"/>
          <p:cNvGrpSpPr>
            <a:grpSpLocks/>
          </p:cNvGrpSpPr>
          <p:nvPr/>
        </p:nvGrpSpPr>
        <p:grpSpPr bwMode="auto">
          <a:xfrm>
            <a:off x="0" y="0"/>
            <a:ext cx="369888" cy="87313"/>
            <a:chOff x="0" y="0"/>
            <a:chExt cx="369570" cy="86995"/>
          </a:xfrm>
        </p:grpSpPr>
      </p:grpSp>
      <p:grpSp>
        <p:nvGrpSpPr>
          <p:cNvPr id="6292" name="Group 465"/>
          <p:cNvGrpSpPr>
            <a:grpSpLocks/>
          </p:cNvGrpSpPr>
          <p:nvPr/>
        </p:nvGrpSpPr>
        <p:grpSpPr bwMode="auto">
          <a:xfrm>
            <a:off x="0" y="0"/>
            <a:ext cx="368300" cy="85725"/>
            <a:chOff x="0" y="0"/>
            <a:chExt cx="368935" cy="86360"/>
          </a:xfrm>
        </p:grpSpPr>
      </p:grpSp>
      <p:grpSp>
        <p:nvGrpSpPr>
          <p:cNvPr id="6294" name="Group 468"/>
          <p:cNvGrpSpPr>
            <a:grpSpLocks/>
          </p:cNvGrpSpPr>
          <p:nvPr/>
        </p:nvGrpSpPr>
        <p:grpSpPr bwMode="auto">
          <a:xfrm>
            <a:off x="0" y="0"/>
            <a:ext cx="369888" cy="87313"/>
            <a:chOff x="0" y="0"/>
            <a:chExt cx="369570" cy="86995"/>
          </a:xfrm>
        </p:grpSpPr>
      </p:grpSp>
      <p:grpSp>
        <p:nvGrpSpPr>
          <p:cNvPr id="6296" name="Group 470"/>
          <p:cNvGrpSpPr>
            <a:grpSpLocks/>
          </p:cNvGrpSpPr>
          <p:nvPr/>
        </p:nvGrpSpPr>
        <p:grpSpPr bwMode="auto">
          <a:xfrm>
            <a:off x="0" y="0"/>
            <a:ext cx="371475" cy="85725"/>
            <a:chOff x="0" y="0"/>
            <a:chExt cx="370840" cy="85725"/>
          </a:xfrm>
        </p:grpSpPr>
      </p:grpSp>
      <p:grpSp>
        <p:nvGrpSpPr>
          <p:cNvPr id="6298" name="Group 472"/>
          <p:cNvGrpSpPr>
            <a:grpSpLocks/>
          </p:cNvGrpSpPr>
          <p:nvPr/>
        </p:nvGrpSpPr>
        <p:grpSpPr bwMode="auto">
          <a:xfrm>
            <a:off x="0" y="0"/>
            <a:ext cx="369888" cy="87313"/>
            <a:chOff x="0" y="0"/>
            <a:chExt cx="369570" cy="86995"/>
          </a:xfrm>
        </p:grpSpPr>
      </p:grpSp>
      <p:grpSp>
        <p:nvGrpSpPr>
          <p:cNvPr id="6300" name="Group 474"/>
          <p:cNvGrpSpPr>
            <a:grpSpLocks/>
          </p:cNvGrpSpPr>
          <p:nvPr/>
        </p:nvGrpSpPr>
        <p:grpSpPr bwMode="auto">
          <a:xfrm>
            <a:off x="0" y="0"/>
            <a:ext cx="369888" cy="87313"/>
            <a:chOff x="0" y="0"/>
            <a:chExt cx="369570" cy="86995"/>
          </a:xfrm>
        </p:grpSpPr>
      </p:grpSp>
      <p:grpSp>
        <p:nvGrpSpPr>
          <p:cNvPr id="6302" name="Group 476"/>
          <p:cNvGrpSpPr>
            <a:grpSpLocks/>
          </p:cNvGrpSpPr>
          <p:nvPr/>
        </p:nvGrpSpPr>
        <p:grpSpPr bwMode="auto">
          <a:xfrm>
            <a:off x="0" y="0"/>
            <a:ext cx="530225" cy="87313"/>
            <a:chOff x="0" y="0"/>
            <a:chExt cx="5308" cy="869"/>
          </a:xfrm>
        </p:grpSpPr>
      </p:grpSp>
      <p:grpSp>
        <p:nvGrpSpPr>
          <p:cNvPr id="6304" name="Group 479"/>
          <p:cNvGrpSpPr>
            <a:grpSpLocks/>
          </p:cNvGrpSpPr>
          <p:nvPr/>
        </p:nvGrpSpPr>
        <p:grpSpPr bwMode="auto">
          <a:xfrm>
            <a:off x="0" y="0"/>
            <a:ext cx="592138" cy="111125"/>
            <a:chOff x="0" y="0"/>
            <a:chExt cx="5924" cy="1111"/>
          </a:xfrm>
        </p:grpSpPr>
      </p:grpSp>
      <p:grpSp>
        <p:nvGrpSpPr>
          <p:cNvPr id="6306" name="Group 481"/>
          <p:cNvGrpSpPr>
            <a:grpSpLocks/>
          </p:cNvGrpSpPr>
          <p:nvPr/>
        </p:nvGrpSpPr>
        <p:grpSpPr bwMode="auto">
          <a:xfrm>
            <a:off x="0" y="0"/>
            <a:ext cx="369888" cy="87313"/>
            <a:chOff x="0" y="0"/>
            <a:chExt cx="369570" cy="86995"/>
          </a:xfrm>
        </p:grpSpPr>
      </p:grpSp>
      <p:grpSp>
        <p:nvGrpSpPr>
          <p:cNvPr id="6308" name="Group 483"/>
          <p:cNvGrpSpPr>
            <a:grpSpLocks/>
          </p:cNvGrpSpPr>
          <p:nvPr/>
        </p:nvGrpSpPr>
        <p:grpSpPr bwMode="auto">
          <a:xfrm>
            <a:off x="0" y="0"/>
            <a:ext cx="371475" cy="85725"/>
            <a:chOff x="0" y="0"/>
            <a:chExt cx="370840" cy="85725"/>
          </a:xfrm>
        </p:grpSpPr>
      </p:grpSp>
      <p:grpSp>
        <p:nvGrpSpPr>
          <p:cNvPr id="6310" name="Group 485"/>
          <p:cNvGrpSpPr>
            <a:grpSpLocks/>
          </p:cNvGrpSpPr>
          <p:nvPr/>
        </p:nvGrpSpPr>
        <p:grpSpPr bwMode="auto">
          <a:xfrm>
            <a:off x="0" y="0"/>
            <a:ext cx="369888" cy="87313"/>
            <a:chOff x="0" y="0"/>
            <a:chExt cx="369570" cy="86995"/>
          </a:xfrm>
        </p:grpSpPr>
      </p:grpSp>
      <p:grpSp>
        <p:nvGrpSpPr>
          <p:cNvPr id="6312" name="Group 487"/>
          <p:cNvGrpSpPr>
            <a:grpSpLocks/>
          </p:cNvGrpSpPr>
          <p:nvPr/>
        </p:nvGrpSpPr>
        <p:grpSpPr bwMode="auto">
          <a:xfrm>
            <a:off x="0" y="0"/>
            <a:ext cx="368300" cy="87313"/>
            <a:chOff x="0" y="0"/>
            <a:chExt cx="368935" cy="86995"/>
          </a:xfrm>
        </p:grpSpPr>
      </p:grpSp>
      <p:grpSp>
        <p:nvGrpSpPr>
          <p:cNvPr id="6314" name="Group 489"/>
          <p:cNvGrpSpPr>
            <a:grpSpLocks/>
          </p:cNvGrpSpPr>
          <p:nvPr/>
        </p:nvGrpSpPr>
        <p:grpSpPr bwMode="auto">
          <a:xfrm>
            <a:off x="0" y="0"/>
            <a:ext cx="371475" cy="87313"/>
            <a:chOff x="0" y="0"/>
            <a:chExt cx="370840" cy="86995"/>
          </a:xfrm>
        </p:grpSpPr>
      </p:grpSp>
      <p:grpSp>
        <p:nvGrpSpPr>
          <p:cNvPr id="6316" name="Group 492"/>
          <p:cNvGrpSpPr>
            <a:grpSpLocks/>
          </p:cNvGrpSpPr>
          <p:nvPr/>
        </p:nvGrpSpPr>
        <p:grpSpPr bwMode="auto">
          <a:xfrm>
            <a:off x="0" y="0"/>
            <a:ext cx="371475" cy="87313"/>
            <a:chOff x="0" y="0"/>
            <a:chExt cx="370840" cy="86995"/>
          </a:xfrm>
        </p:grpSpPr>
      </p:grpSp>
      <p:grpSp>
        <p:nvGrpSpPr>
          <p:cNvPr id="6318" name="Group 494"/>
          <p:cNvGrpSpPr>
            <a:grpSpLocks/>
          </p:cNvGrpSpPr>
          <p:nvPr/>
        </p:nvGrpSpPr>
        <p:grpSpPr bwMode="auto">
          <a:xfrm>
            <a:off x="0" y="0"/>
            <a:ext cx="371475" cy="87313"/>
            <a:chOff x="0" y="0"/>
            <a:chExt cx="370840" cy="86995"/>
          </a:xfrm>
        </p:grpSpPr>
      </p:grpSp>
      <p:grpSp>
        <p:nvGrpSpPr>
          <p:cNvPr id="6320" name="Group 496"/>
          <p:cNvGrpSpPr>
            <a:grpSpLocks/>
          </p:cNvGrpSpPr>
          <p:nvPr/>
        </p:nvGrpSpPr>
        <p:grpSpPr bwMode="auto">
          <a:xfrm>
            <a:off x="0" y="0"/>
            <a:ext cx="371475" cy="87313"/>
            <a:chOff x="0" y="0"/>
            <a:chExt cx="370840" cy="86995"/>
          </a:xfrm>
        </p:grpSpPr>
      </p:grpSp>
      <p:grpSp>
        <p:nvGrpSpPr>
          <p:cNvPr id="6322" name="Group 498"/>
          <p:cNvGrpSpPr>
            <a:grpSpLocks/>
          </p:cNvGrpSpPr>
          <p:nvPr/>
        </p:nvGrpSpPr>
        <p:grpSpPr bwMode="auto">
          <a:xfrm>
            <a:off x="0" y="0"/>
            <a:ext cx="371475" cy="87313"/>
            <a:chOff x="0" y="0"/>
            <a:chExt cx="370840" cy="86995"/>
          </a:xfrm>
        </p:grpSpPr>
      </p:grpSp>
      <p:grpSp>
        <p:nvGrpSpPr>
          <p:cNvPr id="6324" name="Group 500"/>
          <p:cNvGrpSpPr>
            <a:grpSpLocks/>
          </p:cNvGrpSpPr>
          <p:nvPr/>
        </p:nvGrpSpPr>
        <p:grpSpPr bwMode="auto">
          <a:xfrm>
            <a:off x="0" y="0"/>
            <a:ext cx="530225" cy="87313"/>
            <a:chOff x="0" y="0"/>
            <a:chExt cx="5295" cy="869"/>
          </a:xfrm>
        </p:grpSpPr>
      </p:grpSp>
      <p:grpSp>
        <p:nvGrpSpPr>
          <p:cNvPr id="6326" name="Group 503"/>
          <p:cNvGrpSpPr>
            <a:grpSpLocks/>
          </p:cNvGrpSpPr>
          <p:nvPr/>
        </p:nvGrpSpPr>
        <p:grpSpPr bwMode="auto">
          <a:xfrm>
            <a:off x="0" y="0"/>
            <a:ext cx="592138" cy="111125"/>
            <a:chOff x="0" y="0"/>
            <a:chExt cx="5924" cy="1111"/>
          </a:xfrm>
        </p:grpSpPr>
      </p:grpSp>
      <p:grpSp>
        <p:nvGrpSpPr>
          <p:cNvPr id="6328" name="Group 505"/>
          <p:cNvGrpSpPr>
            <a:grpSpLocks/>
          </p:cNvGrpSpPr>
          <p:nvPr/>
        </p:nvGrpSpPr>
        <p:grpSpPr bwMode="auto">
          <a:xfrm>
            <a:off x="0" y="0"/>
            <a:ext cx="368300" cy="85725"/>
            <a:chOff x="0" y="0"/>
            <a:chExt cx="367665" cy="85725"/>
          </a:xfrm>
        </p:grpSpPr>
      </p:grpSp>
      <p:grpSp>
        <p:nvGrpSpPr>
          <p:cNvPr id="6330" name="Group 507"/>
          <p:cNvGrpSpPr>
            <a:grpSpLocks/>
          </p:cNvGrpSpPr>
          <p:nvPr/>
        </p:nvGrpSpPr>
        <p:grpSpPr bwMode="auto">
          <a:xfrm>
            <a:off x="0" y="0"/>
            <a:ext cx="368300" cy="85725"/>
            <a:chOff x="0" y="0"/>
            <a:chExt cx="368300" cy="85725"/>
          </a:xfrm>
        </p:grpSpPr>
      </p:grpSp>
      <p:grpSp>
        <p:nvGrpSpPr>
          <p:cNvPr id="6332" name="Group 509"/>
          <p:cNvGrpSpPr>
            <a:grpSpLocks/>
          </p:cNvGrpSpPr>
          <p:nvPr/>
        </p:nvGrpSpPr>
        <p:grpSpPr bwMode="auto">
          <a:xfrm>
            <a:off x="0" y="0"/>
            <a:ext cx="368300" cy="85725"/>
            <a:chOff x="0" y="0"/>
            <a:chExt cx="368300" cy="85725"/>
          </a:xfrm>
        </p:grpSpPr>
      </p:grpSp>
      <p:grpSp>
        <p:nvGrpSpPr>
          <p:cNvPr id="6334" name="Group 511"/>
          <p:cNvGrpSpPr>
            <a:grpSpLocks/>
          </p:cNvGrpSpPr>
          <p:nvPr/>
        </p:nvGrpSpPr>
        <p:grpSpPr bwMode="auto">
          <a:xfrm>
            <a:off x="0" y="0"/>
            <a:ext cx="368300" cy="85725"/>
            <a:chOff x="0" y="0"/>
            <a:chExt cx="368300" cy="85725"/>
          </a:xfrm>
        </p:grpSpPr>
      </p:grpSp>
      <p:grpSp>
        <p:nvGrpSpPr>
          <p:cNvPr id="6336" name="Group 515"/>
          <p:cNvGrpSpPr>
            <a:grpSpLocks/>
          </p:cNvGrpSpPr>
          <p:nvPr/>
        </p:nvGrpSpPr>
        <p:grpSpPr bwMode="auto">
          <a:xfrm>
            <a:off x="0" y="0"/>
            <a:ext cx="368300" cy="87313"/>
            <a:chOff x="0" y="0"/>
            <a:chExt cx="368935" cy="86995"/>
          </a:xfrm>
        </p:grpSpPr>
      </p:grpSp>
      <p:grpSp>
        <p:nvGrpSpPr>
          <p:cNvPr id="6338" name="Group 517"/>
          <p:cNvGrpSpPr>
            <a:grpSpLocks/>
          </p:cNvGrpSpPr>
          <p:nvPr/>
        </p:nvGrpSpPr>
        <p:grpSpPr bwMode="auto">
          <a:xfrm>
            <a:off x="0" y="0"/>
            <a:ext cx="368300" cy="87313"/>
            <a:chOff x="0" y="0"/>
            <a:chExt cx="368935" cy="86995"/>
          </a:xfrm>
        </p:grpSpPr>
      </p:grpSp>
      <p:grpSp>
        <p:nvGrpSpPr>
          <p:cNvPr id="6340" name="Group 519"/>
          <p:cNvGrpSpPr>
            <a:grpSpLocks/>
          </p:cNvGrpSpPr>
          <p:nvPr/>
        </p:nvGrpSpPr>
        <p:grpSpPr bwMode="auto">
          <a:xfrm>
            <a:off x="0" y="0"/>
            <a:ext cx="368300" cy="87313"/>
            <a:chOff x="0" y="0"/>
            <a:chExt cx="368935" cy="86995"/>
          </a:xfrm>
        </p:grpSpPr>
      </p:grpSp>
      <p:grpSp>
        <p:nvGrpSpPr>
          <p:cNvPr id="6342" name="Group 521"/>
          <p:cNvGrpSpPr>
            <a:grpSpLocks/>
          </p:cNvGrpSpPr>
          <p:nvPr/>
        </p:nvGrpSpPr>
        <p:grpSpPr bwMode="auto">
          <a:xfrm>
            <a:off x="0" y="0"/>
            <a:ext cx="371475" cy="87313"/>
            <a:chOff x="0" y="0"/>
            <a:chExt cx="370840" cy="86995"/>
          </a:xfrm>
        </p:grpSpPr>
      </p:grpSp>
      <p:sp>
        <p:nvSpPr>
          <p:cNvPr id="39" name="TextBox 10">
            <a:extLst>
              <a:ext uri="{FF2B5EF4-FFF2-40B4-BE49-F238E27FC236}">
                <a16:creationId xmlns:a16="http://schemas.microsoft.com/office/drawing/2014/main" id="{3040AFEB-7721-F5B6-5B2F-478A8FC655F0}"/>
              </a:ext>
            </a:extLst>
          </p:cNvPr>
          <p:cNvSpPr txBox="1"/>
          <p:nvPr/>
        </p:nvSpPr>
        <p:spPr>
          <a:xfrm>
            <a:off x="2514600" y="654941"/>
            <a:ext cx="12766315" cy="1141851"/>
          </a:xfrm>
          <a:prstGeom prst="rect">
            <a:avLst/>
          </a:prstGeom>
        </p:spPr>
        <p:txBody>
          <a:bodyPr wrap="square" lIns="0" tIns="0" rIns="0" bIns="0" rtlCol="0" anchor="t">
            <a:spAutoFit/>
          </a:bodyPr>
          <a:lstStyle/>
          <a:p>
            <a:pPr algn="ctr">
              <a:lnSpc>
                <a:spcPts val="10500"/>
              </a:lnSpc>
            </a:pPr>
            <a:r>
              <a:rPr lang="en-US" sz="4000" b="1" dirty="0">
                <a:solidFill>
                  <a:srgbClr val="000000"/>
                </a:solidFill>
                <a:latin typeface="Consolas" panose="020B0609020204030204" pitchFamily="49" charset="0"/>
              </a:rPr>
              <a:t>REFERENCES</a:t>
            </a:r>
          </a:p>
        </p:txBody>
      </p:sp>
      <p:pic>
        <p:nvPicPr>
          <p:cNvPr id="3" name="Picture 2">
            <a:extLst>
              <a:ext uri="{FF2B5EF4-FFF2-40B4-BE49-F238E27FC236}">
                <a16:creationId xmlns:a16="http://schemas.microsoft.com/office/drawing/2014/main" id="{7961E197-6371-43D5-AFD2-F514FCC4AA0B}"/>
              </a:ext>
            </a:extLst>
          </p:cNvPr>
          <p:cNvPicPr>
            <a:picLocks noChangeAspect="1"/>
          </p:cNvPicPr>
          <p:nvPr/>
        </p:nvPicPr>
        <p:blipFill>
          <a:blip r:embed="rId18" cstate="print">
            <a:extLst>
              <a:ext uri="{28A0092B-C50C-407E-A947-70E740481C1C}">
                <a14:useLocalDpi xmlns:a14="http://schemas.microsoft.com/office/drawing/2010/main" val="0"/>
              </a:ext>
            </a:extLst>
          </a:blip>
          <a:srcRect/>
          <a:stretch/>
        </p:blipFill>
        <p:spPr>
          <a:xfrm>
            <a:off x="1360459" y="1504865"/>
            <a:ext cx="1553526" cy="734389"/>
          </a:xfrm>
          <a:prstGeom prst="rect">
            <a:avLst/>
          </a:prstGeom>
        </p:spPr>
      </p:pic>
      <p:sp>
        <p:nvSpPr>
          <p:cNvPr id="8" name="TextBox 7">
            <a:extLst>
              <a:ext uri="{FF2B5EF4-FFF2-40B4-BE49-F238E27FC236}">
                <a16:creationId xmlns:a16="http://schemas.microsoft.com/office/drawing/2014/main" id="{75147CD4-2315-3208-6043-6D2A33AED534}"/>
              </a:ext>
            </a:extLst>
          </p:cNvPr>
          <p:cNvSpPr txBox="1"/>
          <p:nvPr/>
        </p:nvSpPr>
        <p:spPr>
          <a:xfrm>
            <a:off x="3200400" y="2400300"/>
            <a:ext cx="12573000" cy="5601533"/>
          </a:xfrm>
          <a:prstGeom prst="rect">
            <a:avLst/>
          </a:prstGeom>
          <a:noFill/>
        </p:spPr>
        <p:txBody>
          <a:bodyPr wrap="square" rtlCol="0">
            <a:spAutoFit/>
          </a:bodyPr>
          <a:lstStyle/>
          <a:p>
            <a:r>
              <a:rPr lang="en-GB" sz="2000" b="1" dirty="0">
                <a:latin typeface="Consolas" panose="020B0609020204030204" pitchFamily="49" charset="0"/>
              </a:rPr>
              <a:t>Background / Literature Review:</a:t>
            </a:r>
            <a:endParaRPr lang="en-GB" sz="2000" dirty="0">
              <a:latin typeface="Consolas" panose="020B0609020204030204" pitchFamily="49" charset="0"/>
            </a:endParaRPr>
          </a:p>
          <a:p>
            <a:r>
              <a:rPr lang="en-GB" sz="2000" dirty="0">
                <a:latin typeface="Consolas" panose="020B0609020204030204" pitchFamily="49" charset="0"/>
              </a:rPr>
              <a:t>[1] Wei, C-H., Allot, A., Lai, P-T., Leaman, R., Tian, S., Luo, L., Jin, Q., Wang, Z., Chen, Q., &amp; Lu, Z. (2023). </a:t>
            </a:r>
            <a:r>
              <a:rPr lang="en-GB" sz="2000" i="1" dirty="0" err="1">
                <a:latin typeface="Consolas" panose="020B0609020204030204" pitchFamily="49" charset="0"/>
              </a:rPr>
              <a:t>PubTator</a:t>
            </a:r>
            <a:r>
              <a:rPr lang="en-GB" sz="2000" i="1" dirty="0">
                <a:latin typeface="Consolas" panose="020B0609020204030204" pitchFamily="49" charset="0"/>
              </a:rPr>
              <a:t> 3.0: an AI-powered literature resource for unlocking biomedical knowledge.</a:t>
            </a:r>
            <a:r>
              <a:rPr lang="en-GB" sz="2000" dirty="0">
                <a:latin typeface="Consolas" panose="020B0609020204030204" pitchFamily="49" charset="0"/>
              </a:rPr>
              <a:t> Nucleic Acids Research. </a:t>
            </a:r>
            <a:r>
              <a:rPr lang="en-GB" sz="2000" i="1" dirty="0">
                <a:latin typeface="Consolas" panose="020B0609020204030204" pitchFamily="49" charset="0"/>
              </a:rPr>
              <a:t>(Open Access)</a:t>
            </a:r>
            <a:endParaRPr lang="en-GB" sz="2000" dirty="0">
              <a:latin typeface="Consolas" panose="020B0609020204030204" pitchFamily="49" charset="0"/>
            </a:endParaRPr>
          </a:p>
          <a:p>
            <a:r>
              <a:rPr lang="en-GB" sz="2000" dirty="0">
                <a:latin typeface="Consolas" panose="020B0609020204030204" pitchFamily="49" charset="0"/>
              </a:rPr>
              <a:t>[2] Kim, S., Liu, H., </a:t>
            </a:r>
            <a:r>
              <a:rPr lang="en-GB" sz="2000" dirty="0" err="1">
                <a:latin typeface="Consolas" panose="020B0609020204030204" pitchFamily="49" charset="0"/>
              </a:rPr>
              <a:t>Yeganova</a:t>
            </a:r>
            <a:r>
              <a:rPr lang="en-GB" sz="2000" dirty="0">
                <a:latin typeface="Consolas" panose="020B0609020204030204" pitchFamily="49" charset="0"/>
              </a:rPr>
              <a:t>, L., &amp; Wilbur, W.J. </a:t>
            </a:r>
            <a:r>
              <a:rPr lang="en-GB" sz="2000" i="1" dirty="0">
                <a:latin typeface="Consolas" panose="020B0609020204030204" pitchFamily="49" charset="0"/>
              </a:rPr>
              <a:t>Extracting drug-drug interactions from literature using a rich feature-based linear kernel approach.</a:t>
            </a:r>
            <a:r>
              <a:rPr lang="en-GB" sz="2000" dirty="0">
                <a:latin typeface="Consolas" panose="020B0609020204030204" pitchFamily="49" charset="0"/>
              </a:rPr>
              <a:t> Journal of Biomedical Informatics.</a:t>
            </a:r>
          </a:p>
          <a:p>
            <a:r>
              <a:rPr lang="en-GB" sz="2000" dirty="0">
                <a:latin typeface="Consolas" panose="020B0609020204030204" pitchFamily="49" charset="0"/>
              </a:rPr>
              <a:t>[3] Segura-Bedmar, I., Martínez, P., &amp; Herrero-Zazo, M. (2013). </a:t>
            </a:r>
            <a:r>
              <a:rPr lang="en-GB" sz="2000" i="1" dirty="0">
                <a:latin typeface="Consolas" panose="020B0609020204030204" pitchFamily="49" charset="0"/>
              </a:rPr>
              <a:t>SemEval-2013 Task 9: Extraction of Drug-Drug Interactions from Biomedical Texts (</a:t>
            </a:r>
            <a:r>
              <a:rPr lang="en-GB" sz="2000" i="1" dirty="0" err="1">
                <a:latin typeface="Consolas" panose="020B0609020204030204" pitchFamily="49" charset="0"/>
              </a:rPr>
              <a:t>DDIExtraction</a:t>
            </a:r>
            <a:r>
              <a:rPr lang="en-GB" sz="2000" i="1" dirty="0">
                <a:latin typeface="Consolas" panose="020B0609020204030204" pitchFamily="49" charset="0"/>
              </a:rPr>
              <a:t> 2013).</a:t>
            </a:r>
            <a:r>
              <a:rPr lang="en-GB" sz="2000" dirty="0">
                <a:latin typeface="Consolas" panose="020B0609020204030204" pitchFamily="49" charset="0"/>
              </a:rPr>
              <a:t> Proceedings of SemEval-2013.</a:t>
            </a:r>
          </a:p>
          <a:p>
            <a:r>
              <a:rPr lang="en-GB" sz="2000" b="1" dirty="0">
                <a:latin typeface="Consolas" panose="020B0609020204030204" pitchFamily="49" charset="0"/>
              </a:rPr>
              <a:t>Tools &amp; Databases:</a:t>
            </a:r>
            <a:endParaRPr lang="en-GB" sz="2000" dirty="0">
              <a:latin typeface="Consolas" panose="020B0609020204030204" pitchFamily="49" charset="0"/>
            </a:endParaRPr>
          </a:p>
          <a:p>
            <a:r>
              <a:rPr lang="en-GB" sz="2000" dirty="0">
                <a:latin typeface="Consolas" panose="020B0609020204030204" pitchFamily="49" charset="0"/>
              </a:rPr>
              <a:t>[4] Mendez, D. et al. (2019). </a:t>
            </a:r>
            <a:r>
              <a:rPr lang="en-GB" sz="2000" i="1" dirty="0" err="1">
                <a:latin typeface="Consolas" panose="020B0609020204030204" pitchFamily="49" charset="0"/>
              </a:rPr>
              <a:t>ChEMBL</a:t>
            </a:r>
            <a:r>
              <a:rPr lang="en-GB" sz="2000" i="1" dirty="0">
                <a:latin typeface="Consolas" panose="020B0609020204030204" pitchFamily="49" charset="0"/>
              </a:rPr>
              <a:t>: towards direct deposition of bioassay data.</a:t>
            </a:r>
            <a:r>
              <a:rPr lang="en-GB" sz="2000" dirty="0">
                <a:latin typeface="Consolas" panose="020B0609020204030204" pitchFamily="49" charset="0"/>
              </a:rPr>
              <a:t> Nucleic Acids Research.</a:t>
            </a:r>
          </a:p>
          <a:p>
            <a:r>
              <a:rPr lang="en-GB" sz="2000" dirty="0">
                <a:latin typeface="Consolas" panose="020B0609020204030204" pitchFamily="49" charset="0"/>
              </a:rPr>
              <a:t>[5] NCBI E-utilities API — </a:t>
            </a:r>
            <a:r>
              <a:rPr lang="en-GB" sz="2000" dirty="0">
                <a:latin typeface="Consolas" panose="020B0609020204030204" pitchFamily="49" charset="0"/>
                <a:hlinkClick r:id="rId19"/>
              </a:rPr>
              <a:t>https://eutils.ncbi.nlm.nih.gov</a:t>
            </a:r>
            <a:endParaRPr lang="en-GB" sz="2000" dirty="0">
              <a:latin typeface="Consolas" panose="020B0609020204030204" pitchFamily="49" charset="0"/>
            </a:endParaRPr>
          </a:p>
          <a:p>
            <a:r>
              <a:rPr lang="en-GB" sz="2000" dirty="0">
                <a:latin typeface="Consolas" panose="020B0609020204030204" pitchFamily="49" charset="0"/>
              </a:rPr>
              <a:t>[6] </a:t>
            </a:r>
            <a:r>
              <a:rPr lang="en-GB" sz="2000" dirty="0" err="1">
                <a:latin typeface="Consolas" panose="020B0609020204030204" pitchFamily="49" charset="0"/>
              </a:rPr>
              <a:t>LangGraph</a:t>
            </a:r>
            <a:r>
              <a:rPr lang="en-GB" sz="2000" dirty="0">
                <a:latin typeface="Consolas" panose="020B0609020204030204" pitchFamily="49" charset="0"/>
              </a:rPr>
              <a:t> Documentation — </a:t>
            </a:r>
            <a:r>
              <a:rPr lang="en-GB" sz="2000" dirty="0">
                <a:latin typeface="Consolas" panose="020B0609020204030204" pitchFamily="49" charset="0"/>
                <a:hlinkClick r:id="rId20"/>
              </a:rPr>
              <a:t>https://langchain-ai.github.io/langgraph</a:t>
            </a:r>
            <a:endParaRPr lang="en-GB" sz="2000" dirty="0">
              <a:latin typeface="Consolas" panose="020B0609020204030204" pitchFamily="49" charset="0"/>
            </a:endParaRPr>
          </a:p>
          <a:p>
            <a:r>
              <a:rPr lang="en-GB" sz="2000" dirty="0">
                <a:latin typeface="Consolas" panose="020B0609020204030204" pitchFamily="49" charset="0"/>
              </a:rPr>
              <a:t>[7] Neo4j Graph Database — </a:t>
            </a:r>
            <a:r>
              <a:rPr lang="en-GB" sz="2000" dirty="0">
                <a:latin typeface="Consolas" panose="020B0609020204030204" pitchFamily="49" charset="0"/>
                <a:hlinkClick r:id="rId21"/>
              </a:rPr>
              <a:t>https://neo4j.com</a:t>
            </a:r>
            <a:endParaRPr lang="en-GB" sz="2000" dirty="0">
              <a:latin typeface="Consolas" panose="020B0609020204030204" pitchFamily="49" charset="0"/>
            </a:endParaRPr>
          </a:p>
          <a:p>
            <a:r>
              <a:rPr lang="en-GB" sz="2000" dirty="0">
                <a:latin typeface="Consolas" panose="020B0609020204030204" pitchFamily="49" charset="0"/>
              </a:rPr>
              <a:t>[8] Google AI Studio (Gemini API) — </a:t>
            </a:r>
            <a:r>
              <a:rPr lang="en-GB" sz="2000" dirty="0">
                <a:latin typeface="Consolas" panose="020B0609020204030204" pitchFamily="49" charset="0"/>
                <a:hlinkClick r:id="rId22"/>
              </a:rPr>
              <a:t>https://ai.google.dev</a:t>
            </a:r>
            <a:endParaRPr lang="en-GB" sz="2000" dirty="0">
              <a:latin typeface="Consolas" panose="020B0609020204030204" pitchFamily="49" charset="0"/>
            </a:endParaRPr>
          </a:p>
          <a:p>
            <a:endParaRPr lang="en-GB" dirty="0"/>
          </a:p>
        </p:txBody>
      </p:sp>
    </p:spTree>
    <p:extLst>
      <p:ext uri="{BB962C8B-B14F-4D97-AF65-F5344CB8AC3E}">
        <p14:creationId xmlns:p14="http://schemas.microsoft.com/office/powerpoint/2010/main" val="3392034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a:extLst>
            <a:ext uri="{FF2B5EF4-FFF2-40B4-BE49-F238E27FC236}">
              <a16:creationId xmlns:a16="http://schemas.microsoft.com/office/drawing/2014/main" id="{53B445D3-44CE-DC09-090A-E6F4711A2C55}"/>
            </a:ext>
          </a:extLst>
        </p:cNvPr>
        <p:cNvGrpSpPr/>
        <p:nvPr/>
      </p:nvGrpSpPr>
      <p:grpSpPr>
        <a:xfrm>
          <a:off x="0" y="0"/>
          <a:ext cx="0" cy="0"/>
          <a:chOff x="0" y="0"/>
          <a:chExt cx="0" cy="0"/>
        </a:xfrm>
      </p:grpSpPr>
      <p:sp>
        <p:nvSpPr>
          <p:cNvPr id="1766" name="Freeform 4">
            <a:extLst>
              <a:ext uri="{FF2B5EF4-FFF2-40B4-BE49-F238E27FC236}">
                <a16:creationId xmlns:a16="http://schemas.microsoft.com/office/drawing/2014/main" id="{4B29A072-EAFB-AC6C-C561-69A870A9C3C0}"/>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5" name="Freeform 2">
            <a:extLst>
              <a:ext uri="{FF2B5EF4-FFF2-40B4-BE49-F238E27FC236}">
                <a16:creationId xmlns:a16="http://schemas.microsoft.com/office/drawing/2014/main" id="{68F8EF8D-346B-3640-EBC5-8C6418D48E5F}"/>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sp>
        <p:nvSpPr>
          <p:cNvPr id="1764" name="Freeform 3">
            <a:extLst>
              <a:ext uri="{FF2B5EF4-FFF2-40B4-BE49-F238E27FC236}">
                <a16:creationId xmlns:a16="http://schemas.microsoft.com/office/drawing/2014/main" id="{BB96E32F-692B-3DDE-DCA8-40852AE80D2C}"/>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txBody>
          <a:bodyPr/>
          <a:lstStyle/>
          <a:p>
            <a:endParaRPr lang="en-GB"/>
          </a:p>
        </p:txBody>
      </p:sp>
      <p:grpSp>
        <p:nvGrpSpPr>
          <p:cNvPr id="5" name="Group 5">
            <a:extLst>
              <a:ext uri="{FF2B5EF4-FFF2-40B4-BE49-F238E27FC236}">
                <a16:creationId xmlns:a16="http://schemas.microsoft.com/office/drawing/2014/main" id="{5CF15751-1D85-1D93-29A1-CF5F1BCCFC41}"/>
              </a:ext>
            </a:extLst>
          </p:cNvPr>
          <p:cNvGrpSpPr/>
          <p:nvPr/>
        </p:nvGrpSpPr>
        <p:grpSpPr>
          <a:xfrm>
            <a:off x="1096235" y="928177"/>
            <a:ext cx="16284006" cy="8376138"/>
            <a:chOff x="0" y="-47625"/>
            <a:chExt cx="5292307" cy="2722247"/>
          </a:xfrm>
        </p:grpSpPr>
        <p:sp>
          <p:nvSpPr>
            <p:cNvPr id="6" name="Freeform 6">
              <a:extLst>
                <a:ext uri="{FF2B5EF4-FFF2-40B4-BE49-F238E27FC236}">
                  <a16:creationId xmlns:a16="http://schemas.microsoft.com/office/drawing/2014/main" id="{5D97A6C8-6118-68B2-5BC3-C918490CA346}"/>
                </a:ext>
              </a:extLst>
            </p:cNvPr>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pPr algn="ctr"/>
              <a:endParaRPr lang="en-IN" sz="2400" b="1" dirty="0">
                <a:latin typeface="Consolas" panose="020B0609020204030204" pitchFamily="49" charset="0"/>
              </a:endParaRPr>
            </a:p>
          </p:txBody>
        </p:sp>
        <p:sp>
          <p:nvSpPr>
            <p:cNvPr id="7" name="TextBox 7">
              <a:extLst>
                <a:ext uri="{FF2B5EF4-FFF2-40B4-BE49-F238E27FC236}">
                  <a16:creationId xmlns:a16="http://schemas.microsoft.com/office/drawing/2014/main" id="{08D34EF9-9552-8F09-7D11-10ABEEB4B5DE}"/>
                </a:ext>
              </a:extLst>
            </p:cNvPr>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pic>
        <p:nvPicPr>
          <p:cNvPr id="5142" name="Image 321">
            <a:extLst>
              <a:ext uri="{FF2B5EF4-FFF2-40B4-BE49-F238E27FC236}">
                <a16:creationId xmlns:a16="http://schemas.microsoft.com/office/drawing/2014/main" id="{0B7AC247-A347-90BA-643C-976D187E284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524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143" name="Image 322">
            <a:extLst>
              <a:ext uri="{FF2B5EF4-FFF2-40B4-BE49-F238E27FC236}">
                <a16:creationId xmlns:a16="http://schemas.microsoft.com/office/drawing/2014/main" id="{B04AFE10-54F2-A4CC-0BBF-1EB565A3A24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74625" cy="84138"/>
          </a:xfrm>
          <a:prstGeom prst="rect">
            <a:avLst/>
          </a:prstGeom>
          <a:noFill/>
          <a:extLst>
            <a:ext uri="{909E8E84-426E-40DD-AFC4-6F175D3DCCD1}">
              <a14:hiddenFill xmlns:a14="http://schemas.microsoft.com/office/drawing/2010/main">
                <a:solidFill>
                  <a:srgbClr val="FFFFFF"/>
                </a:solidFill>
              </a14:hiddenFill>
            </a:ext>
          </a:extLst>
        </p:spPr>
      </p:pic>
      <p:pic>
        <p:nvPicPr>
          <p:cNvPr id="5146" name="Image 325">
            <a:extLst>
              <a:ext uri="{FF2B5EF4-FFF2-40B4-BE49-F238E27FC236}">
                <a16:creationId xmlns:a16="http://schemas.microsoft.com/office/drawing/2014/main" id="{DB2B418D-9A8A-DF1C-A280-96E1E52112FD}"/>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22238" cy="84138"/>
          </a:xfrm>
          <a:prstGeom prst="rect">
            <a:avLst/>
          </a:prstGeom>
          <a:noFill/>
          <a:extLst>
            <a:ext uri="{909E8E84-426E-40DD-AFC4-6F175D3DCCD1}">
              <a14:hiddenFill xmlns:a14="http://schemas.microsoft.com/office/drawing/2010/main">
                <a:solidFill>
                  <a:srgbClr val="FFFFFF"/>
                </a:solidFill>
              </a14:hiddenFill>
            </a:ext>
          </a:extLst>
        </p:spPr>
      </p:pic>
      <p:pic>
        <p:nvPicPr>
          <p:cNvPr id="5157" name="Image 336">
            <a:extLst>
              <a:ext uri="{FF2B5EF4-FFF2-40B4-BE49-F238E27FC236}">
                <a16:creationId xmlns:a16="http://schemas.microsoft.com/office/drawing/2014/main" id="{A68A68E8-5DCA-9132-E38A-C340C522FCCD}"/>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2286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168" name="Image 347">
            <a:extLst>
              <a:ext uri="{FF2B5EF4-FFF2-40B4-BE49-F238E27FC236}">
                <a16:creationId xmlns:a16="http://schemas.microsoft.com/office/drawing/2014/main" id="{5FB9D961-CD5E-A187-407D-A678A07224DE}"/>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143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181" name="Image 360">
            <a:extLst>
              <a:ext uri="{FF2B5EF4-FFF2-40B4-BE49-F238E27FC236}">
                <a16:creationId xmlns:a16="http://schemas.microsoft.com/office/drawing/2014/main" id="{D7FF280A-521D-89CF-2F34-EC0B404513BC}"/>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2286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192" name="Image 371">
            <a:extLst>
              <a:ext uri="{FF2B5EF4-FFF2-40B4-BE49-F238E27FC236}">
                <a16:creationId xmlns:a16="http://schemas.microsoft.com/office/drawing/2014/main" id="{0D8B76E4-93BB-76AE-AE96-70203FDE64F3}"/>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143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205" name="Image 384">
            <a:extLst>
              <a:ext uri="{FF2B5EF4-FFF2-40B4-BE49-F238E27FC236}">
                <a16:creationId xmlns:a16="http://schemas.microsoft.com/office/drawing/2014/main" id="{4CB1DABB-6F50-93DC-9F75-1D3E4C13A264}"/>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2286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216" name="Image 395">
            <a:extLst>
              <a:ext uri="{FF2B5EF4-FFF2-40B4-BE49-F238E27FC236}">
                <a16:creationId xmlns:a16="http://schemas.microsoft.com/office/drawing/2014/main" id="{80219B53-FF8E-BCF5-4B76-454AD6691600}"/>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1143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229" name="Image 408">
            <a:extLst>
              <a:ext uri="{FF2B5EF4-FFF2-40B4-BE49-F238E27FC236}">
                <a16:creationId xmlns:a16="http://schemas.microsoft.com/office/drawing/2014/main" id="{0CA8B6DE-13AB-0A5F-176D-B31E2D0AF0E6}"/>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2286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240" name="Image 419">
            <a:extLst>
              <a:ext uri="{FF2B5EF4-FFF2-40B4-BE49-F238E27FC236}">
                <a16:creationId xmlns:a16="http://schemas.microsoft.com/office/drawing/2014/main" id="{D3BD6319-EA2C-DD32-2790-81F4A616CBA8}"/>
              </a:ext>
            </a:extLst>
          </p:cNvPr>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22238" cy="84138"/>
          </a:xfrm>
          <a:prstGeom prst="rect">
            <a:avLst/>
          </a:prstGeom>
          <a:noFill/>
          <a:extLst>
            <a:ext uri="{909E8E84-426E-40DD-AFC4-6F175D3DCCD1}">
              <a14:hiddenFill xmlns:a14="http://schemas.microsoft.com/office/drawing/2010/main">
                <a:solidFill>
                  <a:srgbClr val="FFFFFF"/>
                </a:solidFill>
              </a14:hiddenFill>
            </a:ext>
          </a:extLst>
        </p:spPr>
      </p:pic>
      <p:pic>
        <p:nvPicPr>
          <p:cNvPr id="5277" name="Image 456">
            <a:extLst>
              <a:ext uri="{FF2B5EF4-FFF2-40B4-BE49-F238E27FC236}">
                <a16:creationId xmlns:a16="http://schemas.microsoft.com/office/drawing/2014/main" id="{D98A586C-1AAA-9F28-F796-A78A0F86614D}"/>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22238" cy="84138"/>
          </a:xfrm>
          <a:prstGeom prst="rect">
            <a:avLst/>
          </a:prstGeom>
          <a:noFill/>
          <a:extLst>
            <a:ext uri="{909E8E84-426E-40DD-AFC4-6F175D3DCCD1}">
              <a14:hiddenFill xmlns:a14="http://schemas.microsoft.com/office/drawing/2010/main">
                <a:solidFill>
                  <a:srgbClr val="FFFFFF"/>
                </a:solidFill>
              </a14:hiddenFill>
            </a:ext>
          </a:extLst>
        </p:spPr>
      </p:pic>
      <p:pic>
        <p:nvPicPr>
          <p:cNvPr id="5299" name="Image 478">
            <a:extLst>
              <a:ext uri="{FF2B5EF4-FFF2-40B4-BE49-F238E27FC236}">
                <a16:creationId xmlns:a16="http://schemas.microsoft.com/office/drawing/2014/main" id="{0C5EAEDE-BFB2-9D88-3059-903749E139E7}"/>
              </a:ext>
            </a:extLst>
          </p:cNvPr>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114300" cy="84138"/>
          </a:xfrm>
          <a:prstGeom prst="rect">
            <a:avLst/>
          </a:prstGeom>
          <a:noFill/>
          <a:extLst>
            <a:ext uri="{909E8E84-426E-40DD-AFC4-6F175D3DCCD1}">
              <a14:hiddenFill xmlns:a14="http://schemas.microsoft.com/office/drawing/2010/main">
                <a:solidFill>
                  <a:srgbClr val="FFFFFF"/>
                </a:solidFill>
              </a14:hiddenFill>
            </a:ext>
          </a:extLst>
        </p:spPr>
      </p:pic>
      <p:pic>
        <p:nvPicPr>
          <p:cNvPr id="5323" name="Image 502">
            <a:extLst>
              <a:ext uri="{FF2B5EF4-FFF2-40B4-BE49-F238E27FC236}">
                <a16:creationId xmlns:a16="http://schemas.microsoft.com/office/drawing/2014/main" id="{05BDD143-EAC4-888F-5FE6-21D0314626D0}"/>
              </a:ext>
            </a:extLst>
          </p:cNvPr>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114300" cy="84138"/>
          </a:xfrm>
          <a:prstGeom prst="rect">
            <a:avLst/>
          </a:prstGeom>
          <a:noFill/>
          <a:extLst>
            <a:ext uri="{909E8E84-426E-40DD-AFC4-6F175D3DCCD1}">
              <a14:hiddenFill xmlns:a14="http://schemas.microsoft.com/office/drawing/2010/main">
                <a:solidFill>
                  <a:srgbClr val="FFFFFF"/>
                </a:solidFill>
              </a14:hiddenFill>
            </a:ext>
          </a:extLst>
        </p:spPr>
      </p:pic>
      <p:grpSp>
        <p:nvGrpSpPr>
          <p:cNvPr id="6146" name="Group 302">
            <a:extLst>
              <a:ext uri="{FF2B5EF4-FFF2-40B4-BE49-F238E27FC236}">
                <a16:creationId xmlns:a16="http://schemas.microsoft.com/office/drawing/2014/main" id="{7F37CA64-E788-B347-ED90-21ABAE7828F8}"/>
              </a:ext>
            </a:extLst>
          </p:cNvPr>
          <p:cNvGrpSpPr>
            <a:grpSpLocks/>
          </p:cNvGrpSpPr>
          <p:nvPr/>
        </p:nvGrpSpPr>
        <p:grpSpPr bwMode="auto">
          <a:xfrm>
            <a:off x="0" y="0"/>
            <a:ext cx="441325" cy="85725"/>
            <a:chOff x="0" y="0"/>
            <a:chExt cx="440690" cy="85725"/>
          </a:xfrm>
        </p:grpSpPr>
      </p:grpSp>
      <p:grpSp>
        <p:nvGrpSpPr>
          <p:cNvPr id="6148" name="Group 305">
            <a:extLst>
              <a:ext uri="{FF2B5EF4-FFF2-40B4-BE49-F238E27FC236}">
                <a16:creationId xmlns:a16="http://schemas.microsoft.com/office/drawing/2014/main" id="{4BA0222E-2A4E-C116-4008-13C2330180F9}"/>
              </a:ext>
            </a:extLst>
          </p:cNvPr>
          <p:cNvGrpSpPr>
            <a:grpSpLocks/>
          </p:cNvGrpSpPr>
          <p:nvPr/>
        </p:nvGrpSpPr>
        <p:grpSpPr bwMode="auto">
          <a:xfrm>
            <a:off x="0" y="0"/>
            <a:ext cx="588963" cy="106363"/>
            <a:chOff x="0" y="0"/>
            <a:chExt cx="5886" cy="1066"/>
          </a:xfrm>
        </p:grpSpPr>
      </p:grpSp>
      <p:grpSp>
        <p:nvGrpSpPr>
          <p:cNvPr id="6150" name="Group 307">
            <a:extLst>
              <a:ext uri="{FF2B5EF4-FFF2-40B4-BE49-F238E27FC236}">
                <a16:creationId xmlns:a16="http://schemas.microsoft.com/office/drawing/2014/main" id="{C1C19501-E4C2-14C2-4055-C9104CBDA3E2}"/>
              </a:ext>
            </a:extLst>
          </p:cNvPr>
          <p:cNvGrpSpPr>
            <a:grpSpLocks/>
          </p:cNvGrpSpPr>
          <p:nvPr/>
        </p:nvGrpSpPr>
        <p:grpSpPr bwMode="auto">
          <a:xfrm>
            <a:off x="0" y="0"/>
            <a:ext cx="349250" cy="87313"/>
            <a:chOff x="0" y="0"/>
            <a:chExt cx="349885" cy="87630"/>
          </a:xfrm>
        </p:grpSpPr>
      </p:grpSp>
      <p:grpSp>
        <p:nvGrpSpPr>
          <p:cNvPr id="6152" name="Group 309">
            <a:extLst>
              <a:ext uri="{FF2B5EF4-FFF2-40B4-BE49-F238E27FC236}">
                <a16:creationId xmlns:a16="http://schemas.microsoft.com/office/drawing/2014/main" id="{F1BE24B3-47F2-8B41-5B39-CBA9F12C1108}"/>
              </a:ext>
            </a:extLst>
          </p:cNvPr>
          <p:cNvGrpSpPr>
            <a:grpSpLocks/>
          </p:cNvGrpSpPr>
          <p:nvPr/>
        </p:nvGrpSpPr>
        <p:grpSpPr bwMode="auto">
          <a:xfrm>
            <a:off x="0" y="0"/>
            <a:ext cx="317500" cy="87313"/>
            <a:chOff x="0" y="0"/>
            <a:chExt cx="317500" cy="86995"/>
          </a:xfrm>
        </p:grpSpPr>
      </p:grpSp>
      <p:grpSp>
        <p:nvGrpSpPr>
          <p:cNvPr id="6154" name="Group 311">
            <a:extLst>
              <a:ext uri="{FF2B5EF4-FFF2-40B4-BE49-F238E27FC236}">
                <a16:creationId xmlns:a16="http://schemas.microsoft.com/office/drawing/2014/main" id="{39B5AF63-3420-424F-FA1B-74F3C3630F18}"/>
              </a:ext>
            </a:extLst>
          </p:cNvPr>
          <p:cNvGrpSpPr>
            <a:grpSpLocks/>
          </p:cNvGrpSpPr>
          <p:nvPr/>
        </p:nvGrpSpPr>
        <p:grpSpPr bwMode="auto">
          <a:xfrm>
            <a:off x="0" y="0"/>
            <a:ext cx="409575" cy="87313"/>
            <a:chOff x="0" y="0"/>
            <a:chExt cx="409575" cy="86995"/>
          </a:xfrm>
        </p:grpSpPr>
      </p:grpSp>
      <p:grpSp>
        <p:nvGrpSpPr>
          <p:cNvPr id="6156" name="Group 313">
            <a:extLst>
              <a:ext uri="{FF2B5EF4-FFF2-40B4-BE49-F238E27FC236}">
                <a16:creationId xmlns:a16="http://schemas.microsoft.com/office/drawing/2014/main" id="{7E78FF28-DC3D-B2DF-6EB9-69160D2A6FFC}"/>
              </a:ext>
            </a:extLst>
          </p:cNvPr>
          <p:cNvGrpSpPr>
            <a:grpSpLocks/>
          </p:cNvGrpSpPr>
          <p:nvPr/>
        </p:nvGrpSpPr>
        <p:grpSpPr bwMode="auto">
          <a:xfrm>
            <a:off x="0" y="0"/>
            <a:ext cx="317500" cy="87313"/>
            <a:chOff x="0" y="0"/>
            <a:chExt cx="317500" cy="86995"/>
          </a:xfrm>
        </p:grpSpPr>
      </p:grpSp>
      <p:grpSp>
        <p:nvGrpSpPr>
          <p:cNvPr id="6158" name="Group 315">
            <a:extLst>
              <a:ext uri="{FF2B5EF4-FFF2-40B4-BE49-F238E27FC236}">
                <a16:creationId xmlns:a16="http://schemas.microsoft.com/office/drawing/2014/main" id="{62BCD819-2108-5017-FE35-1CC9A32E9C6A}"/>
              </a:ext>
            </a:extLst>
          </p:cNvPr>
          <p:cNvGrpSpPr>
            <a:grpSpLocks/>
          </p:cNvGrpSpPr>
          <p:nvPr/>
        </p:nvGrpSpPr>
        <p:grpSpPr bwMode="auto">
          <a:xfrm>
            <a:off x="0" y="0"/>
            <a:ext cx="409575" cy="87313"/>
            <a:chOff x="0" y="0"/>
            <a:chExt cx="409575" cy="86995"/>
          </a:xfrm>
        </p:grpSpPr>
      </p:grpSp>
      <p:grpSp>
        <p:nvGrpSpPr>
          <p:cNvPr id="6160" name="Group 317">
            <a:extLst>
              <a:ext uri="{FF2B5EF4-FFF2-40B4-BE49-F238E27FC236}">
                <a16:creationId xmlns:a16="http://schemas.microsoft.com/office/drawing/2014/main" id="{DD8223D6-8022-8463-AEB8-C62CB7B5DBBA}"/>
              </a:ext>
            </a:extLst>
          </p:cNvPr>
          <p:cNvGrpSpPr>
            <a:grpSpLocks/>
          </p:cNvGrpSpPr>
          <p:nvPr/>
        </p:nvGrpSpPr>
        <p:grpSpPr bwMode="auto">
          <a:xfrm>
            <a:off x="0" y="0"/>
            <a:ext cx="447675" cy="85725"/>
            <a:chOff x="0" y="0"/>
            <a:chExt cx="447040" cy="85725"/>
          </a:xfrm>
        </p:grpSpPr>
      </p:grpSp>
      <p:grpSp>
        <p:nvGrpSpPr>
          <p:cNvPr id="6162" name="Group 319">
            <a:extLst>
              <a:ext uri="{FF2B5EF4-FFF2-40B4-BE49-F238E27FC236}">
                <a16:creationId xmlns:a16="http://schemas.microsoft.com/office/drawing/2014/main" id="{B3C1793F-3154-EF14-4EC0-2F18D06A9AAD}"/>
              </a:ext>
            </a:extLst>
          </p:cNvPr>
          <p:cNvGrpSpPr>
            <a:grpSpLocks/>
          </p:cNvGrpSpPr>
          <p:nvPr/>
        </p:nvGrpSpPr>
        <p:grpSpPr bwMode="auto">
          <a:xfrm>
            <a:off x="0" y="0"/>
            <a:ext cx="709613" cy="111125"/>
            <a:chOff x="0" y="0"/>
            <a:chExt cx="7099" cy="1104"/>
          </a:xfrm>
        </p:grpSpPr>
      </p:grpSp>
      <p:grpSp>
        <p:nvGrpSpPr>
          <p:cNvPr id="6164" name="Group 323">
            <a:extLst>
              <a:ext uri="{FF2B5EF4-FFF2-40B4-BE49-F238E27FC236}">
                <a16:creationId xmlns:a16="http://schemas.microsoft.com/office/drawing/2014/main" id="{F1114516-3211-0E71-6CF4-7D3811C570F4}"/>
              </a:ext>
            </a:extLst>
          </p:cNvPr>
          <p:cNvGrpSpPr>
            <a:grpSpLocks/>
          </p:cNvGrpSpPr>
          <p:nvPr/>
        </p:nvGrpSpPr>
        <p:grpSpPr bwMode="auto">
          <a:xfrm>
            <a:off x="0" y="0"/>
            <a:ext cx="527050" cy="87313"/>
            <a:chOff x="0" y="0"/>
            <a:chExt cx="5264" cy="869"/>
          </a:xfrm>
        </p:grpSpPr>
      </p:grpSp>
      <p:grpSp>
        <p:nvGrpSpPr>
          <p:cNvPr id="6166" name="Group 326">
            <a:extLst>
              <a:ext uri="{FF2B5EF4-FFF2-40B4-BE49-F238E27FC236}">
                <a16:creationId xmlns:a16="http://schemas.microsoft.com/office/drawing/2014/main" id="{D27D3887-1EF2-1C40-1791-BEE28B7B8367}"/>
              </a:ext>
            </a:extLst>
          </p:cNvPr>
          <p:cNvGrpSpPr>
            <a:grpSpLocks/>
          </p:cNvGrpSpPr>
          <p:nvPr/>
        </p:nvGrpSpPr>
        <p:grpSpPr bwMode="auto">
          <a:xfrm>
            <a:off x="0" y="0"/>
            <a:ext cx="371475" cy="85725"/>
            <a:chOff x="0" y="0"/>
            <a:chExt cx="372110" cy="86360"/>
          </a:xfrm>
        </p:grpSpPr>
      </p:grpSp>
      <p:grpSp>
        <p:nvGrpSpPr>
          <p:cNvPr id="6168" name="Group 328">
            <a:extLst>
              <a:ext uri="{FF2B5EF4-FFF2-40B4-BE49-F238E27FC236}">
                <a16:creationId xmlns:a16="http://schemas.microsoft.com/office/drawing/2014/main" id="{9B287BE2-19EA-16DD-7848-2810C90765CF}"/>
              </a:ext>
            </a:extLst>
          </p:cNvPr>
          <p:cNvGrpSpPr>
            <a:grpSpLocks/>
          </p:cNvGrpSpPr>
          <p:nvPr/>
        </p:nvGrpSpPr>
        <p:grpSpPr bwMode="auto">
          <a:xfrm>
            <a:off x="0" y="0"/>
            <a:ext cx="368300" cy="87313"/>
            <a:chOff x="0" y="0"/>
            <a:chExt cx="368935" cy="86995"/>
          </a:xfrm>
        </p:grpSpPr>
      </p:grpSp>
      <p:grpSp>
        <p:nvGrpSpPr>
          <p:cNvPr id="6170" name="Group 330">
            <a:extLst>
              <a:ext uri="{FF2B5EF4-FFF2-40B4-BE49-F238E27FC236}">
                <a16:creationId xmlns:a16="http://schemas.microsoft.com/office/drawing/2014/main" id="{982F515E-1561-C7E9-A72F-C44D92E9BC80}"/>
              </a:ext>
            </a:extLst>
          </p:cNvPr>
          <p:cNvGrpSpPr>
            <a:grpSpLocks/>
          </p:cNvGrpSpPr>
          <p:nvPr/>
        </p:nvGrpSpPr>
        <p:grpSpPr bwMode="auto">
          <a:xfrm>
            <a:off x="0" y="0"/>
            <a:ext cx="371475" cy="85725"/>
            <a:chOff x="0" y="0"/>
            <a:chExt cx="372110" cy="86360"/>
          </a:xfrm>
        </p:grpSpPr>
      </p:grpSp>
      <p:grpSp>
        <p:nvGrpSpPr>
          <p:cNvPr id="6172" name="Group 332">
            <a:extLst>
              <a:ext uri="{FF2B5EF4-FFF2-40B4-BE49-F238E27FC236}">
                <a16:creationId xmlns:a16="http://schemas.microsoft.com/office/drawing/2014/main" id="{8CEB80F9-C1B3-0EC9-3E2C-7D435952B020}"/>
              </a:ext>
            </a:extLst>
          </p:cNvPr>
          <p:cNvGrpSpPr>
            <a:grpSpLocks/>
          </p:cNvGrpSpPr>
          <p:nvPr/>
        </p:nvGrpSpPr>
        <p:grpSpPr bwMode="auto">
          <a:xfrm>
            <a:off x="0" y="0"/>
            <a:ext cx="369888" cy="87313"/>
            <a:chOff x="0" y="0"/>
            <a:chExt cx="369570" cy="86995"/>
          </a:xfrm>
        </p:grpSpPr>
      </p:grpSp>
      <p:grpSp>
        <p:nvGrpSpPr>
          <p:cNvPr id="6174" name="Group 334">
            <a:extLst>
              <a:ext uri="{FF2B5EF4-FFF2-40B4-BE49-F238E27FC236}">
                <a16:creationId xmlns:a16="http://schemas.microsoft.com/office/drawing/2014/main" id="{F30EDAA8-E014-CB98-BA68-5607BC8073A3}"/>
              </a:ext>
            </a:extLst>
          </p:cNvPr>
          <p:cNvGrpSpPr>
            <a:grpSpLocks/>
          </p:cNvGrpSpPr>
          <p:nvPr/>
        </p:nvGrpSpPr>
        <p:grpSpPr bwMode="auto">
          <a:xfrm>
            <a:off x="0" y="0"/>
            <a:ext cx="368300" cy="87313"/>
            <a:chOff x="0" y="0"/>
            <a:chExt cx="368935" cy="86995"/>
          </a:xfrm>
        </p:grpSpPr>
      </p:grpSp>
      <p:grpSp>
        <p:nvGrpSpPr>
          <p:cNvPr id="6176" name="Group 337">
            <a:extLst>
              <a:ext uri="{FF2B5EF4-FFF2-40B4-BE49-F238E27FC236}">
                <a16:creationId xmlns:a16="http://schemas.microsoft.com/office/drawing/2014/main" id="{D5DB2190-A513-F42A-5B8A-22A9970F5090}"/>
              </a:ext>
            </a:extLst>
          </p:cNvPr>
          <p:cNvGrpSpPr>
            <a:grpSpLocks/>
          </p:cNvGrpSpPr>
          <p:nvPr/>
        </p:nvGrpSpPr>
        <p:grpSpPr bwMode="auto">
          <a:xfrm>
            <a:off x="0" y="0"/>
            <a:ext cx="368300" cy="85725"/>
            <a:chOff x="0" y="0"/>
            <a:chExt cx="367665" cy="86360"/>
          </a:xfrm>
        </p:grpSpPr>
      </p:grpSp>
      <p:grpSp>
        <p:nvGrpSpPr>
          <p:cNvPr id="6178" name="Group 339">
            <a:extLst>
              <a:ext uri="{FF2B5EF4-FFF2-40B4-BE49-F238E27FC236}">
                <a16:creationId xmlns:a16="http://schemas.microsoft.com/office/drawing/2014/main" id="{72943B13-0A51-FFD4-5E16-43B2795FF151}"/>
              </a:ext>
            </a:extLst>
          </p:cNvPr>
          <p:cNvGrpSpPr>
            <a:grpSpLocks/>
          </p:cNvGrpSpPr>
          <p:nvPr/>
        </p:nvGrpSpPr>
        <p:grpSpPr bwMode="auto">
          <a:xfrm>
            <a:off x="0" y="0"/>
            <a:ext cx="369888" cy="87313"/>
            <a:chOff x="0" y="0"/>
            <a:chExt cx="369570" cy="86995"/>
          </a:xfrm>
        </p:grpSpPr>
      </p:grpSp>
      <p:grpSp>
        <p:nvGrpSpPr>
          <p:cNvPr id="6180" name="Group 341">
            <a:extLst>
              <a:ext uri="{FF2B5EF4-FFF2-40B4-BE49-F238E27FC236}">
                <a16:creationId xmlns:a16="http://schemas.microsoft.com/office/drawing/2014/main" id="{20E6D484-0C7A-2B79-905B-7FC47F8792F0}"/>
              </a:ext>
            </a:extLst>
          </p:cNvPr>
          <p:cNvGrpSpPr>
            <a:grpSpLocks/>
          </p:cNvGrpSpPr>
          <p:nvPr/>
        </p:nvGrpSpPr>
        <p:grpSpPr bwMode="auto">
          <a:xfrm>
            <a:off x="0" y="0"/>
            <a:ext cx="368300" cy="85725"/>
            <a:chOff x="0" y="0"/>
            <a:chExt cx="368300" cy="86360"/>
          </a:xfrm>
        </p:grpSpPr>
      </p:grpSp>
      <p:grpSp>
        <p:nvGrpSpPr>
          <p:cNvPr id="6182" name="Group 343">
            <a:extLst>
              <a:ext uri="{FF2B5EF4-FFF2-40B4-BE49-F238E27FC236}">
                <a16:creationId xmlns:a16="http://schemas.microsoft.com/office/drawing/2014/main" id="{5D0C2B1E-723E-C5E8-48AD-ACA4676EA55E}"/>
              </a:ext>
            </a:extLst>
          </p:cNvPr>
          <p:cNvGrpSpPr>
            <a:grpSpLocks/>
          </p:cNvGrpSpPr>
          <p:nvPr/>
        </p:nvGrpSpPr>
        <p:grpSpPr bwMode="auto">
          <a:xfrm>
            <a:off x="0" y="0"/>
            <a:ext cx="369888" cy="87313"/>
            <a:chOff x="0" y="0"/>
            <a:chExt cx="369570" cy="87630"/>
          </a:xfrm>
        </p:grpSpPr>
      </p:grpSp>
      <p:grpSp>
        <p:nvGrpSpPr>
          <p:cNvPr id="6184" name="Group 345">
            <a:extLst>
              <a:ext uri="{FF2B5EF4-FFF2-40B4-BE49-F238E27FC236}">
                <a16:creationId xmlns:a16="http://schemas.microsoft.com/office/drawing/2014/main" id="{4ECA366A-534C-85B2-00F2-4685F5E60757}"/>
              </a:ext>
            </a:extLst>
          </p:cNvPr>
          <p:cNvGrpSpPr>
            <a:grpSpLocks/>
          </p:cNvGrpSpPr>
          <p:nvPr/>
        </p:nvGrpSpPr>
        <p:grpSpPr bwMode="auto">
          <a:xfrm>
            <a:off x="0" y="0"/>
            <a:ext cx="530225" cy="87313"/>
            <a:chOff x="0" y="0"/>
            <a:chExt cx="5308" cy="869"/>
          </a:xfrm>
        </p:grpSpPr>
      </p:grpSp>
      <p:grpSp>
        <p:nvGrpSpPr>
          <p:cNvPr id="6186" name="Group 348">
            <a:extLst>
              <a:ext uri="{FF2B5EF4-FFF2-40B4-BE49-F238E27FC236}">
                <a16:creationId xmlns:a16="http://schemas.microsoft.com/office/drawing/2014/main" id="{9E270986-A035-CB96-D6AA-676ED92357ED}"/>
              </a:ext>
            </a:extLst>
          </p:cNvPr>
          <p:cNvGrpSpPr>
            <a:grpSpLocks/>
          </p:cNvGrpSpPr>
          <p:nvPr/>
        </p:nvGrpSpPr>
        <p:grpSpPr bwMode="auto">
          <a:xfrm>
            <a:off x="0" y="0"/>
            <a:ext cx="592138" cy="111125"/>
            <a:chOff x="0" y="0"/>
            <a:chExt cx="5924" cy="1111"/>
          </a:xfrm>
        </p:grpSpPr>
      </p:grpSp>
      <p:grpSp>
        <p:nvGrpSpPr>
          <p:cNvPr id="6188" name="Group 350">
            <a:extLst>
              <a:ext uri="{FF2B5EF4-FFF2-40B4-BE49-F238E27FC236}">
                <a16:creationId xmlns:a16="http://schemas.microsoft.com/office/drawing/2014/main" id="{2EC4EEEE-2724-E5CF-5574-2F90F82D412E}"/>
              </a:ext>
            </a:extLst>
          </p:cNvPr>
          <p:cNvGrpSpPr>
            <a:grpSpLocks/>
          </p:cNvGrpSpPr>
          <p:nvPr/>
        </p:nvGrpSpPr>
        <p:grpSpPr bwMode="auto">
          <a:xfrm>
            <a:off x="0" y="0"/>
            <a:ext cx="371475" cy="85725"/>
            <a:chOff x="0" y="0"/>
            <a:chExt cx="372110" cy="85090"/>
          </a:xfrm>
        </p:grpSpPr>
      </p:grpSp>
      <p:grpSp>
        <p:nvGrpSpPr>
          <p:cNvPr id="6190" name="Group 352">
            <a:extLst>
              <a:ext uri="{FF2B5EF4-FFF2-40B4-BE49-F238E27FC236}">
                <a16:creationId xmlns:a16="http://schemas.microsoft.com/office/drawing/2014/main" id="{03EDF4E2-2472-98F9-E2F6-618CCBEE05D3}"/>
              </a:ext>
            </a:extLst>
          </p:cNvPr>
          <p:cNvGrpSpPr>
            <a:grpSpLocks/>
          </p:cNvGrpSpPr>
          <p:nvPr/>
        </p:nvGrpSpPr>
        <p:grpSpPr bwMode="auto">
          <a:xfrm>
            <a:off x="0" y="0"/>
            <a:ext cx="369888" cy="87313"/>
            <a:chOff x="0" y="0"/>
            <a:chExt cx="369570" cy="86995"/>
          </a:xfrm>
        </p:grpSpPr>
      </p:grpSp>
      <p:grpSp>
        <p:nvGrpSpPr>
          <p:cNvPr id="6192" name="Group 354">
            <a:extLst>
              <a:ext uri="{FF2B5EF4-FFF2-40B4-BE49-F238E27FC236}">
                <a16:creationId xmlns:a16="http://schemas.microsoft.com/office/drawing/2014/main" id="{597C74E7-D92F-3CFB-304C-1FA5839E5339}"/>
              </a:ext>
            </a:extLst>
          </p:cNvPr>
          <p:cNvGrpSpPr>
            <a:grpSpLocks/>
          </p:cNvGrpSpPr>
          <p:nvPr/>
        </p:nvGrpSpPr>
        <p:grpSpPr bwMode="auto">
          <a:xfrm>
            <a:off x="0" y="0"/>
            <a:ext cx="371475" cy="85725"/>
            <a:chOff x="0" y="0"/>
            <a:chExt cx="372110" cy="85090"/>
          </a:xfrm>
        </p:grpSpPr>
      </p:grpSp>
      <p:grpSp>
        <p:nvGrpSpPr>
          <p:cNvPr id="6194" name="Group 356">
            <a:extLst>
              <a:ext uri="{FF2B5EF4-FFF2-40B4-BE49-F238E27FC236}">
                <a16:creationId xmlns:a16="http://schemas.microsoft.com/office/drawing/2014/main" id="{19D8BAA9-9401-55A7-6B39-5AEFF3F6DB32}"/>
              </a:ext>
            </a:extLst>
          </p:cNvPr>
          <p:cNvGrpSpPr>
            <a:grpSpLocks/>
          </p:cNvGrpSpPr>
          <p:nvPr/>
        </p:nvGrpSpPr>
        <p:grpSpPr bwMode="auto">
          <a:xfrm>
            <a:off x="0" y="0"/>
            <a:ext cx="371475" cy="87313"/>
            <a:chOff x="0" y="0"/>
            <a:chExt cx="370840" cy="86995"/>
          </a:xfrm>
        </p:grpSpPr>
      </p:grpSp>
      <p:grpSp>
        <p:nvGrpSpPr>
          <p:cNvPr id="6196" name="Group 358">
            <a:extLst>
              <a:ext uri="{FF2B5EF4-FFF2-40B4-BE49-F238E27FC236}">
                <a16:creationId xmlns:a16="http://schemas.microsoft.com/office/drawing/2014/main" id="{8D6AF116-D793-09FE-8B84-C797A16F1E70}"/>
              </a:ext>
            </a:extLst>
          </p:cNvPr>
          <p:cNvGrpSpPr>
            <a:grpSpLocks/>
          </p:cNvGrpSpPr>
          <p:nvPr/>
        </p:nvGrpSpPr>
        <p:grpSpPr bwMode="auto">
          <a:xfrm>
            <a:off x="0" y="0"/>
            <a:ext cx="371475" cy="87313"/>
            <a:chOff x="0" y="0"/>
            <a:chExt cx="370840" cy="86995"/>
          </a:xfrm>
        </p:grpSpPr>
      </p:grpSp>
      <p:grpSp>
        <p:nvGrpSpPr>
          <p:cNvPr id="6198" name="Group 361">
            <a:extLst>
              <a:ext uri="{FF2B5EF4-FFF2-40B4-BE49-F238E27FC236}">
                <a16:creationId xmlns:a16="http://schemas.microsoft.com/office/drawing/2014/main" id="{77CF7C86-98C1-ED1A-34A8-EF964049474F}"/>
              </a:ext>
            </a:extLst>
          </p:cNvPr>
          <p:cNvGrpSpPr>
            <a:grpSpLocks/>
          </p:cNvGrpSpPr>
          <p:nvPr/>
        </p:nvGrpSpPr>
        <p:grpSpPr bwMode="auto">
          <a:xfrm>
            <a:off x="0" y="0"/>
            <a:ext cx="371475" cy="85725"/>
            <a:chOff x="0" y="0"/>
            <a:chExt cx="372110" cy="85725"/>
          </a:xfrm>
        </p:grpSpPr>
      </p:grpSp>
      <p:grpSp>
        <p:nvGrpSpPr>
          <p:cNvPr id="6200" name="Group 363">
            <a:extLst>
              <a:ext uri="{FF2B5EF4-FFF2-40B4-BE49-F238E27FC236}">
                <a16:creationId xmlns:a16="http://schemas.microsoft.com/office/drawing/2014/main" id="{5489D265-C198-1836-FB0E-3E32B80E0816}"/>
              </a:ext>
            </a:extLst>
          </p:cNvPr>
          <p:cNvGrpSpPr>
            <a:grpSpLocks/>
          </p:cNvGrpSpPr>
          <p:nvPr/>
        </p:nvGrpSpPr>
        <p:grpSpPr bwMode="auto">
          <a:xfrm>
            <a:off x="0" y="0"/>
            <a:ext cx="368300" cy="87313"/>
            <a:chOff x="0" y="0"/>
            <a:chExt cx="368935" cy="86995"/>
          </a:xfrm>
        </p:grpSpPr>
      </p:grpSp>
      <p:grpSp>
        <p:nvGrpSpPr>
          <p:cNvPr id="6202" name="Group 365">
            <a:extLst>
              <a:ext uri="{FF2B5EF4-FFF2-40B4-BE49-F238E27FC236}">
                <a16:creationId xmlns:a16="http://schemas.microsoft.com/office/drawing/2014/main" id="{A9C805D4-6A09-8CB3-E802-214D3367AC62}"/>
              </a:ext>
            </a:extLst>
          </p:cNvPr>
          <p:cNvGrpSpPr>
            <a:grpSpLocks/>
          </p:cNvGrpSpPr>
          <p:nvPr/>
        </p:nvGrpSpPr>
        <p:grpSpPr bwMode="auto">
          <a:xfrm>
            <a:off x="0" y="0"/>
            <a:ext cx="371475" cy="85725"/>
            <a:chOff x="0" y="0"/>
            <a:chExt cx="372110" cy="85725"/>
          </a:xfrm>
        </p:grpSpPr>
      </p:grpSp>
      <p:grpSp>
        <p:nvGrpSpPr>
          <p:cNvPr id="6204" name="Group 367">
            <a:extLst>
              <a:ext uri="{FF2B5EF4-FFF2-40B4-BE49-F238E27FC236}">
                <a16:creationId xmlns:a16="http://schemas.microsoft.com/office/drawing/2014/main" id="{6F59D585-31EE-D48F-EA73-5AD3C0565D20}"/>
              </a:ext>
            </a:extLst>
          </p:cNvPr>
          <p:cNvGrpSpPr>
            <a:grpSpLocks/>
          </p:cNvGrpSpPr>
          <p:nvPr/>
        </p:nvGrpSpPr>
        <p:grpSpPr bwMode="auto">
          <a:xfrm>
            <a:off x="0" y="0"/>
            <a:ext cx="368300" cy="85725"/>
            <a:chOff x="0" y="0"/>
            <a:chExt cx="368935" cy="86360"/>
          </a:xfrm>
        </p:grpSpPr>
      </p:grpSp>
      <p:grpSp>
        <p:nvGrpSpPr>
          <p:cNvPr id="6206" name="Group 369">
            <a:extLst>
              <a:ext uri="{FF2B5EF4-FFF2-40B4-BE49-F238E27FC236}">
                <a16:creationId xmlns:a16="http://schemas.microsoft.com/office/drawing/2014/main" id="{3F825C58-64E9-D63F-D654-B2418047C3A9}"/>
              </a:ext>
            </a:extLst>
          </p:cNvPr>
          <p:cNvGrpSpPr>
            <a:grpSpLocks/>
          </p:cNvGrpSpPr>
          <p:nvPr/>
        </p:nvGrpSpPr>
        <p:grpSpPr bwMode="auto">
          <a:xfrm>
            <a:off x="0" y="0"/>
            <a:ext cx="530225" cy="87313"/>
            <a:chOff x="0" y="0"/>
            <a:chExt cx="5295" cy="869"/>
          </a:xfrm>
        </p:grpSpPr>
      </p:grpSp>
      <p:grpSp>
        <p:nvGrpSpPr>
          <p:cNvPr id="6208" name="Group 372">
            <a:extLst>
              <a:ext uri="{FF2B5EF4-FFF2-40B4-BE49-F238E27FC236}">
                <a16:creationId xmlns:a16="http://schemas.microsoft.com/office/drawing/2014/main" id="{5E555BF6-4212-A47C-37A3-49A5FB88CB2B}"/>
              </a:ext>
            </a:extLst>
          </p:cNvPr>
          <p:cNvGrpSpPr>
            <a:grpSpLocks/>
          </p:cNvGrpSpPr>
          <p:nvPr/>
        </p:nvGrpSpPr>
        <p:grpSpPr bwMode="auto">
          <a:xfrm>
            <a:off x="0" y="0"/>
            <a:ext cx="592138" cy="111125"/>
            <a:chOff x="0" y="0"/>
            <a:chExt cx="5924" cy="1111"/>
          </a:xfrm>
        </p:grpSpPr>
      </p:grpSp>
      <p:grpSp>
        <p:nvGrpSpPr>
          <p:cNvPr id="6210" name="Group 374">
            <a:extLst>
              <a:ext uri="{FF2B5EF4-FFF2-40B4-BE49-F238E27FC236}">
                <a16:creationId xmlns:a16="http://schemas.microsoft.com/office/drawing/2014/main" id="{FE2D7364-E345-B2D6-AA50-D41EEB4C16BF}"/>
              </a:ext>
            </a:extLst>
          </p:cNvPr>
          <p:cNvGrpSpPr>
            <a:grpSpLocks/>
          </p:cNvGrpSpPr>
          <p:nvPr/>
        </p:nvGrpSpPr>
        <p:grpSpPr bwMode="auto">
          <a:xfrm>
            <a:off x="0" y="0"/>
            <a:ext cx="368300" cy="87313"/>
            <a:chOff x="0" y="0"/>
            <a:chExt cx="367665" cy="86995"/>
          </a:xfrm>
        </p:grpSpPr>
      </p:grpSp>
      <p:grpSp>
        <p:nvGrpSpPr>
          <p:cNvPr id="6212" name="Group 376">
            <a:extLst>
              <a:ext uri="{FF2B5EF4-FFF2-40B4-BE49-F238E27FC236}">
                <a16:creationId xmlns:a16="http://schemas.microsoft.com/office/drawing/2014/main" id="{D687E13F-A381-02A6-2D61-0F76BEFD8A06}"/>
              </a:ext>
            </a:extLst>
          </p:cNvPr>
          <p:cNvGrpSpPr>
            <a:grpSpLocks/>
          </p:cNvGrpSpPr>
          <p:nvPr/>
        </p:nvGrpSpPr>
        <p:grpSpPr bwMode="auto">
          <a:xfrm>
            <a:off x="0" y="0"/>
            <a:ext cx="371475" cy="85725"/>
            <a:chOff x="0" y="0"/>
            <a:chExt cx="372110" cy="86360"/>
          </a:xfrm>
        </p:grpSpPr>
      </p:grpSp>
      <p:grpSp>
        <p:nvGrpSpPr>
          <p:cNvPr id="6214" name="Group 378">
            <a:extLst>
              <a:ext uri="{FF2B5EF4-FFF2-40B4-BE49-F238E27FC236}">
                <a16:creationId xmlns:a16="http://schemas.microsoft.com/office/drawing/2014/main" id="{1CE0619C-99EB-9321-98F0-CF7B2BEC1C0A}"/>
              </a:ext>
            </a:extLst>
          </p:cNvPr>
          <p:cNvGrpSpPr>
            <a:grpSpLocks/>
          </p:cNvGrpSpPr>
          <p:nvPr/>
        </p:nvGrpSpPr>
        <p:grpSpPr bwMode="auto">
          <a:xfrm>
            <a:off x="0" y="0"/>
            <a:ext cx="368300" cy="87313"/>
            <a:chOff x="0" y="0"/>
            <a:chExt cx="368300" cy="86995"/>
          </a:xfrm>
        </p:grpSpPr>
      </p:grpSp>
      <p:grpSp>
        <p:nvGrpSpPr>
          <p:cNvPr id="6216" name="Group 380">
            <a:extLst>
              <a:ext uri="{FF2B5EF4-FFF2-40B4-BE49-F238E27FC236}">
                <a16:creationId xmlns:a16="http://schemas.microsoft.com/office/drawing/2014/main" id="{BFC13526-7750-49A3-4378-F13E48DB6E4C}"/>
              </a:ext>
            </a:extLst>
          </p:cNvPr>
          <p:cNvGrpSpPr>
            <a:grpSpLocks/>
          </p:cNvGrpSpPr>
          <p:nvPr/>
        </p:nvGrpSpPr>
        <p:grpSpPr bwMode="auto">
          <a:xfrm>
            <a:off x="0" y="0"/>
            <a:ext cx="368300" cy="87313"/>
            <a:chOff x="0" y="0"/>
            <a:chExt cx="368935" cy="86995"/>
          </a:xfrm>
        </p:grpSpPr>
      </p:grpSp>
      <p:grpSp>
        <p:nvGrpSpPr>
          <p:cNvPr id="6218" name="Group 382">
            <a:extLst>
              <a:ext uri="{FF2B5EF4-FFF2-40B4-BE49-F238E27FC236}">
                <a16:creationId xmlns:a16="http://schemas.microsoft.com/office/drawing/2014/main" id="{0D1351D0-E882-567E-F6EE-90C736B8BF34}"/>
              </a:ext>
            </a:extLst>
          </p:cNvPr>
          <p:cNvGrpSpPr>
            <a:grpSpLocks/>
          </p:cNvGrpSpPr>
          <p:nvPr/>
        </p:nvGrpSpPr>
        <p:grpSpPr bwMode="auto">
          <a:xfrm>
            <a:off x="0" y="0"/>
            <a:ext cx="371475" cy="85725"/>
            <a:chOff x="0" y="0"/>
            <a:chExt cx="370840" cy="86360"/>
          </a:xfrm>
        </p:grpSpPr>
      </p:grpSp>
      <p:grpSp>
        <p:nvGrpSpPr>
          <p:cNvPr id="6220" name="Group 385">
            <a:extLst>
              <a:ext uri="{FF2B5EF4-FFF2-40B4-BE49-F238E27FC236}">
                <a16:creationId xmlns:a16="http://schemas.microsoft.com/office/drawing/2014/main" id="{226C09E5-865A-0A80-290A-3F125BDE969A}"/>
              </a:ext>
            </a:extLst>
          </p:cNvPr>
          <p:cNvGrpSpPr>
            <a:grpSpLocks/>
          </p:cNvGrpSpPr>
          <p:nvPr/>
        </p:nvGrpSpPr>
        <p:grpSpPr bwMode="auto">
          <a:xfrm>
            <a:off x="0" y="0"/>
            <a:ext cx="371475" cy="85725"/>
            <a:chOff x="0" y="0"/>
            <a:chExt cx="370840" cy="85725"/>
          </a:xfrm>
        </p:grpSpPr>
      </p:grpSp>
      <p:grpSp>
        <p:nvGrpSpPr>
          <p:cNvPr id="6222" name="Group 387">
            <a:extLst>
              <a:ext uri="{FF2B5EF4-FFF2-40B4-BE49-F238E27FC236}">
                <a16:creationId xmlns:a16="http://schemas.microsoft.com/office/drawing/2014/main" id="{8EE25931-F17B-FC11-4DF2-2DFE1FD8AECF}"/>
              </a:ext>
            </a:extLst>
          </p:cNvPr>
          <p:cNvGrpSpPr>
            <a:grpSpLocks/>
          </p:cNvGrpSpPr>
          <p:nvPr/>
        </p:nvGrpSpPr>
        <p:grpSpPr bwMode="auto">
          <a:xfrm>
            <a:off x="0" y="0"/>
            <a:ext cx="371475" cy="85725"/>
            <a:chOff x="0" y="0"/>
            <a:chExt cx="370840" cy="85725"/>
          </a:xfrm>
        </p:grpSpPr>
      </p:grpSp>
      <p:grpSp>
        <p:nvGrpSpPr>
          <p:cNvPr id="6224" name="Group 389">
            <a:extLst>
              <a:ext uri="{FF2B5EF4-FFF2-40B4-BE49-F238E27FC236}">
                <a16:creationId xmlns:a16="http://schemas.microsoft.com/office/drawing/2014/main" id="{B89F2398-F677-6F7B-DD4C-1EB04C0FDF4B}"/>
              </a:ext>
            </a:extLst>
          </p:cNvPr>
          <p:cNvGrpSpPr>
            <a:grpSpLocks/>
          </p:cNvGrpSpPr>
          <p:nvPr/>
        </p:nvGrpSpPr>
        <p:grpSpPr bwMode="auto">
          <a:xfrm>
            <a:off x="0" y="0"/>
            <a:ext cx="371475" cy="85725"/>
            <a:chOff x="0" y="0"/>
            <a:chExt cx="370840" cy="85725"/>
          </a:xfrm>
        </p:grpSpPr>
      </p:grpSp>
      <p:grpSp>
        <p:nvGrpSpPr>
          <p:cNvPr id="6226" name="Group 391">
            <a:extLst>
              <a:ext uri="{FF2B5EF4-FFF2-40B4-BE49-F238E27FC236}">
                <a16:creationId xmlns:a16="http://schemas.microsoft.com/office/drawing/2014/main" id="{46934F43-8028-5142-0418-A844FAE8EE71}"/>
              </a:ext>
            </a:extLst>
          </p:cNvPr>
          <p:cNvGrpSpPr>
            <a:grpSpLocks/>
          </p:cNvGrpSpPr>
          <p:nvPr/>
        </p:nvGrpSpPr>
        <p:grpSpPr bwMode="auto">
          <a:xfrm>
            <a:off x="0" y="0"/>
            <a:ext cx="371475" cy="87313"/>
            <a:chOff x="0" y="0"/>
            <a:chExt cx="370840" cy="87630"/>
          </a:xfrm>
        </p:grpSpPr>
      </p:grpSp>
      <p:grpSp>
        <p:nvGrpSpPr>
          <p:cNvPr id="6228" name="Group 393">
            <a:extLst>
              <a:ext uri="{FF2B5EF4-FFF2-40B4-BE49-F238E27FC236}">
                <a16:creationId xmlns:a16="http://schemas.microsoft.com/office/drawing/2014/main" id="{7624620C-5316-3B42-C114-BAE4849176D7}"/>
              </a:ext>
            </a:extLst>
          </p:cNvPr>
          <p:cNvGrpSpPr>
            <a:grpSpLocks/>
          </p:cNvGrpSpPr>
          <p:nvPr/>
        </p:nvGrpSpPr>
        <p:grpSpPr bwMode="auto">
          <a:xfrm>
            <a:off x="0" y="0"/>
            <a:ext cx="530225" cy="87313"/>
            <a:chOff x="0" y="0"/>
            <a:chExt cx="5302" cy="869"/>
          </a:xfrm>
        </p:grpSpPr>
      </p:grpSp>
      <p:grpSp>
        <p:nvGrpSpPr>
          <p:cNvPr id="6230" name="Group 396">
            <a:extLst>
              <a:ext uri="{FF2B5EF4-FFF2-40B4-BE49-F238E27FC236}">
                <a16:creationId xmlns:a16="http://schemas.microsoft.com/office/drawing/2014/main" id="{BCAB9DB1-FCA3-23CF-55D9-CD8B7A23F440}"/>
              </a:ext>
            </a:extLst>
          </p:cNvPr>
          <p:cNvGrpSpPr>
            <a:grpSpLocks/>
          </p:cNvGrpSpPr>
          <p:nvPr/>
        </p:nvGrpSpPr>
        <p:grpSpPr bwMode="auto">
          <a:xfrm>
            <a:off x="0" y="0"/>
            <a:ext cx="592138" cy="111125"/>
            <a:chOff x="0" y="0"/>
            <a:chExt cx="5924" cy="1111"/>
          </a:xfrm>
        </p:grpSpPr>
      </p:grpSp>
      <p:grpSp>
        <p:nvGrpSpPr>
          <p:cNvPr id="6232" name="Group 398">
            <a:extLst>
              <a:ext uri="{FF2B5EF4-FFF2-40B4-BE49-F238E27FC236}">
                <a16:creationId xmlns:a16="http://schemas.microsoft.com/office/drawing/2014/main" id="{8067F2AE-D5D5-34A4-5DC5-71025F52F1C7}"/>
              </a:ext>
            </a:extLst>
          </p:cNvPr>
          <p:cNvGrpSpPr>
            <a:grpSpLocks/>
          </p:cNvGrpSpPr>
          <p:nvPr/>
        </p:nvGrpSpPr>
        <p:grpSpPr bwMode="auto">
          <a:xfrm>
            <a:off x="0" y="0"/>
            <a:ext cx="371475" cy="85725"/>
            <a:chOff x="0" y="0"/>
            <a:chExt cx="372110" cy="85725"/>
          </a:xfrm>
        </p:grpSpPr>
      </p:grpSp>
      <p:grpSp>
        <p:nvGrpSpPr>
          <p:cNvPr id="6234" name="Group 400">
            <a:extLst>
              <a:ext uri="{FF2B5EF4-FFF2-40B4-BE49-F238E27FC236}">
                <a16:creationId xmlns:a16="http://schemas.microsoft.com/office/drawing/2014/main" id="{1F6E01BC-1BB9-0ACD-4422-8C23A4C14790}"/>
              </a:ext>
            </a:extLst>
          </p:cNvPr>
          <p:cNvGrpSpPr>
            <a:grpSpLocks/>
          </p:cNvGrpSpPr>
          <p:nvPr/>
        </p:nvGrpSpPr>
        <p:grpSpPr bwMode="auto">
          <a:xfrm>
            <a:off x="0" y="0"/>
            <a:ext cx="368300" cy="85725"/>
            <a:chOff x="0" y="0"/>
            <a:chExt cx="368935" cy="86360"/>
          </a:xfrm>
        </p:grpSpPr>
      </p:grpSp>
      <p:grpSp>
        <p:nvGrpSpPr>
          <p:cNvPr id="6236" name="Group 402">
            <a:extLst>
              <a:ext uri="{FF2B5EF4-FFF2-40B4-BE49-F238E27FC236}">
                <a16:creationId xmlns:a16="http://schemas.microsoft.com/office/drawing/2014/main" id="{7146D22D-1093-BEAC-8FA7-1301F0A43B1D}"/>
              </a:ext>
            </a:extLst>
          </p:cNvPr>
          <p:cNvGrpSpPr>
            <a:grpSpLocks/>
          </p:cNvGrpSpPr>
          <p:nvPr/>
        </p:nvGrpSpPr>
        <p:grpSpPr bwMode="auto">
          <a:xfrm>
            <a:off x="0" y="0"/>
            <a:ext cx="371475" cy="85725"/>
            <a:chOff x="0" y="0"/>
            <a:chExt cx="372110" cy="85725"/>
          </a:xfrm>
        </p:grpSpPr>
      </p:grpSp>
      <p:grpSp>
        <p:nvGrpSpPr>
          <p:cNvPr id="6238" name="Group 404">
            <a:extLst>
              <a:ext uri="{FF2B5EF4-FFF2-40B4-BE49-F238E27FC236}">
                <a16:creationId xmlns:a16="http://schemas.microsoft.com/office/drawing/2014/main" id="{746CF077-48AD-3016-355C-48C7553D0BD3}"/>
              </a:ext>
            </a:extLst>
          </p:cNvPr>
          <p:cNvGrpSpPr>
            <a:grpSpLocks/>
          </p:cNvGrpSpPr>
          <p:nvPr/>
        </p:nvGrpSpPr>
        <p:grpSpPr bwMode="auto">
          <a:xfrm>
            <a:off x="0" y="0"/>
            <a:ext cx="371475" cy="85725"/>
            <a:chOff x="0" y="0"/>
            <a:chExt cx="370840" cy="86360"/>
          </a:xfrm>
        </p:grpSpPr>
      </p:grpSp>
      <p:grpSp>
        <p:nvGrpSpPr>
          <p:cNvPr id="6240" name="Group 406">
            <a:extLst>
              <a:ext uri="{FF2B5EF4-FFF2-40B4-BE49-F238E27FC236}">
                <a16:creationId xmlns:a16="http://schemas.microsoft.com/office/drawing/2014/main" id="{FE5C2C37-7AC4-0F1C-BD83-3511507F749F}"/>
              </a:ext>
            </a:extLst>
          </p:cNvPr>
          <p:cNvGrpSpPr>
            <a:grpSpLocks/>
          </p:cNvGrpSpPr>
          <p:nvPr/>
        </p:nvGrpSpPr>
        <p:grpSpPr bwMode="auto">
          <a:xfrm>
            <a:off x="0" y="0"/>
            <a:ext cx="371475" cy="87313"/>
            <a:chOff x="0" y="0"/>
            <a:chExt cx="370840" cy="86995"/>
          </a:xfrm>
        </p:grpSpPr>
      </p:grpSp>
      <p:grpSp>
        <p:nvGrpSpPr>
          <p:cNvPr id="6242" name="Group 409">
            <a:extLst>
              <a:ext uri="{FF2B5EF4-FFF2-40B4-BE49-F238E27FC236}">
                <a16:creationId xmlns:a16="http://schemas.microsoft.com/office/drawing/2014/main" id="{031B3AC7-94B4-FAB0-F54B-25FD052A36A4}"/>
              </a:ext>
            </a:extLst>
          </p:cNvPr>
          <p:cNvGrpSpPr>
            <a:grpSpLocks/>
          </p:cNvGrpSpPr>
          <p:nvPr/>
        </p:nvGrpSpPr>
        <p:grpSpPr bwMode="auto">
          <a:xfrm>
            <a:off x="0" y="0"/>
            <a:ext cx="369888" cy="87313"/>
            <a:chOff x="0" y="0"/>
            <a:chExt cx="369570" cy="87630"/>
          </a:xfrm>
        </p:grpSpPr>
      </p:grpSp>
      <p:grpSp>
        <p:nvGrpSpPr>
          <p:cNvPr id="6244" name="Group 411">
            <a:extLst>
              <a:ext uri="{FF2B5EF4-FFF2-40B4-BE49-F238E27FC236}">
                <a16:creationId xmlns:a16="http://schemas.microsoft.com/office/drawing/2014/main" id="{26529304-F9AD-1C6C-5101-9F92113F0DA0}"/>
              </a:ext>
            </a:extLst>
          </p:cNvPr>
          <p:cNvGrpSpPr>
            <a:grpSpLocks/>
          </p:cNvGrpSpPr>
          <p:nvPr/>
        </p:nvGrpSpPr>
        <p:grpSpPr bwMode="auto">
          <a:xfrm>
            <a:off x="0" y="0"/>
            <a:ext cx="371475" cy="85725"/>
            <a:chOff x="0" y="0"/>
            <a:chExt cx="370840" cy="86360"/>
          </a:xfrm>
        </p:grpSpPr>
      </p:grpSp>
      <p:grpSp>
        <p:nvGrpSpPr>
          <p:cNvPr id="6246" name="Group 413">
            <a:extLst>
              <a:ext uri="{FF2B5EF4-FFF2-40B4-BE49-F238E27FC236}">
                <a16:creationId xmlns:a16="http://schemas.microsoft.com/office/drawing/2014/main" id="{F4BB0C0A-6BB0-E091-2543-142B7CA8A1DF}"/>
              </a:ext>
            </a:extLst>
          </p:cNvPr>
          <p:cNvGrpSpPr>
            <a:grpSpLocks/>
          </p:cNvGrpSpPr>
          <p:nvPr/>
        </p:nvGrpSpPr>
        <p:grpSpPr bwMode="auto">
          <a:xfrm>
            <a:off x="0" y="0"/>
            <a:ext cx="369888" cy="87313"/>
            <a:chOff x="0" y="0"/>
            <a:chExt cx="369570" cy="87630"/>
          </a:xfrm>
        </p:grpSpPr>
      </p:grpSp>
      <p:grpSp>
        <p:nvGrpSpPr>
          <p:cNvPr id="6248" name="Group 415">
            <a:extLst>
              <a:ext uri="{FF2B5EF4-FFF2-40B4-BE49-F238E27FC236}">
                <a16:creationId xmlns:a16="http://schemas.microsoft.com/office/drawing/2014/main" id="{2751F4C3-5E30-1400-8C0D-EDFF520BD0E3}"/>
              </a:ext>
            </a:extLst>
          </p:cNvPr>
          <p:cNvGrpSpPr>
            <a:grpSpLocks/>
          </p:cNvGrpSpPr>
          <p:nvPr/>
        </p:nvGrpSpPr>
        <p:grpSpPr bwMode="auto">
          <a:xfrm>
            <a:off x="0" y="0"/>
            <a:ext cx="371475" cy="85725"/>
            <a:chOff x="0" y="0"/>
            <a:chExt cx="370840" cy="85725"/>
          </a:xfrm>
        </p:grpSpPr>
      </p:grpSp>
      <p:grpSp>
        <p:nvGrpSpPr>
          <p:cNvPr id="6250" name="Group 417">
            <a:extLst>
              <a:ext uri="{FF2B5EF4-FFF2-40B4-BE49-F238E27FC236}">
                <a16:creationId xmlns:a16="http://schemas.microsoft.com/office/drawing/2014/main" id="{D7E19AC6-5187-3EF6-B3D0-56275EFB6982}"/>
              </a:ext>
            </a:extLst>
          </p:cNvPr>
          <p:cNvGrpSpPr>
            <a:grpSpLocks/>
          </p:cNvGrpSpPr>
          <p:nvPr/>
        </p:nvGrpSpPr>
        <p:grpSpPr bwMode="auto">
          <a:xfrm>
            <a:off x="0" y="0"/>
            <a:ext cx="530225" cy="87313"/>
            <a:chOff x="0" y="0"/>
            <a:chExt cx="5295" cy="869"/>
          </a:xfrm>
        </p:grpSpPr>
      </p:grpSp>
      <p:grpSp>
        <p:nvGrpSpPr>
          <p:cNvPr id="6252" name="Group 420">
            <a:extLst>
              <a:ext uri="{FF2B5EF4-FFF2-40B4-BE49-F238E27FC236}">
                <a16:creationId xmlns:a16="http://schemas.microsoft.com/office/drawing/2014/main" id="{95FAD817-AB6F-EA7E-7222-61863F17EE0C}"/>
              </a:ext>
            </a:extLst>
          </p:cNvPr>
          <p:cNvGrpSpPr>
            <a:grpSpLocks/>
          </p:cNvGrpSpPr>
          <p:nvPr/>
        </p:nvGrpSpPr>
        <p:grpSpPr bwMode="auto">
          <a:xfrm>
            <a:off x="0" y="0"/>
            <a:ext cx="592138" cy="111125"/>
            <a:chOff x="0" y="0"/>
            <a:chExt cx="5924" cy="1111"/>
          </a:xfrm>
        </p:grpSpPr>
      </p:grpSp>
      <p:grpSp>
        <p:nvGrpSpPr>
          <p:cNvPr id="6254" name="Group 422">
            <a:extLst>
              <a:ext uri="{FF2B5EF4-FFF2-40B4-BE49-F238E27FC236}">
                <a16:creationId xmlns:a16="http://schemas.microsoft.com/office/drawing/2014/main" id="{FC253DCE-CA93-D3ED-FD57-954C9BC64DC4}"/>
              </a:ext>
            </a:extLst>
          </p:cNvPr>
          <p:cNvGrpSpPr>
            <a:grpSpLocks/>
          </p:cNvGrpSpPr>
          <p:nvPr/>
        </p:nvGrpSpPr>
        <p:grpSpPr bwMode="auto">
          <a:xfrm>
            <a:off x="0" y="0"/>
            <a:ext cx="368300" cy="87313"/>
            <a:chOff x="0" y="0"/>
            <a:chExt cx="368935" cy="86995"/>
          </a:xfrm>
        </p:grpSpPr>
      </p:grpSp>
      <p:grpSp>
        <p:nvGrpSpPr>
          <p:cNvPr id="6256" name="Group 424">
            <a:extLst>
              <a:ext uri="{FF2B5EF4-FFF2-40B4-BE49-F238E27FC236}">
                <a16:creationId xmlns:a16="http://schemas.microsoft.com/office/drawing/2014/main" id="{7DCB6EA4-F8EF-0995-077A-1546F32B3018}"/>
              </a:ext>
            </a:extLst>
          </p:cNvPr>
          <p:cNvGrpSpPr>
            <a:grpSpLocks/>
          </p:cNvGrpSpPr>
          <p:nvPr/>
        </p:nvGrpSpPr>
        <p:grpSpPr bwMode="auto">
          <a:xfrm>
            <a:off x="0" y="0"/>
            <a:ext cx="371475" cy="85725"/>
            <a:chOff x="0" y="0"/>
            <a:chExt cx="370840" cy="86360"/>
          </a:xfrm>
        </p:grpSpPr>
      </p:grpSp>
      <p:grpSp>
        <p:nvGrpSpPr>
          <p:cNvPr id="6258" name="Group 426">
            <a:extLst>
              <a:ext uri="{FF2B5EF4-FFF2-40B4-BE49-F238E27FC236}">
                <a16:creationId xmlns:a16="http://schemas.microsoft.com/office/drawing/2014/main" id="{BD98DFA7-B8E2-1FD2-AF8C-B1486F5F77B4}"/>
              </a:ext>
            </a:extLst>
          </p:cNvPr>
          <p:cNvGrpSpPr>
            <a:grpSpLocks/>
          </p:cNvGrpSpPr>
          <p:nvPr/>
        </p:nvGrpSpPr>
        <p:grpSpPr bwMode="auto">
          <a:xfrm>
            <a:off x="0" y="0"/>
            <a:ext cx="368300" cy="87313"/>
            <a:chOff x="0" y="0"/>
            <a:chExt cx="368935" cy="86995"/>
          </a:xfrm>
        </p:grpSpPr>
      </p:grpSp>
      <p:grpSp>
        <p:nvGrpSpPr>
          <p:cNvPr id="6260" name="Group 428">
            <a:extLst>
              <a:ext uri="{FF2B5EF4-FFF2-40B4-BE49-F238E27FC236}">
                <a16:creationId xmlns:a16="http://schemas.microsoft.com/office/drawing/2014/main" id="{A98FA7FA-C403-1789-9DE4-366445DECD31}"/>
              </a:ext>
            </a:extLst>
          </p:cNvPr>
          <p:cNvGrpSpPr>
            <a:grpSpLocks/>
          </p:cNvGrpSpPr>
          <p:nvPr/>
        </p:nvGrpSpPr>
        <p:grpSpPr bwMode="auto">
          <a:xfrm>
            <a:off x="0" y="0"/>
            <a:ext cx="371475" cy="87313"/>
            <a:chOff x="0" y="0"/>
            <a:chExt cx="370840" cy="86995"/>
          </a:xfrm>
        </p:grpSpPr>
      </p:grpSp>
      <p:grpSp>
        <p:nvGrpSpPr>
          <p:cNvPr id="6262" name="Group 430">
            <a:extLst>
              <a:ext uri="{FF2B5EF4-FFF2-40B4-BE49-F238E27FC236}">
                <a16:creationId xmlns:a16="http://schemas.microsoft.com/office/drawing/2014/main" id="{75EF6037-A03C-476B-90CA-5EABFBC203EE}"/>
              </a:ext>
            </a:extLst>
          </p:cNvPr>
          <p:cNvGrpSpPr>
            <a:grpSpLocks/>
          </p:cNvGrpSpPr>
          <p:nvPr/>
        </p:nvGrpSpPr>
        <p:grpSpPr bwMode="auto">
          <a:xfrm>
            <a:off x="0" y="0"/>
            <a:ext cx="366713" cy="85725"/>
            <a:chOff x="0" y="0"/>
            <a:chExt cx="366395" cy="85725"/>
          </a:xfrm>
        </p:grpSpPr>
      </p:grpSp>
      <p:grpSp>
        <p:nvGrpSpPr>
          <p:cNvPr id="6264" name="Group 433">
            <a:extLst>
              <a:ext uri="{FF2B5EF4-FFF2-40B4-BE49-F238E27FC236}">
                <a16:creationId xmlns:a16="http://schemas.microsoft.com/office/drawing/2014/main" id="{CDCA005D-60E8-F07F-2127-8420C8C4954E}"/>
              </a:ext>
            </a:extLst>
          </p:cNvPr>
          <p:cNvGrpSpPr>
            <a:grpSpLocks/>
          </p:cNvGrpSpPr>
          <p:nvPr/>
        </p:nvGrpSpPr>
        <p:grpSpPr bwMode="auto">
          <a:xfrm>
            <a:off x="0" y="0"/>
            <a:ext cx="369888" cy="87313"/>
            <a:chOff x="0" y="0"/>
            <a:chExt cx="369570" cy="87630"/>
          </a:xfrm>
        </p:grpSpPr>
      </p:grpSp>
      <p:grpSp>
        <p:nvGrpSpPr>
          <p:cNvPr id="6266" name="Group 435">
            <a:extLst>
              <a:ext uri="{FF2B5EF4-FFF2-40B4-BE49-F238E27FC236}">
                <a16:creationId xmlns:a16="http://schemas.microsoft.com/office/drawing/2014/main" id="{5B72AAF9-98AC-847A-AB79-DDB8342F80F7}"/>
              </a:ext>
            </a:extLst>
          </p:cNvPr>
          <p:cNvGrpSpPr>
            <a:grpSpLocks/>
          </p:cNvGrpSpPr>
          <p:nvPr/>
        </p:nvGrpSpPr>
        <p:grpSpPr bwMode="auto">
          <a:xfrm>
            <a:off x="0" y="0"/>
            <a:ext cx="366713" cy="87313"/>
            <a:chOff x="0" y="0"/>
            <a:chExt cx="366395" cy="87630"/>
          </a:xfrm>
        </p:grpSpPr>
      </p:grpSp>
      <p:grpSp>
        <p:nvGrpSpPr>
          <p:cNvPr id="6268" name="Group 437">
            <a:extLst>
              <a:ext uri="{FF2B5EF4-FFF2-40B4-BE49-F238E27FC236}">
                <a16:creationId xmlns:a16="http://schemas.microsoft.com/office/drawing/2014/main" id="{8C5CABCD-3B6F-68B2-07B2-2CA677967EAA}"/>
              </a:ext>
            </a:extLst>
          </p:cNvPr>
          <p:cNvGrpSpPr>
            <a:grpSpLocks/>
          </p:cNvGrpSpPr>
          <p:nvPr/>
        </p:nvGrpSpPr>
        <p:grpSpPr bwMode="auto">
          <a:xfrm>
            <a:off x="0" y="0"/>
            <a:ext cx="369888" cy="87313"/>
            <a:chOff x="0" y="0"/>
            <a:chExt cx="369570" cy="87630"/>
          </a:xfrm>
        </p:grpSpPr>
      </p:grpSp>
      <p:grpSp>
        <p:nvGrpSpPr>
          <p:cNvPr id="6270" name="Group 439">
            <a:extLst>
              <a:ext uri="{FF2B5EF4-FFF2-40B4-BE49-F238E27FC236}">
                <a16:creationId xmlns:a16="http://schemas.microsoft.com/office/drawing/2014/main" id="{EE4A9CC0-8DEB-411A-33B6-1550D4AC1CAF}"/>
              </a:ext>
            </a:extLst>
          </p:cNvPr>
          <p:cNvGrpSpPr>
            <a:grpSpLocks/>
          </p:cNvGrpSpPr>
          <p:nvPr/>
        </p:nvGrpSpPr>
        <p:grpSpPr bwMode="auto">
          <a:xfrm>
            <a:off x="0" y="0"/>
            <a:ext cx="366713" cy="87313"/>
            <a:chOff x="0" y="0"/>
            <a:chExt cx="366395" cy="87630"/>
          </a:xfrm>
        </p:grpSpPr>
      </p:grpSp>
      <p:grpSp>
        <p:nvGrpSpPr>
          <p:cNvPr id="6272" name="Group 444">
            <a:extLst>
              <a:ext uri="{FF2B5EF4-FFF2-40B4-BE49-F238E27FC236}">
                <a16:creationId xmlns:a16="http://schemas.microsoft.com/office/drawing/2014/main" id="{5E40984D-D6CC-9D20-5218-407FD67D8C8F}"/>
              </a:ext>
            </a:extLst>
          </p:cNvPr>
          <p:cNvGrpSpPr>
            <a:grpSpLocks/>
          </p:cNvGrpSpPr>
          <p:nvPr/>
        </p:nvGrpSpPr>
        <p:grpSpPr bwMode="auto">
          <a:xfrm>
            <a:off x="0" y="0"/>
            <a:ext cx="371475" cy="85725"/>
            <a:chOff x="0" y="0"/>
            <a:chExt cx="372110" cy="86360"/>
          </a:xfrm>
        </p:grpSpPr>
      </p:grpSp>
      <p:grpSp>
        <p:nvGrpSpPr>
          <p:cNvPr id="6274" name="Group 446">
            <a:extLst>
              <a:ext uri="{FF2B5EF4-FFF2-40B4-BE49-F238E27FC236}">
                <a16:creationId xmlns:a16="http://schemas.microsoft.com/office/drawing/2014/main" id="{85F1BFE1-8F86-FCA4-A1C5-993C5083F8CF}"/>
              </a:ext>
            </a:extLst>
          </p:cNvPr>
          <p:cNvGrpSpPr>
            <a:grpSpLocks/>
          </p:cNvGrpSpPr>
          <p:nvPr/>
        </p:nvGrpSpPr>
        <p:grpSpPr bwMode="auto">
          <a:xfrm>
            <a:off x="0" y="0"/>
            <a:ext cx="369888" cy="87313"/>
            <a:chOff x="0" y="0"/>
            <a:chExt cx="369570" cy="86995"/>
          </a:xfrm>
        </p:grpSpPr>
      </p:grpSp>
      <p:grpSp>
        <p:nvGrpSpPr>
          <p:cNvPr id="6276" name="Group 448">
            <a:extLst>
              <a:ext uri="{FF2B5EF4-FFF2-40B4-BE49-F238E27FC236}">
                <a16:creationId xmlns:a16="http://schemas.microsoft.com/office/drawing/2014/main" id="{964E07E8-9AB8-8C2D-4BF9-FA1A9C83A06B}"/>
              </a:ext>
            </a:extLst>
          </p:cNvPr>
          <p:cNvGrpSpPr>
            <a:grpSpLocks/>
          </p:cNvGrpSpPr>
          <p:nvPr/>
        </p:nvGrpSpPr>
        <p:grpSpPr bwMode="auto">
          <a:xfrm>
            <a:off x="0" y="0"/>
            <a:ext cx="371475" cy="85725"/>
            <a:chOff x="0" y="0"/>
            <a:chExt cx="372110" cy="86360"/>
          </a:xfrm>
        </p:grpSpPr>
      </p:grpSp>
      <p:grpSp>
        <p:nvGrpSpPr>
          <p:cNvPr id="6278" name="Group 450">
            <a:extLst>
              <a:ext uri="{FF2B5EF4-FFF2-40B4-BE49-F238E27FC236}">
                <a16:creationId xmlns:a16="http://schemas.microsoft.com/office/drawing/2014/main" id="{7D223ED6-1E5B-93D6-4316-AA354DCD0F84}"/>
              </a:ext>
            </a:extLst>
          </p:cNvPr>
          <p:cNvGrpSpPr>
            <a:grpSpLocks/>
          </p:cNvGrpSpPr>
          <p:nvPr/>
        </p:nvGrpSpPr>
        <p:grpSpPr bwMode="auto">
          <a:xfrm>
            <a:off x="0" y="0"/>
            <a:ext cx="369888" cy="87313"/>
            <a:chOff x="0" y="0"/>
            <a:chExt cx="369570" cy="86995"/>
          </a:xfrm>
        </p:grpSpPr>
      </p:grpSp>
      <p:grpSp>
        <p:nvGrpSpPr>
          <p:cNvPr id="6280" name="Group 452">
            <a:extLst>
              <a:ext uri="{FF2B5EF4-FFF2-40B4-BE49-F238E27FC236}">
                <a16:creationId xmlns:a16="http://schemas.microsoft.com/office/drawing/2014/main" id="{1EB3252D-FF0C-1AC4-07FC-6A2C443E0A7F}"/>
              </a:ext>
            </a:extLst>
          </p:cNvPr>
          <p:cNvGrpSpPr>
            <a:grpSpLocks/>
          </p:cNvGrpSpPr>
          <p:nvPr/>
        </p:nvGrpSpPr>
        <p:grpSpPr bwMode="auto">
          <a:xfrm>
            <a:off x="0" y="0"/>
            <a:ext cx="369888" cy="87313"/>
            <a:chOff x="0" y="0"/>
            <a:chExt cx="369570" cy="86995"/>
          </a:xfrm>
        </p:grpSpPr>
      </p:grpSp>
      <p:grpSp>
        <p:nvGrpSpPr>
          <p:cNvPr id="6282" name="Group 454">
            <a:extLst>
              <a:ext uri="{FF2B5EF4-FFF2-40B4-BE49-F238E27FC236}">
                <a16:creationId xmlns:a16="http://schemas.microsoft.com/office/drawing/2014/main" id="{C334A8D9-59BB-740A-E4C7-60325D744564}"/>
              </a:ext>
            </a:extLst>
          </p:cNvPr>
          <p:cNvGrpSpPr>
            <a:grpSpLocks/>
          </p:cNvGrpSpPr>
          <p:nvPr/>
        </p:nvGrpSpPr>
        <p:grpSpPr bwMode="auto">
          <a:xfrm>
            <a:off x="0" y="0"/>
            <a:ext cx="527050" cy="87313"/>
            <a:chOff x="0" y="0"/>
            <a:chExt cx="5264" cy="869"/>
          </a:xfrm>
        </p:grpSpPr>
      </p:grpSp>
      <p:grpSp>
        <p:nvGrpSpPr>
          <p:cNvPr id="6284" name="Group 457">
            <a:extLst>
              <a:ext uri="{FF2B5EF4-FFF2-40B4-BE49-F238E27FC236}">
                <a16:creationId xmlns:a16="http://schemas.microsoft.com/office/drawing/2014/main" id="{91DBADDD-AB87-9ECA-046F-7EAB96EC8FF0}"/>
              </a:ext>
            </a:extLst>
          </p:cNvPr>
          <p:cNvGrpSpPr>
            <a:grpSpLocks/>
          </p:cNvGrpSpPr>
          <p:nvPr/>
        </p:nvGrpSpPr>
        <p:grpSpPr bwMode="auto">
          <a:xfrm>
            <a:off x="0" y="0"/>
            <a:ext cx="371475" cy="87313"/>
            <a:chOff x="0" y="0"/>
            <a:chExt cx="372110" cy="86995"/>
          </a:xfrm>
        </p:grpSpPr>
      </p:grpSp>
      <p:grpSp>
        <p:nvGrpSpPr>
          <p:cNvPr id="6286" name="Group 459">
            <a:extLst>
              <a:ext uri="{FF2B5EF4-FFF2-40B4-BE49-F238E27FC236}">
                <a16:creationId xmlns:a16="http://schemas.microsoft.com/office/drawing/2014/main" id="{45AA92AC-F021-C640-02D5-5519FB51811D}"/>
              </a:ext>
            </a:extLst>
          </p:cNvPr>
          <p:cNvGrpSpPr>
            <a:grpSpLocks/>
          </p:cNvGrpSpPr>
          <p:nvPr/>
        </p:nvGrpSpPr>
        <p:grpSpPr bwMode="auto">
          <a:xfrm>
            <a:off x="0" y="0"/>
            <a:ext cx="371475" cy="87313"/>
            <a:chOff x="0" y="0"/>
            <a:chExt cx="372110" cy="86995"/>
          </a:xfrm>
        </p:grpSpPr>
      </p:grpSp>
      <p:grpSp>
        <p:nvGrpSpPr>
          <p:cNvPr id="6288" name="Group 461">
            <a:extLst>
              <a:ext uri="{FF2B5EF4-FFF2-40B4-BE49-F238E27FC236}">
                <a16:creationId xmlns:a16="http://schemas.microsoft.com/office/drawing/2014/main" id="{8D42C065-8C08-C2C1-689E-696A3B09441F}"/>
              </a:ext>
            </a:extLst>
          </p:cNvPr>
          <p:cNvGrpSpPr>
            <a:grpSpLocks/>
          </p:cNvGrpSpPr>
          <p:nvPr/>
        </p:nvGrpSpPr>
        <p:grpSpPr bwMode="auto">
          <a:xfrm>
            <a:off x="0" y="0"/>
            <a:ext cx="371475" cy="87313"/>
            <a:chOff x="0" y="0"/>
            <a:chExt cx="372110" cy="86995"/>
          </a:xfrm>
        </p:grpSpPr>
      </p:grpSp>
      <p:grpSp>
        <p:nvGrpSpPr>
          <p:cNvPr id="6290" name="Group 463">
            <a:extLst>
              <a:ext uri="{FF2B5EF4-FFF2-40B4-BE49-F238E27FC236}">
                <a16:creationId xmlns:a16="http://schemas.microsoft.com/office/drawing/2014/main" id="{4921EDE4-07EE-E7E4-10AB-09CE666D283E}"/>
              </a:ext>
            </a:extLst>
          </p:cNvPr>
          <p:cNvGrpSpPr>
            <a:grpSpLocks/>
          </p:cNvGrpSpPr>
          <p:nvPr/>
        </p:nvGrpSpPr>
        <p:grpSpPr bwMode="auto">
          <a:xfrm>
            <a:off x="0" y="0"/>
            <a:ext cx="369888" cy="87313"/>
            <a:chOff x="0" y="0"/>
            <a:chExt cx="369570" cy="86995"/>
          </a:xfrm>
        </p:grpSpPr>
      </p:grpSp>
      <p:grpSp>
        <p:nvGrpSpPr>
          <p:cNvPr id="6292" name="Group 465">
            <a:extLst>
              <a:ext uri="{FF2B5EF4-FFF2-40B4-BE49-F238E27FC236}">
                <a16:creationId xmlns:a16="http://schemas.microsoft.com/office/drawing/2014/main" id="{F15BC218-CBF8-E34A-D7E4-D7563C30FC89}"/>
              </a:ext>
            </a:extLst>
          </p:cNvPr>
          <p:cNvGrpSpPr>
            <a:grpSpLocks/>
          </p:cNvGrpSpPr>
          <p:nvPr/>
        </p:nvGrpSpPr>
        <p:grpSpPr bwMode="auto">
          <a:xfrm>
            <a:off x="0" y="0"/>
            <a:ext cx="368300" cy="85725"/>
            <a:chOff x="0" y="0"/>
            <a:chExt cx="368935" cy="86360"/>
          </a:xfrm>
        </p:grpSpPr>
      </p:grpSp>
      <p:grpSp>
        <p:nvGrpSpPr>
          <p:cNvPr id="6294" name="Group 468">
            <a:extLst>
              <a:ext uri="{FF2B5EF4-FFF2-40B4-BE49-F238E27FC236}">
                <a16:creationId xmlns:a16="http://schemas.microsoft.com/office/drawing/2014/main" id="{5B0094A3-3789-934F-BE95-BBFCE78EB2AB}"/>
              </a:ext>
            </a:extLst>
          </p:cNvPr>
          <p:cNvGrpSpPr>
            <a:grpSpLocks/>
          </p:cNvGrpSpPr>
          <p:nvPr/>
        </p:nvGrpSpPr>
        <p:grpSpPr bwMode="auto">
          <a:xfrm>
            <a:off x="0" y="0"/>
            <a:ext cx="369888" cy="87313"/>
            <a:chOff x="0" y="0"/>
            <a:chExt cx="369570" cy="86995"/>
          </a:xfrm>
        </p:grpSpPr>
      </p:grpSp>
      <p:grpSp>
        <p:nvGrpSpPr>
          <p:cNvPr id="6296" name="Group 470">
            <a:extLst>
              <a:ext uri="{FF2B5EF4-FFF2-40B4-BE49-F238E27FC236}">
                <a16:creationId xmlns:a16="http://schemas.microsoft.com/office/drawing/2014/main" id="{3812057B-9BAA-7529-2D46-76C6B99374F9}"/>
              </a:ext>
            </a:extLst>
          </p:cNvPr>
          <p:cNvGrpSpPr>
            <a:grpSpLocks/>
          </p:cNvGrpSpPr>
          <p:nvPr/>
        </p:nvGrpSpPr>
        <p:grpSpPr bwMode="auto">
          <a:xfrm>
            <a:off x="0" y="0"/>
            <a:ext cx="371475" cy="85725"/>
            <a:chOff x="0" y="0"/>
            <a:chExt cx="370840" cy="85725"/>
          </a:xfrm>
        </p:grpSpPr>
      </p:grpSp>
      <p:grpSp>
        <p:nvGrpSpPr>
          <p:cNvPr id="6298" name="Group 472">
            <a:extLst>
              <a:ext uri="{FF2B5EF4-FFF2-40B4-BE49-F238E27FC236}">
                <a16:creationId xmlns:a16="http://schemas.microsoft.com/office/drawing/2014/main" id="{7D5D2747-1043-F07F-B222-B4ACCDAB024F}"/>
              </a:ext>
            </a:extLst>
          </p:cNvPr>
          <p:cNvGrpSpPr>
            <a:grpSpLocks/>
          </p:cNvGrpSpPr>
          <p:nvPr/>
        </p:nvGrpSpPr>
        <p:grpSpPr bwMode="auto">
          <a:xfrm>
            <a:off x="0" y="0"/>
            <a:ext cx="369888" cy="87313"/>
            <a:chOff x="0" y="0"/>
            <a:chExt cx="369570" cy="86995"/>
          </a:xfrm>
        </p:grpSpPr>
      </p:grpSp>
      <p:grpSp>
        <p:nvGrpSpPr>
          <p:cNvPr id="6300" name="Group 474">
            <a:extLst>
              <a:ext uri="{FF2B5EF4-FFF2-40B4-BE49-F238E27FC236}">
                <a16:creationId xmlns:a16="http://schemas.microsoft.com/office/drawing/2014/main" id="{601F5D64-E04A-C4CF-B8AC-789427900CA3}"/>
              </a:ext>
            </a:extLst>
          </p:cNvPr>
          <p:cNvGrpSpPr>
            <a:grpSpLocks/>
          </p:cNvGrpSpPr>
          <p:nvPr/>
        </p:nvGrpSpPr>
        <p:grpSpPr bwMode="auto">
          <a:xfrm>
            <a:off x="0" y="0"/>
            <a:ext cx="369888" cy="87313"/>
            <a:chOff x="0" y="0"/>
            <a:chExt cx="369570" cy="86995"/>
          </a:xfrm>
        </p:grpSpPr>
      </p:grpSp>
      <p:grpSp>
        <p:nvGrpSpPr>
          <p:cNvPr id="6302" name="Group 476">
            <a:extLst>
              <a:ext uri="{FF2B5EF4-FFF2-40B4-BE49-F238E27FC236}">
                <a16:creationId xmlns:a16="http://schemas.microsoft.com/office/drawing/2014/main" id="{442FB4A3-25EC-86FD-377F-1EDBF1A1D8D9}"/>
              </a:ext>
            </a:extLst>
          </p:cNvPr>
          <p:cNvGrpSpPr>
            <a:grpSpLocks/>
          </p:cNvGrpSpPr>
          <p:nvPr/>
        </p:nvGrpSpPr>
        <p:grpSpPr bwMode="auto">
          <a:xfrm>
            <a:off x="0" y="0"/>
            <a:ext cx="530225" cy="87313"/>
            <a:chOff x="0" y="0"/>
            <a:chExt cx="5308" cy="869"/>
          </a:xfrm>
        </p:grpSpPr>
      </p:grpSp>
      <p:grpSp>
        <p:nvGrpSpPr>
          <p:cNvPr id="6304" name="Group 479">
            <a:extLst>
              <a:ext uri="{FF2B5EF4-FFF2-40B4-BE49-F238E27FC236}">
                <a16:creationId xmlns:a16="http://schemas.microsoft.com/office/drawing/2014/main" id="{7AB17569-2BEC-6119-EE2F-D3008DA4F1BF}"/>
              </a:ext>
            </a:extLst>
          </p:cNvPr>
          <p:cNvGrpSpPr>
            <a:grpSpLocks/>
          </p:cNvGrpSpPr>
          <p:nvPr/>
        </p:nvGrpSpPr>
        <p:grpSpPr bwMode="auto">
          <a:xfrm>
            <a:off x="0" y="0"/>
            <a:ext cx="592138" cy="111125"/>
            <a:chOff x="0" y="0"/>
            <a:chExt cx="5924" cy="1111"/>
          </a:xfrm>
        </p:grpSpPr>
      </p:grpSp>
      <p:grpSp>
        <p:nvGrpSpPr>
          <p:cNvPr id="6306" name="Group 481">
            <a:extLst>
              <a:ext uri="{FF2B5EF4-FFF2-40B4-BE49-F238E27FC236}">
                <a16:creationId xmlns:a16="http://schemas.microsoft.com/office/drawing/2014/main" id="{51CE117B-7C9D-308A-3607-99D294972126}"/>
              </a:ext>
            </a:extLst>
          </p:cNvPr>
          <p:cNvGrpSpPr>
            <a:grpSpLocks/>
          </p:cNvGrpSpPr>
          <p:nvPr/>
        </p:nvGrpSpPr>
        <p:grpSpPr bwMode="auto">
          <a:xfrm>
            <a:off x="0" y="0"/>
            <a:ext cx="369888" cy="87313"/>
            <a:chOff x="0" y="0"/>
            <a:chExt cx="369570" cy="86995"/>
          </a:xfrm>
        </p:grpSpPr>
      </p:grpSp>
      <p:grpSp>
        <p:nvGrpSpPr>
          <p:cNvPr id="6308" name="Group 483">
            <a:extLst>
              <a:ext uri="{FF2B5EF4-FFF2-40B4-BE49-F238E27FC236}">
                <a16:creationId xmlns:a16="http://schemas.microsoft.com/office/drawing/2014/main" id="{EB773BB3-17E0-EAC0-7133-17C6218F9A76}"/>
              </a:ext>
            </a:extLst>
          </p:cNvPr>
          <p:cNvGrpSpPr>
            <a:grpSpLocks/>
          </p:cNvGrpSpPr>
          <p:nvPr/>
        </p:nvGrpSpPr>
        <p:grpSpPr bwMode="auto">
          <a:xfrm>
            <a:off x="0" y="0"/>
            <a:ext cx="371475" cy="85725"/>
            <a:chOff x="0" y="0"/>
            <a:chExt cx="370840" cy="85725"/>
          </a:xfrm>
        </p:grpSpPr>
      </p:grpSp>
      <p:grpSp>
        <p:nvGrpSpPr>
          <p:cNvPr id="6310" name="Group 485">
            <a:extLst>
              <a:ext uri="{FF2B5EF4-FFF2-40B4-BE49-F238E27FC236}">
                <a16:creationId xmlns:a16="http://schemas.microsoft.com/office/drawing/2014/main" id="{B2C05B22-8523-B51B-19CB-1B037BF85AD4}"/>
              </a:ext>
            </a:extLst>
          </p:cNvPr>
          <p:cNvGrpSpPr>
            <a:grpSpLocks/>
          </p:cNvGrpSpPr>
          <p:nvPr/>
        </p:nvGrpSpPr>
        <p:grpSpPr bwMode="auto">
          <a:xfrm>
            <a:off x="0" y="0"/>
            <a:ext cx="369888" cy="87313"/>
            <a:chOff x="0" y="0"/>
            <a:chExt cx="369570" cy="86995"/>
          </a:xfrm>
        </p:grpSpPr>
      </p:grpSp>
      <p:grpSp>
        <p:nvGrpSpPr>
          <p:cNvPr id="6312" name="Group 487">
            <a:extLst>
              <a:ext uri="{FF2B5EF4-FFF2-40B4-BE49-F238E27FC236}">
                <a16:creationId xmlns:a16="http://schemas.microsoft.com/office/drawing/2014/main" id="{571251CE-9990-57DD-5FAF-E8BC69F9564E}"/>
              </a:ext>
            </a:extLst>
          </p:cNvPr>
          <p:cNvGrpSpPr>
            <a:grpSpLocks/>
          </p:cNvGrpSpPr>
          <p:nvPr/>
        </p:nvGrpSpPr>
        <p:grpSpPr bwMode="auto">
          <a:xfrm>
            <a:off x="0" y="0"/>
            <a:ext cx="368300" cy="87313"/>
            <a:chOff x="0" y="0"/>
            <a:chExt cx="368935" cy="86995"/>
          </a:xfrm>
        </p:grpSpPr>
      </p:grpSp>
      <p:grpSp>
        <p:nvGrpSpPr>
          <p:cNvPr id="6314" name="Group 489">
            <a:extLst>
              <a:ext uri="{FF2B5EF4-FFF2-40B4-BE49-F238E27FC236}">
                <a16:creationId xmlns:a16="http://schemas.microsoft.com/office/drawing/2014/main" id="{A465D8E1-1E8B-EFF7-C521-476DC0FDA7D2}"/>
              </a:ext>
            </a:extLst>
          </p:cNvPr>
          <p:cNvGrpSpPr>
            <a:grpSpLocks/>
          </p:cNvGrpSpPr>
          <p:nvPr/>
        </p:nvGrpSpPr>
        <p:grpSpPr bwMode="auto">
          <a:xfrm>
            <a:off x="0" y="0"/>
            <a:ext cx="371475" cy="87313"/>
            <a:chOff x="0" y="0"/>
            <a:chExt cx="370840" cy="86995"/>
          </a:xfrm>
        </p:grpSpPr>
      </p:grpSp>
      <p:grpSp>
        <p:nvGrpSpPr>
          <p:cNvPr id="6316" name="Group 492">
            <a:extLst>
              <a:ext uri="{FF2B5EF4-FFF2-40B4-BE49-F238E27FC236}">
                <a16:creationId xmlns:a16="http://schemas.microsoft.com/office/drawing/2014/main" id="{2DB4442B-1DEA-F136-1381-E0E7C625A84C}"/>
              </a:ext>
            </a:extLst>
          </p:cNvPr>
          <p:cNvGrpSpPr>
            <a:grpSpLocks/>
          </p:cNvGrpSpPr>
          <p:nvPr/>
        </p:nvGrpSpPr>
        <p:grpSpPr bwMode="auto">
          <a:xfrm>
            <a:off x="0" y="0"/>
            <a:ext cx="371475" cy="87313"/>
            <a:chOff x="0" y="0"/>
            <a:chExt cx="370840" cy="86995"/>
          </a:xfrm>
        </p:grpSpPr>
      </p:grpSp>
      <p:grpSp>
        <p:nvGrpSpPr>
          <p:cNvPr id="6318" name="Group 494">
            <a:extLst>
              <a:ext uri="{FF2B5EF4-FFF2-40B4-BE49-F238E27FC236}">
                <a16:creationId xmlns:a16="http://schemas.microsoft.com/office/drawing/2014/main" id="{DE6B2329-549E-A8FD-E3BE-CC351C284601}"/>
              </a:ext>
            </a:extLst>
          </p:cNvPr>
          <p:cNvGrpSpPr>
            <a:grpSpLocks/>
          </p:cNvGrpSpPr>
          <p:nvPr/>
        </p:nvGrpSpPr>
        <p:grpSpPr bwMode="auto">
          <a:xfrm>
            <a:off x="0" y="0"/>
            <a:ext cx="371475" cy="87313"/>
            <a:chOff x="0" y="0"/>
            <a:chExt cx="370840" cy="86995"/>
          </a:xfrm>
        </p:grpSpPr>
      </p:grpSp>
      <p:grpSp>
        <p:nvGrpSpPr>
          <p:cNvPr id="6320" name="Group 496">
            <a:extLst>
              <a:ext uri="{FF2B5EF4-FFF2-40B4-BE49-F238E27FC236}">
                <a16:creationId xmlns:a16="http://schemas.microsoft.com/office/drawing/2014/main" id="{E51368E2-75C8-C456-9FA2-2C1680244E55}"/>
              </a:ext>
            </a:extLst>
          </p:cNvPr>
          <p:cNvGrpSpPr>
            <a:grpSpLocks/>
          </p:cNvGrpSpPr>
          <p:nvPr/>
        </p:nvGrpSpPr>
        <p:grpSpPr bwMode="auto">
          <a:xfrm>
            <a:off x="0" y="0"/>
            <a:ext cx="371475" cy="87313"/>
            <a:chOff x="0" y="0"/>
            <a:chExt cx="370840" cy="86995"/>
          </a:xfrm>
        </p:grpSpPr>
      </p:grpSp>
      <p:grpSp>
        <p:nvGrpSpPr>
          <p:cNvPr id="6322" name="Group 498">
            <a:extLst>
              <a:ext uri="{FF2B5EF4-FFF2-40B4-BE49-F238E27FC236}">
                <a16:creationId xmlns:a16="http://schemas.microsoft.com/office/drawing/2014/main" id="{A370398C-D2B5-5288-3D02-C19F8CADB2C7}"/>
              </a:ext>
            </a:extLst>
          </p:cNvPr>
          <p:cNvGrpSpPr>
            <a:grpSpLocks/>
          </p:cNvGrpSpPr>
          <p:nvPr/>
        </p:nvGrpSpPr>
        <p:grpSpPr bwMode="auto">
          <a:xfrm>
            <a:off x="0" y="0"/>
            <a:ext cx="371475" cy="87313"/>
            <a:chOff x="0" y="0"/>
            <a:chExt cx="370840" cy="86995"/>
          </a:xfrm>
        </p:grpSpPr>
      </p:grpSp>
      <p:grpSp>
        <p:nvGrpSpPr>
          <p:cNvPr id="6324" name="Group 500">
            <a:extLst>
              <a:ext uri="{FF2B5EF4-FFF2-40B4-BE49-F238E27FC236}">
                <a16:creationId xmlns:a16="http://schemas.microsoft.com/office/drawing/2014/main" id="{4CE378B5-AAEB-94DC-4399-BB2430BDF124}"/>
              </a:ext>
            </a:extLst>
          </p:cNvPr>
          <p:cNvGrpSpPr>
            <a:grpSpLocks/>
          </p:cNvGrpSpPr>
          <p:nvPr/>
        </p:nvGrpSpPr>
        <p:grpSpPr bwMode="auto">
          <a:xfrm>
            <a:off x="0" y="0"/>
            <a:ext cx="530225" cy="87313"/>
            <a:chOff x="0" y="0"/>
            <a:chExt cx="5295" cy="869"/>
          </a:xfrm>
        </p:grpSpPr>
      </p:grpSp>
      <p:grpSp>
        <p:nvGrpSpPr>
          <p:cNvPr id="6326" name="Group 503">
            <a:extLst>
              <a:ext uri="{FF2B5EF4-FFF2-40B4-BE49-F238E27FC236}">
                <a16:creationId xmlns:a16="http://schemas.microsoft.com/office/drawing/2014/main" id="{8ECBFDBF-11D3-6BFD-9BA8-E683C47721D7}"/>
              </a:ext>
            </a:extLst>
          </p:cNvPr>
          <p:cNvGrpSpPr>
            <a:grpSpLocks/>
          </p:cNvGrpSpPr>
          <p:nvPr/>
        </p:nvGrpSpPr>
        <p:grpSpPr bwMode="auto">
          <a:xfrm>
            <a:off x="0" y="0"/>
            <a:ext cx="592138" cy="111125"/>
            <a:chOff x="0" y="0"/>
            <a:chExt cx="5924" cy="1111"/>
          </a:xfrm>
        </p:grpSpPr>
      </p:grpSp>
      <p:grpSp>
        <p:nvGrpSpPr>
          <p:cNvPr id="6328" name="Group 505">
            <a:extLst>
              <a:ext uri="{FF2B5EF4-FFF2-40B4-BE49-F238E27FC236}">
                <a16:creationId xmlns:a16="http://schemas.microsoft.com/office/drawing/2014/main" id="{C590A3D7-0230-2575-06CB-1E88D5A2D620}"/>
              </a:ext>
            </a:extLst>
          </p:cNvPr>
          <p:cNvGrpSpPr>
            <a:grpSpLocks/>
          </p:cNvGrpSpPr>
          <p:nvPr/>
        </p:nvGrpSpPr>
        <p:grpSpPr bwMode="auto">
          <a:xfrm>
            <a:off x="0" y="0"/>
            <a:ext cx="368300" cy="85725"/>
            <a:chOff x="0" y="0"/>
            <a:chExt cx="367665" cy="85725"/>
          </a:xfrm>
        </p:grpSpPr>
      </p:grpSp>
      <p:grpSp>
        <p:nvGrpSpPr>
          <p:cNvPr id="6330" name="Group 507">
            <a:extLst>
              <a:ext uri="{FF2B5EF4-FFF2-40B4-BE49-F238E27FC236}">
                <a16:creationId xmlns:a16="http://schemas.microsoft.com/office/drawing/2014/main" id="{FF135D6D-8A73-42B6-5A32-5B7790DE6674}"/>
              </a:ext>
            </a:extLst>
          </p:cNvPr>
          <p:cNvGrpSpPr>
            <a:grpSpLocks/>
          </p:cNvGrpSpPr>
          <p:nvPr/>
        </p:nvGrpSpPr>
        <p:grpSpPr bwMode="auto">
          <a:xfrm>
            <a:off x="0" y="0"/>
            <a:ext cx="368300" cy="85725"/>
            <a:chOff x="0" y="0"/>
            <a:chExt cx="368300" cy="85725"/>
          </a:xfrm>
        </p:grpSpPr>
      </p:grpSp>
      <p:grpSp>
        <p:nvGrpSpPr>
          <p:cNvPr id="6332" name="Group 509">
            <a:extLst>
              <a:ext uri="{FF2B5EF4-FFF2-40B4-BE49-F238E27FC236}">
                <a16:creationId xmlns:a16="http://schemas.microsoft.com/office/drawing/2014/main" id="{CF6E6CF9-A3E5-C1F0-9E45-3D518C8E7258}"/>
              </a:ext>
            </a:extLst>
          </p:cNvPr>
          <p:cNvGrpSpPr>
            <a:grpSpLocks/>
          </p:cNvGrpSpPr>
          <p:nvPr/>
        </p:nvGrpSpPr>
        <p:grpSpPr bwMode="auto">
          <a:xfrm>
            <a:off x="0" y="0"/>
            <a:ext cx="368300" cy="85725"/>
            <a:chOff x="0" y="0"/>
            <a:chExt cx="368300" cy="85725"/>
          </a:xfrm>
        </p:grpSpPr>
      </p:grpSp>
      <p:grpSp>
        <p:nvGrpSpPr>
          <p:cNvPr id="6334" name="Group 511">
            <a:extLst>
              <a:ext uri="{FF2B5EF4-FFF2-40B4-BE49-F238E27FC236}">
                <a16:creationId xmlns:a16="http://schemas.microsoft.com/office/drawing/2014/main" id="{F6335E83-3177-A798-35EF-AC6DF1C4A6B2}"/>
              </a:ext>
            </a:extLst>
          </p:cNvPr>
          <p:cNvGrpSpPr>
            <a:grpSpLocks/>
          </p:cNvGrpSpPr>
          <p:nvPr/>
        </p:nvGrpSpPr>
        <p:grpSpPr bwMode="auto">
          <a:xfrm>
            <a:off x="0" y="0"/>
            <a:ext cx="368300" cy="85725"/>
            <a:chOff x="0" y="0"/>
            <a:chExt cx="368300" cy="85725"/>
          </a:xfrm>
        </p:grpSpPr>
      </p:grpSp>
      <p:grpSp>
        <p:nvGrpSpPr>
          <p:cNvPr id="6336" name="Group 515">
            <a:extLst>
              <a:ext uri="{FF2B5EF4-FFF2-40B4-BE49-F238E27FC236}">
                <a16:creationId xmlns:a16="http://schemas.microsoft.com/office/drawing/2014/main" id="{6B191AEC-0801-6C55-4E6D-8F82EE45BA7F}"/>
              </a:ext>
            </a:extLst>
          </p:cNvPr>
          <p:cNvGrpSpPr>
            <a:grpSpLocks/>
          </p:cNvGrpSpPr>
          <p:nvPr/>
        </p:nvGrpSpPr>
        <p:grpSpPr bwMode="auto">
          <a:xfrm>
            <a:off x="0" y="0"/>
            <a:ext cx="368300" cy="87313"/>
            <a:chOff x="0" y="0"/>
            <a:chExt cx="368935" cy="86995"/>
          </a:xfrm>
        </p:grpSpPr>
      </p:grpSp>
      <p:grpSp>
        <p:nvGrpSpPr>
          <p:cNvPr id="6338" name="Group 517">
            <a:extLst>
              <a:ext uri="{FF2B5EF4-FFF2-40B4-BE49-F238E27FC236}">
                <a16:creationId xmlns:a16="http://schemas.microsoft.com/office/drawing/2014/main" id="{69571703-C3FF-0FB6-4B68-2077765AA3DC}"/>
              </a:ext>
            </a:extLst>
          </p:cNvPr>
          <p:cNvGrpSpPr>
            <a:grpSpLocks/>
          </p:cNvGrpSpPr>
          <p:nvPr/>
        </p:nvGrpSpPr>
        <p:grpSpPr bwMode="auto">
          <a:xfrm>
            <a:off x="0" y="0"/>
            <a:ext cx="368300" cy="87313"/>
            <a:chOff x="0" y="0"/>
            <a:chExt cx="368935" cy="86995"/>
          </a:xfrm>
        </p:grpSpPr>
      </p:grpSp>
      <p:grpSp>
        <p:nvGrpSpPr>
          <p:cNvPr id="6340" name="Group 519">
            <a:extLst>
              <a:ext uri="{FF2B5EF4-FFF2-40B4-BE49-F238E27FC236}">
                <a16:creationId xmlns:a16="http://schemas.microsoft.com/office/drawing/2014/main" id="{51C06633-057C-570D-15BA-07EE0D52F2E0}"/>
              </a:ext>
            </a:extLst>
          </p:cNvPr>
          <p:cNvGrpSpPr>
            <a:grpSpLocks/>
          </p:cNvGrpSpPr>
          <p:nvPr/>
        </p:nvGrpSpPr>
        <p:grpSpPr bwMode="auto">
          <a:xfrm>
            <a:off x="0" y="0"/>
            <a:ext cx="368300" cy="87313"/>
            <a:chOff x="0" y="0"/>
            <a:chExt cx="368935" cy="86995"/>
          </a:xfrm>
        </p:grpSpPr>
      </p:grpSp>
      <p:grpSp>
        <p:nvGrpSpPr>
          <p:cNvPr id="6342" name="Group 521">
            <a:extLst>
              <a:ext uri="{FF2B5EF4-FFF2-40B4-BE49-F238E27FC236}">
                <a16:creationId xmlns:a16="http://schemas.microsoft.com/office/drawing/2014/main" id="{32323283-306F-C890-7400-44962BA6F5A8}"/>
              </a:ext>
            </a:extLst>
          </p:cNvPr>
          <p:cNvGrpSpPr>
            <a:grpSpLocks/>
          </p:cNvGrpSpPr>
          <p:nvPr/>
        </p:nvGrpSpPr>
        <p:grpSpPr bwMode="auto">
          <a:xfrm>
            <a:off x="0" y="0"/>
            <a:ext cx="371475" cy="87313"/>
            <a:chOff x="0" y="0"/>
            <a:chExt cx="370840" cy="86995"/>
          </a:xfrm>
        </p:grpSpPr>
      </p:grpSp>
      <p:pic>
        <p:nvPicPr>
          <p:cNvPr id="3" name="Picture 2">
            <a:extLst>
              <a:ext uri="{FF2B5EF4-FFF2-40B4-BE49-F238E27FC236}">
                <a16:creationId xmlns:a16="http://schemas.microsoft.com/office/drawing/2014/main" id="{035A9CAC-7BAD-1580-4BC2-090549826D96}"/>
              </a:ext>
            </a:extLst>
          </p:cNvPr>
          <p:cNvPicPr>
            <a:picLocks noChangeAspect="1"/>
          </p:cNvPicPr>
          <p:nvPr/>
        </p:nvPicPr>
        <p:blipFill>
          <a:blip r:embed="rId18" cstate="print">
            <a:extLst>
              <a:ext uri="{28A0092B-C50C-407E-A947-70E740481C1C}">
                <a14:useLocalDpi xmlns:a14="http://schemas.microsoft.com/office/drawing/2010/main" val="0"/>
              </a:ext>
            </a:extLst>
          </a:blip>
          <a:srcRect/>
          <a:stretch/>
        </p:blipFill>
        <p:spPr>
          <a:xfrm>
            <a:off x="1371600" y="1333500"/>
            <a:ext cx="1553526" cy="734389"/>
          </a:xfrm>
          <a:prstGeom prst="rect">
            <a:avLst/>
          </a:prstGeom>
        </p:spPr>
      </p:pic>
      <p:sp>
        <p:nvSpPr>
          <p:cNvPr id="8" name="TextBox 7">
            <a:extLst>
              <a:ext uri="{FF2B5EF4-FFF2-40B4-BE49-F238E27FC236}">
                <a16:creationId xmlns:a16="http://schemas.microsoft.com/office/drawing/2014/main" id="{CB484F80-A978-6210-3257-9D6FC12DDAC4}"/>
              </a:ext>
            </a:extLst>
          </p:cNvPr>
          <p:cNvSpPr txBox="1"/>
          <p:nvPr/>
        </p:nvSpPr>
        <p:spPr>
          <a:xfrm>
            <a:off x="1149642" y="4000500"/>
            <a:ext cx="16284005" cy="1938992"/>
          </a:xfrm>
          <a:prstGeom prst="rect">
            <a:avLst/>
          </a:prstGeom>
          <a:noFill/>
        </p:spPr>
        <p:txBody>
          <a:bodyPr wrap="square" rtlCol="0">
            <a:spAutoFit/>
          </a:bodyPr>
          <a:lstStyle/>
          <a:p>
            <a:pPr algn="ctr"/>
            <a:r>
              <a:rPr lang="en-US" sz="8000" dirty="0">
                <a:latin typeface="Consolas" panose="020B0609020204030204" pitchFamily="49" charset="0"/>
              </a:rPr>
              <a:t>THANK YOU</a:t>
            </a:r>
          </a:p>
          <a:p>
            <a:pPr algn="ctr"/>
            <a:r>
              <a:rPr lang="en-US" sz="4000" dirty="0">
                <a:latin typeface="Consolas" panose="020B0609020204030204" pitchFamily="49" charset="0"/>
              </a:rPr>
              <a:t>ANY QUESTIONS? </a:t>
            </a:r>
            <a:endParaRPr lang="en-GB" sz="4000" dirty="0">
              <a:latin typeface="Consolas" panose="020B0609020204030204" pitchFamily="49" charset="0"/>
            </a:endParaRPr>
          </a:p>
        </p:txBody>
      </p:sp>
    </p:spTree>
    <p:extLst>
      <p:ext uri="{BB962C8B-B14F-4D97-AF65-F5344CB8AC3E}">
        <p14:creationId xmlns:p14="http://schemas.microsoft.com/office/powerpoint/2010/main" val="1175921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2895B2"/>
        </a:solidFill>
        <a:effectLst/>
      </p:bgPr>
    </p:bg>
    <p:spTree>
      <p:nvGrpSpPr>
        <p:cNvPr id="1" name=""/>
        <p:cNvGrpSpPr/>
        <p:nvPr/>
      </p:nvGrpSpPr>
      <p:grpSpPr>
        <a:xfrm>
          <a:off x="0" y="0"/>
          <a:ext cx="0" cy="0"/>
          <a:chOff x="0" y="0"/>
          <a:chExt cx="0" cy="0"/>
        </a:xfrm>
      </p:grpSpPr>
      <p:sp>
        <p:nvSpPr>
          <p:cNvPr id="1766" name="Freeform 4">
            <a:extLst>
              <a:ext uri="{FF2B5EF4-FFF2-40B4-BE49-F238E27FC236}">
                <a16:creationId xmlns:a16="http://schemas.microsoft.com/office/drawing/2014/main" id="{F416B960-4326-8BF0-7B87-9943892F934B}"/>
              </a:ext>
            </a:extLst>
          </p:cNvPr>
          <p:cNvSpPr/>
          <p:nvPr/>
        </p:nvSpPr>
        <p:spPr>
          <a:xfrm>
            <a:off x="13068668"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sp>
      <p:sp>
        <p:nvSpPr>
          <p:cNvPr id="1765" name="Freeform 2">
            <a:extLst>
              <a:ext uri="{FF2B5EF4-FFF2-40B4-BE49-F238E27FC236}">
                <a16:creationId xmlns:a16="http://schemas.microsoft.com/office/drawing/2014/main" id="{BC165231-76A4-45CA-F3E9-60EB80DBD535}"/>
              </a:ext>
            </a:extLst>
          </p:cNvPr>
          <p:cNvSpPr/>
          <p:nvPr/>
        </p:nvSpPr>
        <p:spPr>
          <a:xfrm>
            <a:off x="5209807" y="-309859"/>
            <a:ext cx="7868385" cy="10906460"/>
          </a:xfrm>
          <a:custGeom>
            <a:avLst/>
            <a:gdLst/>
            <a:ahLst/>
            <a:cxnLst/>
            <a:rect l="l" t="t" r="r" b="b"/>
            <a:pathLst>
              <a:path w="7868385" h="10906460">
                <a:moveTo>
                  <a:pt x="0" y="0"/>
                </a:moveTo>
                <a:lnTo>
                  <a:pt x="7868386" y="0"/>
                </a:lnTo>
                <a:lnTo>
                  <a:pt x="7868386"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sp>
      <p:sp>
        <p:nvSpPr>
          <p:cNvPr id="1764" name="Freeform 3">
            <a:extLst>
              <a:ext uri="{FF2B5EF4-FFF2-40B4-BE49-F238E27FC236}">
                <a16:creationId xmlns:a16="http://schemas.microsoft.com/office/drawing/2014/main" id="{2B7E6466-C459-571C-E9AC-94A00209EF08}"/>
              </a:ext>
            </a:extLst>
          </p:cNvPr>
          <p:cNvSpPr/>
          <p:nvPr/>
        </p:nvSpPr>
        <p:spPr>
          <a:xfrm>
            <a:off x="-2649053" y="-309601"/>
            <a:ext cx="7868385" cy="10906460"/>
          </a:xfrm>
          <a:custGeom>
            <a:avLst/>
            <a:gdLst/>
            <a:ahLst/>
            <a:cxnLst/>
            <a:rect l="l" t="t" r="r" b="b"/>
            <a:pathLst>
              <a:path w="7868385" h="10906460">
                <a:moveTo>
                  <a:pt x="0" y="0"/>
                </a:moveTo>
                <a:lnTo>
                  <a:pt x="7868385" y="0"/>
                </a:lnTo>
                <a:lnTo>
                  <a:pt x="7868385" y="10906460"/>
                </a:lnTo>
                <a:lnTo>
                  <a:pt x="0" y="10906460"/>
                </a:lnTo>
                <a:lnTo>
                  <a:pt x="0" y="0"/>
                </a:lnTo>
                <a:close/>
              </a:path>
            </a:pathLst>
          </a:custGeom>
          <a:blipFill>
            <a:blip r:embed="rId2">
              <a:alphaModFix amt="40000"/>
              <a:extLst>
                <a:ext uri="{96DAC541-7B7A-43D3-8B79-37D633B846F1}">
                  <asvg:svgBlip xmlns:asvg="http://schemas.microsoft.com/office/drawing/2016/SVG/main" r:embed="rId3"/>
                </a:ext>
              </a:extLst>
            </a:blip>
            <a:stretch>
              <a:fillRect t="-45125" r="-101160"/>
            </a:stretch>
          </a:blipFill>
        </p:spPr>
      </p:sp>
      <p:grpSp>
        <p:nvGrpSpPr>
          <p:cNvPr id="5" name="Group 5"/>
          <p:cNvGrpSpPr/>
          <p:nvPr/>
        </p:nvGrpSpPr>
        <p:grpSpPr>
          <a:xfrm>
            <a:off x="1066800" y="852337"/>
            <a:ext cx="16284006" cy="8376138"/>
            <a:chOff x="0" y="-47625"/>
            <a:chExt cx="5292307" cy="2722247"/>
          </a:xfrm>
        </p:grpSpPr>
        <p:sp>
          <p:nvSpPr>
            <p:cNvPr id="6" name="Freeform 6"/>
            <p:cNvSpPr/>
            <p:nvPr/>
          </p:nvSpPr>
          <p:spPr>
            <a:xfrm>
              <a:off x="17357" y="0"/>
              <a:ext cx="5274950" cy="2674622"/>
            </a:xfrm>
            <a:custGeom>
              <a:avLst/>
              <a:gdLst/>
              <a:ahLst/>
              <a:cxnLst/>
              <a:rect l="l" t="t" r="r" b="b"/>
              <a:pathLst>
                <a:path w="5274950" h="2674622">
                  <a:moveTo>
                    <a:pt x="23850" y="0"/>
                  </a:moveTo>
                  <a:lnTo>
                    <a:pt x="5251100" y="0"/>
                  </a:lnTo>
                  <a:cubicBezTo>
                    <a:pt x="5264272" y="0"/>
                    <a:pt x="5274950" y="10678"/>
                    <a:pt x="5274950" y="23850"/>
                  </a:cubicBezTo>
                  <a:lnTo>
                    <a:pt x="5274950" y="2650773"/>
                  </a:lnTo>
                  <a:cubicBezTo>
                    <a:pt x="5274950" y="2657098"/>
                    <a:pt x="5272437" y="2663164"/>
                    <a:pt x="5267964" y="2667637"/>
                  </a:cubicBezTo>
                  <a:cubicBezTo>
                    <a:pt x="5263492" y="2672110"/>
                    <a:pt x="5257425" y="2674622"/>
                    <a:pt x="5251100" y="2674622"/>
                  </a:cubicBezTo>
                  <a:lnTo>
                    <a:pt x="23850" y="2674622"/>
                  </a:lnTo>
                  <a:cubicBezTo>
                    <a:pt x="17524" y="2674622"/>
                    <a:pt x="11458" y="2672110"/>
                    <a:pt x="6985" y="2667637"/>
                  </a:cubicBezTo>
                  <a:cubicBezTo>
                    <a:pt x="2513" y="2663164"/>
                    <a:pt x="0" y="2657098"/>
                    <a:pt x="0" y="2650773"/>
                  </a:cubicBezTo>
                  <a:lnTo>
                    <a:pt x="0" y="23850"/>
                  </a:lnTo>
                  <a:cubicBezTo>
                    <a:pt x="0" y="17524"/>
                    <a:pt x="2513" y="11458"/>
                    <a:pt x="6985" y="6985"/>
                  </a:cubicBezTo>
                  <a:cubicBezTo>
                    <a:pt x="11458" y="2513"/>
                    <a:pt x="17524" y="0"/>
                    <a:pt x="23850" y="0"/>
                  </a:cubicBezTo>
                  <a:close/>
                </a:path>
              </a:pathLst>
            </a:custGeom>
            <a:solidFill>
              <a:srgbClr val="FFFFFF"/>
            </a:solidFill>
            <a:ln w="38100" cap="rnd">
              <a:solidFill>
                <a:srgbClr val="000000"/>
              </a:solidFill>
              <a:prstDash val="solid"/>
              <a:round/>
            </a:ln>
          </p:spPr>
          <p:txBody>
            <a:bodyPr/>
            <a:lstStyle/>
            <a:p>
              <a:endParaRPr lang="en-IN" dirty="0"/>
            </a:p>
          </p:txBody>
        </p:sp>
        <p:sp>
          <p:nvSpPr>
            <p:cNvPr id="7" name="TextBox 7"/>
            <p:cNvSpPr txBox="1"/>
            <p:nvPr/>
          </p:nvSpPr>
          <p:spPr>
            <a:xfrm>
              <a:off x="0" y="-47625"/>
              <a:ext cx="5274950" cy="2722247"/>
            </a:xfrm>
            <a:prstGeom prst="rect">
              <a:avLst/>
            </a:prstGeom>
          </p:spPr>
          <p:txBody>
            <a:bodyPr lIns="50800" tIns="50800" rIns="50800" bIns="50800" rtlCol="0" anchor="ctr"/>
            <a:lstStyle/>
            <a:p>
              <a:pPr algn="ctr">
                <a:lnSpc>
                  <a:spcPts val="2659"/>
                </a:lnSpc>
              </a:pPr>
              <a:endParaRPr/>
            </a:p>
          </p:txBody>
        </p:sp>
      </p:grpSp>
      <p:sp>
        <p:nvSpPr>
          <p:cNvPr id="14" name="TextBox 10">
            <a:extLst>
              <a:ext uri="{FF2B5EF4-FFF2-40B4-BE49-F238E27FC236}">
                <a16:creationId xmlns:a16="http://schemas.microsoft.com/office/drawing/2014/main" id="{D10BE36C-9A1A-8364-3631-398F3F93D8D4}"/>
              </a:ext>
            </a:extLst>
          </p:cNvPr>
          <p:cNvSpPr txBox="1"/>
          <p:nvPr/>
        </p:nvSpPr>
        <p:spPr>
          <a:xfrm>
            <a:off x="3900481" y="647700"/>
            <a:ext cx="10487039" cy="1141851"/>
          </a:xfrm>
          <a:prstGeom prst="rect">
            <a:avLst/>
          </a:prstGeom>
        </p:spPr>
        <p:txBody>
          <a:bodyPr lIns="0" tIns="0" rIns="0" bIns="0" rtlCol="0" anchor="t">
            <a:spAutoFit/>
          </a:bodyPr>
          <a:lstStyle/>
          <a:p>
            <a:pPr algn="ctr">
              <a:lnSpc>
                <a:spcPts val="10500"/>
              </a:lnSpc>
            </a:pPr>
            <a:r>
              <a:rPr lang="en-US" sz="4000" b="1" dirty="0">
                <a:solidFill>
                  <a:srgbClr val="000000"/>
                </a:solidFill>
                <a:latin typeface="Consolas" panose="020B0609020204030204" pitchFamily="49" charset="0"/>
              </a:rPr>
              <a:t>  RESULTS</a:t>
            </a:r>
          </a:p>
        </p:txBody>
      </p:sp>
      <p:sp>
        <p:nvSpPr>
          <p:cNvPr id="3" name="TextBox 2">
            <a:extLst>
              <a:ext uri="{FF2B5EF4-FFF2-40B4-BE49-F238E27FC236}">
                <a16:creationId xmlns:a16="http://schemas.microsoft.com/office/drawing/2014/main" id="{C1453A86-FF0D-97CD-D4D8-5E5CFBEBD932}"/>
              </a:ext>
            </a:extLst>
          </p:cNvPr>
          <p:cNvSpPr txBox="1"/>
          <p:nvPr/>
        </p:nvSpPr>
        <p:spPr>
          <a:xfrm>
            <a:off x="3335449" y="1669863"/>
            <a:ext cx="11800114" cy="587020"/>
          </a:xfrm>
          <a:prstGeom prst="rect">
            <a:avLst/>
          </a:prstGeom>
          <a:noFill/>
        </p:spPr>
        <p:txBody>
          <a:bodyPr wrap="square">
            <a:spAutoFit/>
          </a:bodyPr>
          <a:lstStyle/>
          <a:p>
            <a:pPr algn="just">
              <a:lnSpc>
                <a:spcPct val="150000"/>
              </a:lnSpc>
            </a:pPr>
            <a:r>
              <a:rPr lang="en-US" sz="2400" b="1" dirty="0">
                <a:latin typeface="Consolas" panose="020B0609020204030204" pitchFamily="49" charset="0"/>
              </a:rPr>
              <a:t>Supervised Learning</a:t>
            </a:r>
          </a:p>
        </p:txBody>
      </p:sp>
      <p:pic>
        <p:nvPicPr>
          <p:cNvPr id="9" name="Picture 8">
            <a:extLst>
              <a:ext uri="{FF2B5EF4-FFF2-40B4-BE49-F238E27FC236}">
                <a16:creationId xmlns:a16="http://schemas.microsoft.com/office/drawing/2014/main" id="{2E9850CE-5D08-57A2-D231-9BB83DEAD44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360459" y="1317229"/>
            <a:ext cx="1553526" cy="1109661"/>
          </a:xfrm>
          <a:prstGeom prst="rect">
            <a:avLst/>
          </a:prstGeom>
        </p:spPr>
      </p:pic>
      <p:pic>
        <p:nvPicPr>
          <p:cNvPr id="4" name="Picture 3">
            <a:extLst>
              <a:ext uri="{FF2B5EF4-FFF2-40B4-BE49-F238E27FC236}">
                <a16:creationId xmlns:a16="http://schemas.microsoft.com/office/drawing/2014/main" id="{D90BFF0A-1EBA-2F4F-87B9-6E7B69E0AD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454084" y="1661071"/>
            <a:ext cx="8473457" cy="7208535"/>
          </a:xfrm>
          <a:prstGeom prst="rect">
            <a:avLst/>
          </a:prstGeom>
        </p:spPr>
      </p:pic>
      <p:sp>
        <p:nvSpPr>
          <p:cNvPr id="10" name="TextBox 9">
            <a:extLst>
              <a:ext uri="{FF2B5EF4-FFF2-40B4-BE49-F238E27FC236}">
                <a16:creationId xmlns:a16="http://schemas.microsoft.com/office/drawing/2014/main" id="{38F28664-13CC-3DC4-2018-2AABFCA0298E}"/>
              </a:ext>
            </a:extLst>
          </p:cNvPr>
          <p:cNvSpPr txBox="1"/>
          <p:nvPr/>
        </p:nvSpPr>
        <p:spPr>
          <a:xfrm>
            <a:off x="1975055" y="3009900"/>
            <a:ext cx="6330745" cy="4247317"/>
          </a:xfrm>
          <a:prstGeom prst="rect">
            <a:avLst/>
          </a:prstGeom>
          <a:noFill/>
        </p:spPr>
        <p:txBody>
          <a:bodyPr wrap="square" rtlCol="0">
            <a:spAutoFit/>
          </a:bodyPr>
          <a:lstStyle/>
          <a:p>
            <a:r>
              <a:rPr lang="en-US" dirty="0">
                <a:latin typeface="Consolas" panose="020B0609020204030204" pitchFamily="49" charset="0"/>
              </a:rPr>
              <a:t>The confusion matrix shows that the model is struggling with several classes:</a:t>
            </a:r>
          </a:p>
          <a:p>
            <a:pPr marL="285750" indent="-285750">
              <a:buFont typeface="Arial" panose="020B0604020202020204" pitchFamily="34" charset="0"/>
              <a:buChar char="•"/>
            </a:pPr>
            <a:r>
              <a:rPr lang="en-US" b="1" dirty="0">
                <a:latin typeface="Consolas" panose="020B0609020204030204" pitchFamily="49" charset="0"/>
              </a:rPr>
              <a:t>Amoeboid</a:t>
            </a:r>
            <a:r>
              <a:rPr lang="en-US" dirty="0">
                <a:latin typeface="Consolas" panose="020B0609020204030204" pitchFamily="49" charset="0"/>
              </a:rPr>
              <a:t> cells are recognized reasonably well (20 correct), but several classes are misclassified </a:t>
            </a:r>
            <a:r>
              <a:rPr lang="en-US" b="1" dirty="0">
                <a:latin typeface="Consolas" panose="020B0609020204030204" pitchFamily="49" charset="0"/>
              </a:rPr>
              <a:t>as Amoeboid</a:t>
            </a:r>
            <a:r>
              <a:rPr lang="en-US" dirty="0">
                <a:latin typeface="Consolas" panose="020B0609020204030204" pitchFamily="49" charset="0"/>
              </a:rPr>
              <a:t>, indicating a bias toward this class.</a:t>
            </a:r>
          </a:p>
          <a:p>
            <a:pPr marL="285750" indent="-285750">
              <a:buFont typeface="Arial" panose="020B0604020202020204" pitchFamily="34" charset="0"/>
              <a:buChar char="•"/>
            </a:pPr>
            <a:r>
              <a:rPr lang="en-US" b="1" dirty="0">
                <a:latin typeface="Consolas" panose="020B0609020204030204" pitchFamily="49" charset="0"/>
              </a:rPr>
              <a:t>Reactive</a:t>
            </a:r>
            <a:r>
              <a:rPr lang="en-US" dirty="0">
                <a:latin typeface="Consolas" panose="020B0609020204030204" pitchFamily="49" charset="0"/>
              </a:rPr>
              <a:t> cells are split between Reactive (11) and Amoeboid (13), showing the model has difficulty distinguishing these morphologies.</a:t>
            </a:r>
          </a:p>
          <a:p>
            <a:pPr marL="285750" indent="-285750">
              <a:buFont typeface="Arial" panose="020B0604020202020204" pitchFamily="34" charset="0"/>
              <a:buChar char="•"/>
            </a:pPr>
            <a:r>
              <a:rPr lang="en-US" b="1" dirty="0">
                <a:latin typeface="Consolas" panose="020B0609020204030204" pitchFamily="49" charset="0"/>
              </a:rPr>
              <a:t>Hyper-Ramified</a:t>
            </a:r>
            <a:r>
              <a:rPr lang="en-US" dirty="0">
                <a:latin typeface="Consolas" panose="020B0609020204030204" pitchFamily="49" charset="0"/>
              </a:rPr>
              <a:t> cells (very few samples) are mostly misclassified, reflecting the impact of class imbalance.</a:t>
            </a:r>
          </a:p>
          <a:p>
            <a:pPr marL="285750" indent="-285750">
              <a:buFont typeface="Arial" panose="020B0604020202020204" pitchFamily="34" charset="0"/>
              <a:buChar char="•"/>
            </a:pPr>
            <a:r>
              <a:rPr lang="en-US" b="1" dirty="0">
                <a:latin typeface="Consolas" panose="020B0609020204030204" pitchFamily="49" charset="0"/>
              </a:rPr>
              <a:t>Rod</a:t>
            </a:r>
            <a:r>
              <a:rPr lang="en-US" dirty="0">
                <a:latin typeface="Consolas" panose="020B0609020204030204" pitchFamily="49" charset="0"/>
              </a:rPr>
              <a:t> and </a:t>
            </a:r>
            <a:r>
              <a:rPr lang="en-US" b="1" dirty="0">
                <a:latin typeface="Consolas" panose="020B0609020204030204" pitchFamily="49" charset="0"/>
              </a:rPr>
              <a:t>Homeostatic</a:t>
            </a:r>
            <a:r>
              <a:rPr lang="en-US" dirty="0">
                <a:latin typeface="Consolas" panose="020B0609020204030204" pitchFamily="49" charset="0"/>
              </a:rPr>
              <a:t> classes also show mixed predictions with no strong separation.</a:t>
            </a:r>
          </a:p>
          <a:p>
            <a:endParaRPr lang="en-GB" dirty="0"/>
          </a:p>
        </p:txBody>
      </p:sp>
    </p:spTree>
    <p:extLst>
      <p:ext uri="{BB962C8B-B14F-4D97-AF65-F5344CB8AC3E}">
        <p14:creationId xmlns:p14="http://schemas.microsoft.com/office/powerpoint/2010/main" val="30126238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1625</TotalTime>
  <Words>1950</Words>
  <Application>Microsoft Office PowerPoint</Application>
  <PresentationFormat>Custom</PresentationFormat>
  <Paragraphs>336</Paragraphs>
  <Slides>21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Calibri</vt:lpstr>
      <vt:lpstr>Arial</vt:lpstr>
      <vt:lpstr>Consolas</vt:lpstr>
      <vt:lpstr>Wingdings</vt:lpstr>
      <vt:lpstr>Twentieth Century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Collection &amp; Analysis Educational Presentation in Pink and Blue Lined Style</dc:title>
  <dc:creator>Vishesh R</dc:creator>
  <cp:lastModifiedBy>Vishesh R</cp:lastModifiedBy>
  <cp:revision>55</cp:revision>
  <dcterms:created xsi:type="dcterms:W3CDTF">2006-08-16T00:00:00Z</dcterms:created>
  <dcterms:modified xsi:type="dcterms:W3CDTF">2026-03-10T09:34:20Z</dcterms:modified>
  <dc:identifier>DAGCXiPYzpc</dc:identifier>
</cp:coreProperties>
</file>